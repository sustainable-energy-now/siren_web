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4.xml" ContentType="application/vnd.openxmlformats-officedocument.drawingml.chart+xml"/>
  <Override PartName="/ppt/notesSlides/notesSlide11.xml" ContentType="application/vnd.openxmlformats-officedocument.presentationml.notesSlide+xml"/>
  <Override PartName="/ppt/charts/chart5.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6.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81" r:id="rId7"/>
    <p:sldId id="282" r:id="rId8"/>
    <p:sldId id="261" r:id="rId9"/>
    <p:sldId id="275" r:id="rId10"/>
    <p:sldId id="276" r:id="rId11"/>
    <p:sldId id="277" r:id="rId12"/>
    <p:sldId id="283" r:id="rId13"/>
    <p:sldId id="284" r:id="rId14"/>
    <p:sldId id="262" r:id="rId15"/>
    <p:sldId id="263" r:id="rId16"/>
    <p:sldId id="264" r:id="rId17"/>
    <p:sldId id="265" r:id="rId18"/>
    <p:sldId id="266" r:id="rId19"/>
    <p:sldId id="267" r:id="rId20"/>
    <p:sldId id="271" r:id="rId21"/>
    <p:sldId id="272" r:id="rId22"/>
    <p:sldId id="273" r:id="rId23"/>
    <p:sldId id="274" r:id="rId24"/>
    <p:sldId id="278" r:id="rId25"/>
    <p:sldId id="268" r:id="rId26"/>
    <p:sldId id="279" r:id="rId27"/>
    <p:sldId id="280" r:id="rId28"/>
    <p:sldId id="269" r:id="rId29"/>
    <p:sldId id="270" r:id="rId30"/>
  </p:sldIdLst>
  <p:sldSz cx="9144000" cy="5143500" type="screen16x9"/>
  <p:notesSz cx="5143500" cy="9144000"/>
  <p:embeddedFontLst>
    <p:embeddedFont>
      <p:font typeface="Montserrat" panose="000005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6" roundtripDataSignature="AMtx7mh2sQ7KHDvhHVamLYDXRSu45ASl5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019" autoAdjust="0"/>
  </p:normalViewPr>
  <p:slideViewPr>
    <p:cSldViewPr snapToGrid="0" showGuides="1">
      <p:cViewPr varScale="1">
        <p:scale>
          <a:sx n="116" d="100"/>
          <a:sy n="116" d="100"/>
        </p:scale>
        <p:origin x="1386"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s>
</file>

<file path=ppt/charts/_rels/chart2.xml.rels><?xml version="1.0" encoding="UTF-8" standalone="yes"?>
<Relationships xmlns="http://schemas.openxmlformats.org/package/2006/relationships"><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2" Type="http://schemas.microsoft.com/office/2011/relationships/chartColorStyle" Target="colors2.xml"/><Relationship Id="rId1" Type="http://schemas.microsoft.com/office/2011/relationships/chartStyle" Target="style2.xml"/></Relationships>
</file>

<file path=ppt/charts/_rels/chart6.xml.rels><?xml version="1.0" encoding="UTF-8" standalone="yes"?>
<Relationships xmlns="http://schemas.openxmlformats.org/package/2006/relationships"><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rot="0" vert="horz"/>
          <a:lstStyle/>
          <a:p>
            <a:pPr algn="l">
              <a:defRPr sz="1050" b="1">
                <a:solidFill>
                  <a:srgbClr val="173647"/>
                </a:solidFill>
                <a:latin typeface="Montserrat"/>
              </a:defRPr>
            </a:pPr>
            <a:r>
              <a:rPr lang="en-US" sz="1050" b="1" dirty="0">
                <a:solidFill>
                  <a:srgbClr val="173647"/>
                </a:solidFill>
                <a:latin typeface="Montserrat"/>
              </a:rPr>
              <a:t>WEM Accelerated Transition</a:t>
            </a:r>
          </a:p>
          <a:p>
            <a:pPr algn="l">
              <a:defRPr sz="1050" b="1">
                <a:solidFill>
                  <a:srgbClr val="173647"/>
                </a:solidFill>
                <a:latin typeface="Montserrat"/>
              </a:defRPr>
            </a:pPr>
            <a:r>
              <a:rPr lang="en-US" sz="1050" b="0" dirty="0">
                <a:solidFill>
                  <a:srgbClr val="6B7C8A"/>
                </a:solidFill>
                <a:latin typeface="Montserrat"/>
              </a:rPr>
              <a:t>BEVs by segment, 2025-26–2054-55</a:t>
            </a:r>
          </a:p>
        </c:rich>
      </c:tx>
      <c:overlay val="0"/>
    </c:title>
    <c:autoTitleDeleted val="0"/>
    <c:plotArea>
      <c:layout/>
      <c:lineChart>
        <c:grouping val="standard"/>
        <c:varyColors val="0"/>
        <c:ser>
          <c:idx val="0"/>
          <c:order val="0"/>
          <c:tx>
            <c:v>Large Residential</c:v>
          </c:tx>
          <c:spPr>
            <a:ln w="28575">
              <a:solidFill>
                <a:srgbClr val="00A9D8"/>
              </a:solidFill>
            </a:ln>
          </c:spPr>
          <c:marker>
            <c:symbol val="none"/>
          </c:marker>
          <c:cat>
            <c:strLit>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Lit>
          </c:cat>
          <c:val>
            <c:numLit>
              <c:formatCode>General</c:formatCode>
              <c:ptCount val="30"/>
              <c:pt idx="0">
                <c:v>9966</c:v>
              </c:pt>
              <c:pt idx="1">
                <c:v>20146</c:v>
              </c:pt>
              <c:pt idx="2">
                <c:v>34771</c:v>
              </c:pt>
              <c:pt idx="3">
                <c:v>52662</c:v>
              </c:pt>
              <c:pt idx="4">
                <c:v>74371</c:v>
              </c:pt>
              <c:pt idx="5">
                <c:v>98321</c:v>
              </c:pt>
              <c:pt idx="6">
                <c:v>124638</c:v>
              </c:pt>
              <c:pt idx="7">
                <c:v>153206</c:v>
              </c:pt>
              <c:pt idx="8">
                <c:v>201581</c:v>
              </c:pt>
              <c:pt idx="9">
                <c:v>249956</c:v>
              </c:pt>
              <c:pt idx="10">
                <c:v>298331</c:v>
              </c:pt>
              <c:pt idx="11">
                <c:v>346706</c:v>
              </c:pt>
              <c:pt idx="12">
                <c:v>395081</c:v>
              </c:pt>
              <c:pt idx="13">
                <c:v>443457</c:v>
              </c:pt>
              <c:pt idx="14">
                <c:v>491832</c:v>
              </c:pt>
              <c:pt idx="15">
                <c:v>540207</c:v>
              </c:pt>
              <c:pt idx="16">
                <c:v>588582</c:v>
              </c:pt>
              <c:pt idx="17">
                <c:v>636957</c:v>
              </c:pt>
              <c:pt idx="18">
                <c:v>685332</c:v>
              </c:pt>
              <c:pt idx="19">
                <c:v>733708</c:v>
              </c:pt>
              <c:pt idx="20">
                <c:v>782083</c:v>
              </c:pt>
              <c:pt idx="21">
                <c:v>830458</c:v>
              </c:pt>
              <c:pt idx="22">
                <c:v>878833</c:v>
              </c:pt>
              <c:pt idx="23">
                <c:v>927208</c:v>
              </c:pt>
              <c:pt idx="24">
                <c:v>975583</c:v>
              </c:pt>
              <c:pt idx="25">
                <c:v>983800</c:v>
              </c:pt>
              <c:pt idx="26">
                <c:v>992475</c:v>
              </c:pt>
              <c:pt idx="27">
                <c:v>1001216</c:v>
              </c:pt>
              <c:pt idx="28">
                <c:v>1010022</c:v>
              </c:pt>
              <c:pt idx="29">
                <c:v>1018895</c:v>
              </c:pt>
            </c:numLit>
          </c:val>
          <c:smooth val="0"/>
          <c:extLst>
            <c:ext xmlns:c16="http://schemas.microsoft.com/office/drawing/2014/chart" uri="{C3380CC4-5D6E-409C-BE32-E72D297353CC}">
              <c16:uniqueId val="{00000001-0D28-4944-A1A9-2210CEBD71EC}"/>
            </c:ext>
          </c:extLst>
        </c:ser>
        <c:ser>
          <c:idx val="1"/>
          <c:order val="1"/>
          <c:tx>
            <c:v>Medium Residential</c:v>
          </c:tx>
          <c:spPr>
            <a:ln w="19050">
              <a:solidFill>
                <a:srgbClr val="8A97A3"/>
              </a:solidFill>
              <a:prstDash val="lgDashDot"/>
            </a:ln>
          </c:spPr>
          <c:marker>
            <c:symbol val="none"/>
          </c:marker>
          <c:cat>
            <c:strLit>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Lit>
          </c:cat>
          <c:val>
            <c:numLit>
              <c:formatCode>General</c:formatCode>
              <c:ptCount val="30"/>
              <c:pt idx="0">
                <c:v>20844</c:v>
              </c:pt>
              <c:pt idx="1">
                <c:v>32610</c:v>
              </c:pt>
              <c:pt idx="2">
                <c:v>48275</c:v>
              </c:pt>
              <c:pt idx="3">
                <c:v>66136</c:v>
              </c:pt>
              <c:pt idx="4">
                <c:v>87262</c:v>
              </c:pt>
              <c:pt idx="5">
                <c:v>109561</c:v>
              </c:pt>
              <c:pt idx="6">
                <c:v>133189</c:v>
              </c:pt>
              <c:pt idx="7">
                <c:v>158068</c:v>
              </c:pt>
              <c:pt idx="8">
                <c:v>198512</c:v>
              </c:pt>
              <c:pt idx="9">
                <c:v>238955</c:v>
              </c:pt>
              <c:pt idx="10">
                <c:v>279399</c:v>
              </c:pt>
              <c:pt idx="11">
                <c:v>319843</c:v>
              </c:pt>
              <c:pt idx="12">
                <c:v>360286</c:v>
              </c:pt>
              <c:pt idx="13">
                <c:v>400730</c:v>
              </c:pt>
              <c:pt idx="14">
                <c:v>441174</c:v>
              </c:pt>
              <c:pt idx="15">
                <c:v>481617</c:v>
              </c:pt>
              <c:pt idx="16">
                <c:v>522061</c:v>
              </c:pt>
              <c:pt idx="17">
                <c:v>562505</c:v>
              </c:pt>
              <c:pt idx="18">
                <c:v>602948</c:v>
              </c:pt>
              <c:pt idx="19">
                <c:v>643392</c:v>
              </c:pt>
              <c:pt idx="20">
                <c:v>683836</c:v>
              </c:pt>
              <c:pt idx="21">
                <c:v>724279</c:v>
              </c:pt>
              <c:pt idx="22">
                <c:v>764723</c:v>
              </c:pt>
              <c:pt idx="23">
                <c:v>805167</c:v>
              </c:pt>
              <c:pt idx="24">
                <c:v>845610</c:v>
              </c:pt>
              <c:pt idx="25">
                <c:v>852863</c:v>
              </c:pt>
              <c:pt idx="26">
                <c:v>860114</c:v>
              </c:pt>
              <c:pt idx="27">
                <c:v>867409</c:v>
              </c:pt>
              <c:pt idx="28">
                <c:v>874746</c:v>
              </c:pt>
              <c:pt idx="29">
                <c:v>882125</c:v>
              </c:pt>
            </c:numLit>
          </c:val>
          <c:smooth val="0"/>
          <c:extLst>
            <c:ext xmlns:c16="http://schemas.microsoft.com/office/drawing/2014/chart" uri="{C3380CC4-5D6E-409C-BE32-E72D297353CC}">
              <c16:uniqueId val="{00000003-0D28-4944-A1A9-2210CEBD71EC}"/>
            </c:ext>
          </c:extLst>
        </c:ser>
        <c:ser>
          <c:idx val="2"/>
          <c:order val="2"/>
          <c:tx>
            <c:v>Large Light Commercial</c:v>
          </c:tx>
          <c:spPr>
            <a:ln w="19050">
              <a:solidFill>
                <a:srgbClr val="8A97A3"/>
              </a:solidFill>
            </a:ln>
          </c:spPr>
          <c:marker>
            <c:symbol val="none"/>
          </c:marker>
          <c:cat>
            <c:strLit>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Lit>
          </c:cat>
          <c:val>
            <c:numLit>
              <c:formatCode>General</c:formatCode>
              <c:ptCount val="30"/>
              <c:pt idx="0">
                <c:v>475</c:v>
              </c:pt>
              <c:pt idx="1">
                <c:v>1263</c:v>
              </c:pt>
              <c:pt idx="2">
                <c:v>2477</c:v>
              </c:pt>
              <c:pt idx="3">
                <c:v>4032</c:v>
              </c:pt>
              <c:pt idx="4">
                <c:v>5949</c:v>
              </c:pt>
              <c:pt idx="5">
                <c:v>12053</c:v>
              </c:pt>
              <c:pt idx="6">
                <c:v>22774</c:v>
              </c:pt>
              <c:pt idx="7">
                <c:v>38071</c:v>
              </c:pt>
              <c:pt idx="8">
                <c:v>72738</c:v>
              </c:pt>
              <c:pt idx="9">
                <c:v>107405</c:v>
              </c:pt>
              <c:pt idx="10">
                <c:v>142072</c:v>
              </c:pt>
              <c:pt idx="11">
                <c:v>176739</c:v>
              </c:pt>
              <c:pt idx="12">
                <c:v>211406</c:v>
              </c:pt>
              <c:pt idx="13">
                <c:v>246073</c:v>
              </c:pt>
              <c:pt idx="14">
                <c:v>280740</c:v>
              </c:pt>
              <c:pt idx="15">
                <c:v>315407</c:v>
              </c:pt>
              <c:pt idx="16">
                <c:v>350074</c:v>
              </c:pt>
              <c:pt idx="17">
                <c:v>384742</c:v>
              </c:pt>
              <c:pt idx="18">
                <c:v>419409</c:v>
              </c:pt>
              <c:pt idx="19">
                <c:v>454076</c:v>
              </c:pt>
              <c:pt idx="20">
                <c:v>488743</c:v>
              </c:pt>
              <c:pt idx="21">
                <c:v>523410</c:v>
              </c:pt>
              <c:pt idx="22">
                <c:v>558077</c:v>
              </c:pt>
              <c:pt idx="23">
                <c:v>592744</c:v>
              </c:pt>
              <c:pt idx="24">
                <c:v>627411</c:v>
              </c:pt>
              <c:pt idx="25">
                <c:v>639169</c:v>
              </c:pt>
              <c:pt idx="26">
                <c:v>651179</c:v>
              </c:pt>
              <c:pt idx="27">
                <c:v>663447</c:v>
              </c:pt>
              <c:pt idx="28">
                <c:v>675980</c:v>
              </c:pt>
              <c:pt idx="29">
                <c:v>688782</c:v>
              </c:pt>
            </c:numLit>
          </c:val>
          <c:smooth val="0"/>
          <c:extLst>
            <c:ext xmlns:c16="http://schemas.microsoft.com/office/drawing/2014/chart" uri="{C3380CC4-5D6E-409C-BE32-E72D297353CC}">
              <c16:uniqueId val="{00000005-0D28-4944-A1A9-2210CEBD71EC}"/>
            </c:ext>
          </c:extLst>
        </c:ser>
        <c:ser>
          <c:idx val="3"/>
          <c:order val="3"/>
          <c:tx>
            <c:v>Small Residential</c:v>
          </c:tx>
          <c:spPr>
            <a:ln w="19050">
              <a:solidFill>
                <a:srgbClr val="8A97A3"/>
              </a:solidFill>
              <a:prstDash val="dash"/>
            </a:ln>
          </c:spPr>
          <c:marker>
            <c:symbol val="none"/>
          </c:marker>
          <c:cat>
            <c:strLit>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Lit>
          </c:cat>
          <c:val>
            <c:numLit>
              <c:formatCode>General</c:formatCode>
              <c:ptCount val="30"/>
              <c:pt idx="0">
                <c:v>18458</c:v>
              </c:pt>
              <c:pt idx="1">
                <c:v>25410</c:v>
              </c:pt>
              <c:pt idx="2">
                <c:v>33828</c:v>
              </c:pt>
              <c:pt idx="3">
                <c:v>42481</c:v>
              </c:pt>
              <c:pt idx="4">
                <c:v>52287</c:v>
              </c:pt>
              <c:pt idx="5">
                <c:v>62413</c:v>
              </c:pt>
              <c:pt idx="6">
                <c:v>72942</c:v>
              </c:pt>
              <c:pt idx="7">
                <c:v>83845</c:v>
              </c:pt>
              <c:pt idx="8">
                <c:v>101220</c:v>
              </c:pt>
              <c:pt idx="9">
                <c:v>118594</c:v>
              </c:pt>
              <c:pt idx="10">
                <c:v>135969</c:v>
              </c:pt>
              <c:pt idx="11">
                <c:v>153344</c:v>
              </c:pt>
              <c:pt idx="12">
                <c:v>170719</c:v>
              </c:pt>
              <c:pt idx="13">
                <c:v>188094</c:v>
              </c:pt>
              <c:pt idx="14">
                <c:v>205469</c:v>
              </c:pt>
              <c:pt idx="15">
                <c:v>222843</c:v>
              </c:pt>
              <c:pt idx="16">
                <c:v>240218</c:v>
              </c:pt>
              <c:pt idx="17">
                <c:v>257593</c:v>
              </c:pt>
              <c:pt idx="18">
                <c:v>274968</c:v>
              </c:pt>
              <c:pt idx="19">
                <c:v>292343</c:v>
              </c:pt>
              <c:pt idx="20">
                <c:v>309717</c:v>
              </c:pt>
              <c:pt idx="21">
                <c:v>327092</c:v>
              </c:pt>
              <c:pt idx="22">
                <c:v>344467</c:v>
              </c:pt>
              <c:pt idx="23">
                <c:v>361842</c:v>
              </c:pt>
              <c:pt idx="24">
                <c:v>379217</c:v>
              </c:pt>
              <c:pt idx="25">
                <c:v>382550</c:v>
              </c:pt>
              <c:pt idx="26">
                <c:v>385886</c:v>
              </c:pt>
              <c:pt idx="27">
                <c:v>389244</c:v>
              </c:pt>
              <c:pt idx="28">
                <c:v>392624</c:v>
              </c:pt>
              <c:pt idx="29">
                <c:v>396027</c:v>
              </c:pt>
            </c:numLit>
          </c:val>
          <c:smooth val="0"/>
          <c:extLst>
            <c:ext xmlns:c16="http://schemas.microsoft.com/office/drawing/2014/chart" uri="{C3380CC4-5D6E-409C-BE32-E72D297353CC}">
              <c16:uniqueId val="{00000007-0D28-4944-A1A9-2210CEBD71EC}"/>
            </c:ext>
          </c:extLst>
        </c:ser>
        <c:ser>
          <c:idx val="4"/>
          <c:order val="4"/>
          <c:tx>
            <c:v>Other segments</c:v>
          </c:tx>
          <c:spPr>
            <a:ln w="19050">
              <a:solidFill>
                <a:srgbClr val="8A97A3"/>
              </a:solidFill>
            </a:ln>
          </c:spPr>
          <c:marker>
            <c:symbol val="square"/>
            <c:size val="3"/>
          </c:marker>
          <c:cat>
            <c:strLit>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Lit>
          </c:cat>
          <c:val>
            <c:numLit>
              <c:formatCode>General</c:formatCode>
              <c:ptCount val="30"/>
              <c:pt idx="0">
                <c:v>2475</c:v>
              </c:pt>
              <c:pt idx="1">
                <c:v>4998</c:v>
              </c:pt>
              <c:pt idx="2">
                <c:v>8562</c:v>
              </c:pt>
              <c:pt idx="3">
                <c:v>13045</c:v>
              </c:pt>
              <c:pt idx="4">
                <c:v>18789</c:v>
              </c:pt>
              <c:pt idx="5">
                <c:v>27366</c:v>
              </c:pt>
              <c:pt idx="6">
                <c:v>39397</c:v>
              </c:pt>
              <c:pt idx="7">
                <c:v>54856</c:v>
              </c:pt>
              <c:pt idx="8">
                <c:v>81584</c:v>
              </c:pt>
              <c:pt idx="9">
                <c:v>108310</c:v>
              </c:pt>
              <c:pt idx="10">
                <c:v>135037</c:v>
              </c:pt>
              <c:pt idx="11">
                <c:v>161765</c:v>
              </c:pt>
              <c:pt idx="12">
                <c:v>188491</c:v>
              </c:pt>
              <c:pt idx="13">
                <c:v>215219</c:v>
              </c:pt>
              <c:pt idx="14">
                <c:v>241946</c:v>
              </c:pt>
              <c:pt idx="15">
                <c:v>268673</c:v>
              </c:pt>
              <c:pt idx="16">
                <c:v>295399</c:v>
              </c:pt>
              <c:pt idx="17">
                <c:v>322127</c:v>
              </c:pt>
              <c:pt idx="18">
                <c:v>348854</c:v>
              </c:pt>
              <c:pt idx="19">
                <c:v>375580</c:v>
              </c:pt>
              <c:pt idx="20">
                <c:v>402307</c:v>
              </c:pt>
              <c:pt idx="21">
                <c:v>429036</c:v>
              </c:pt>
              <c:pt idx="22">
                <c:v>455762</c:v>
              </c:pt>
              <c:pt idx="23">
                <c:v>482489</c:v>
              </c:pt>
              <c:pt idx="24">
                <c:v>509217</c:v>
              </c:pt>
              <c:pt idx="25">
                <c:v>517898</c:v>
              </c:pt>
              <c:pt idx="26">
                <c:v>526755</c:v>
              </c:pt>
              <c:pt idx="27">
                <c:v>535788</c:v>
              </c:pt>
              <c:pt idx="28">
                <c:v>545006</c:v>
              </c:pt>
              <c:pt idx="29">
                <c:v>554409</c:v>
              </c:pt>
            </c:numLit>
          </c:val>
          <c:smooth val="0"/>
          <c:extLst>
            <c:ext xmlns:c16="http://schemas.microsoft.com/office/drawing/2014/chart" uri="{C3380CC4-5D6E-409C-BE32-E72D297353CC}">
              <c16:uniqueId val="{00000009-0D28-4944-A1A9-2210CEBD71EC}"/>
            </c:ext>
          </c:extLst>
        </c:ser>
        <c:dLbls>
          <c:showLegendKey val="0"/>
          <c:showVal val="0"/>
          <c:showCatName val="0"/>
          <c:showSerName val="0"/>
          <c:showPercent val="0"/>
          <c:showBubbleSize val="0"/>
        </c:dLbls>
        <c:smooth val="0"/>
        <c:axId val="1"/>
        <c:axId val="2"/>
      </c:lineChart>
      <c:catAx>
        <c:axId val="1"/>
        <c:scaling>
          <c:orientation val="minMax"/>
        </c:scaling>
        <c:delete val="0"/>
        <c:axPos val="b"/>
        <c:numFmt formatCode="General" sourceLinked="0"/>
        <c:majorTickMark val="none"/>
        <c:minorTickMark val="none"/>
        <c:tickLblPos val="nextTo"/>
        <c:spPr>
          <a:ln w="9525">
            <a:solidFill>
              <a:srgbClr val="C9C9C9"/>
            </a:solidFill>
          </a:ln>
        </c:spPr>
        <c:txPr>
          <a:bodyPr rot="0" vert="horz"/>
          <a:lstStyle/>
          <a:p>
            <a:pPr>
              <a:defRPr sz="800" b="0">
                <a:solidFill>
                  <a:srgbClr val="173647"/>
                </a:solidFill>
                <a:latin typeface="Montserrat"/>
              </a:defRPr>
            </a:pPr>
            <a:endParaRPr lang="en-US"/>
          </a:p>
        </c:txPr>
        <c:crossAx val="2"/>
        <c:crosses val="autoZero"/>
        <c:auto val="1"/>
        <c:lblAlgn val="ctr"/>
        <c:lblOffset val="100"/>
        <c:noMultiLvlLbl val="1"/>
      </c:catAx>
      <c:valAx>
        <c:axId val="2"/>
        <c:scaling>
          <c:orientation val="minMax"/>
          <c:max val="1100000"/>
          <c:min val="0"/>
        </c:scaling>
        <c:delete val="0"/>
        <c:axPos val="l"/>
        <c:numFmt formatCode="#,##0" sourceLinked="0"/>
        <c:majorTickMark val="none"/>
        <c:minorTickMark val="none"/>
        <c:tickLblPos val="nextTo"/>
        <c:spPr>
          <a:ln w="9525">
            <a:solidFill>
              <a:srgbClr val="C9C9C9"/>
            </a:solidFill>
          </a:ln>
        </c:spPr>
        <c:txPr>
          <a:bodyPr rot="0" vert="horz"/>
          <a:lstStyle/>
          <a:p>
            <a:pPr>
              <a:defRPr sz="700" b="0">
                <a:solidFill>
                  <a:srgbClr val="6B7C8A"/>
                </a:solidFill>
                <a:latin typeface="Montserrat"/>
              </a:defRPr>
            </a:pPr>
            <a:endParaRPr lang="en-US"/>
          </a:p>
        </c:txPr>
        <c:crossAx val="1"/>
        <c:crosses val="autoZero"/>
        <c:crossBetween val="between"/>
        <c:majorUnit val="200000"/>
      </c:valAx>
      <c:spPr>
        <a:noFill/>
        <a:ln>
          <a:noFill/>
        </a:ln>
      </c:spPr>
    </c:plotArea>
    <c:legend>
      <c:legendPos val="b"/>
      <c:overlay val="0"/>
      <c:txPr>
        <a:bodyPr rot="0" vert="horz"/>
        <a:lstStyle/>
        <a:p>
          <a:pPr>
            <a:defRPr sz="800" b="0">
              <a:solidFill>
                <a:srgbClr val="6B7C8A"/>
              </a:solidFill>
              <a:latin typeface="Montserrat"/>
            </a:defRPr>
          </a:pPr>
          <a:endParaRPr lang="en-US"/>
        </a:p>
      </c:txPr>
    </c:legend>
    <c:plotVisOnly val="1"/>
    <c:dispBlanksAs val="gap"/>
    <c:showDLblsOverMax val="1"/>
  </c:chart>
  <c:spPr>
    <a:noFill/>
    <a:ln>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just" defTabSz="914400" rtl="0" eaLnBrk="1" fontAlgn="auto" latinLnBrk="0" hangingPunct="1">
              <a:lnSpc>
                <a:spcPct val="100000"/>
              </a:lnSpc>
              <a:spcBef>
                <a:spcPts val="0"/>
              </a:spcBef>
              <a:spcAft>
                <a:spcPts val="0"/>
              </a:spcAft>
              <a:buClrTx/>
              <a:buSzTx/>
              <a:buFontTx/>
              <a:buNone/>
              <a:tabLst/>
              <a:defRPr sz="1000" b="0" i="0" u="none" strike="noStrike" kern="1200" spc="0" baseline="0">
                <a:solidFill>
                  <a:srgbClr val="000000">
                    <a:lumMod val="65000"/>
                    <a:lumOff val="35000"/>
                  </a:srgbClr>
                </a:solidFill>
                <a:latin typeface="Montserrat" pitchFamily="2" charset="77"/>
                <a:ea typeface="+mn-ea"/>
                <a:cs typeface="+mn-cs"/>
              </a:defRPr>
            </a:pPr>
            <a:r>
              <a:rPr lang="en-GB" sz="1050" b="1" dirty="0"/>
              <a:t>WEM Slower Growth</a:t>
            </a:r>
          </a:p>
          <a:p>
            <a:pPr marL="0" marR="0" lvl="0" indent="0" algn="just" defTabSz="914400" rtl="0" eaLnBrk="1" fontAlgn="auto" latinLnBrk="0" hangingPunct="1">
              <a:lnSpc>
                <a:spcPct val="100000"/>
              </a:lnSpc>
              <a:spcBef>
                <a:spcPts val="0"/>
              </a:spcBef>
              <a:spcAft>
                <a:spcPts val="0"/>
              </a:spcAft>
              <a:buClrTx/>
              <a:buSzTx/>
              <a:buFontTx/>
              <a:buNone/>
              <a:tabLst/>
              <a:defRPr sz="1000">
                <a:solidFill>
                  <a:srgbClr val="000000">
                    <a:lumMod val="65000"/>
                    <a:lumOff val="35000"/>
                  </a:srgbClr>
                </a:solidFill>
              </a:defRPr>
            </a:pPr>
            <a:r>
              <a:rPr lang="en-US" sz="1050" b="0" i="0" u="none" strike="noStrike" kern="1200" baseline="0" dirty="0">
                <a:solidFill>
                  <a:srgbClr val="6B7C8A"/>
                </a:solidFill>
                <a:latin typeface="Montserrat"/>
              </a:rPr>
              <a:t>BEVs by segment, 2025-26–2054-55</a:t>
            </a:r>
          </a:p>
        </c:rich>
      </c:tx>
      <c:overlay val="0"/>
      <c:spPr>
        <a:noFill/>
        <a:ln>
          <a:noFill/>
        </a:ln>
        <a:effectLst/>
      </c:spPr>
      <c:txPr>
        <a:bodyPr rot="0" spcFirstLastPara="1" vertOverflow="ellipsis" vert="horz" wrap="square" anchor="ctr" anchorCtr="1"/>
        <a:lstStyle/>
        <a:p>
          <a:pPr marL="0" marR="0" lvl="0" indent="0" algn="just" defTabSz="914400" rtl="0" eaLnBrk="1" fontAlgn="auto" latinLnBrk="0" hangingPunct="1">
            <a:lnSpc>
              <a:spcPct val="100000"/>
            </a:lnSpc>
            <a:spcBef>
              <a:spcPts val="0"/>
            </a:spcBef>
            <a:spcAft>
              <a:spcPts val="0"/>
            </a:spcAft>
            <a:buClrTx/>
            <a:buSzTx/>
            <a:buFontTx/>
            <a:buNone/>
            <a:tabLst/>
            <a:defRPr sz="1000" b="0" i="0" u="none" strike="noStrike" kern="1200" spc="0" baseline="0">
              <a:solidFill>
                <a:srgbClr val="000000">
                  <a:lumMod val="65000"/>
                  <a:lumOff val="35000"/>
                </a:srgbClr>
              </a:solidFill>
              <a:latin typeface="Montserrat" pitchFamily="2" charset="77"/>
              <a:ea typeface="+mn-ea"/>
              <a:cs typeface="+mn-cs"/>
            </a:defRPr>
          </a:pPr>
          <a:endParaRPr lang="en-GB"/>
        </a:p>
      </c:txPr>
    </c:title>
    <c:autoTitleDeleted val="0"/>
    <c:plotArea>
      <c:layout/>
      <c:lineChart>
        <c:grouping val="standard"/>
        <c:varyColors val="0"/>
        <c:ser>
          <c:idx val="0"/>
          <c:order val="0"/>
          <c:tx>
            <c:strRef>
              <c:f>BEV_Numbers!$B$68</c:f>
              <c:strCache>
                <c:ptCount val="1"/>
                <c:pt idx="0">
                  <c:v>Articulated Truck</c:v>
                </c:pt>
              </c:strCache>
            </c:strRef>
          </c:tx>
          <c:spPr>
            <a:ln w="28575" cap="rnd">
              <a:solidFill>
                <a:schemeClr val="accent1"/>
              </a:solidFill>
              <a:round/>
            </a:ln>
            <a:effectLst/>
          </c:spPr>
          <c:marker>
            <c:symbol val="none"/>
          </c:marker>
          <c:cat>
            <c:strRef>
              <c:f>BEV_Numbers!$C$67:$AF$67</c:f>
              <c:strCache>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Cache>
            </c:strRef>
          </c:cat>
          <c:val>
            <c:numRef>
              <c:f>BEV_Numbers!$C$68:$AF$68</c:f>
              <c:numCache>
                <c:formatCode>_(* #,##0_);_(* \(#,##0\);_(* "-"??_);_(@_)</c:formatCode>
                <c:ptCount val="30"/>
                <c:pt idx="0">
                  <c:v>0</c:v>
                </c:pt>
                <c:pt idx="1">
                  <c:v>0</c:v>
                </c:pt>
                <c:pt idx="2">
                  <c:v>0</c:v>
                </c:pt>
                <c:pt idx="3">
                  <c:v>1</c:v>
                </c:pt>
                <c:pt idx="4">
                  <c:v>2</c:v>
                </c:pt>
                <c:pt idx="5">
                  <c:v>43</c:v>
                </c:pt>
                <c:pt idx="6">
                  <c:v>125</c:v>
                </c:pt>
                <c:pt idx="7">
                  <c:v>245</c:v>
                </c:pt>
                <c:pt idx="8">
                  <c:v>400</c:v>
                </c:pt>
                <c:pt idx="9">
                  <c:v>595</c:v>
                </c:pt>
                <c:pt idx="10">
                  <c:v>830</c:v>
                </c:pt>
                <c:pt idx="11">
                  <c:v>1103</c:v>
                </c:pt>
                <c:pt idx="12">
                  <c:v>1418</c:v>
                </c:pt>
                <c:pt idx="13">
                  <c:v>1770</c:v>
                </c:pt>
                <c:pt idx="14">
                  <c:v>2157</c:v>
                </c:pt>
                <c:pt idx="15">
                  <c:v>2853</c:v>
                </c:pt>
                <c:pt idx="16">
                  <c:v>3548</c:v>
                </c:pt>
                <c:pt idx="17">
                  <c:v>4243</c:v>
                </c:pt>
                <c:pt idx="18">
                  <c:v>4939</c:v>
                </c:pt>
                <c:pt idx="19">
                  <c:v>5634</c:v>
                </c:pt>
                <c:pt idx="20">
                  <c:v>6329</c:v>
                </c:pt>
                <c:pt idx="21">
                  <c:v>7025</c:v>
                </c:pt>
                <c:pt idx="22">
                  <c:v>7720</c:v>
                </c:pt>
                <c:pt idx="23">
                  <c:v>8415</c:v>
                </c:pt>
                <c:pt idx="24">
                  <c:v>9111</c:v>
                </c:pt>
                <c:pt idx="25">
                  <c:v>9806</c:v>
                </c:pt>
                <c:pt idx="26">
                  <c:v>10502</c:v>
                </c:pt>
                <c:pt idx="27">
                  <c:v>11197</c:v>
                </c:pt>
                <c:pt idx="28">
                  <c:v>11892</c:v>
                </c:pt>
                <c:pt idx="29">
                  <c:v>12588</c:v>
                </c:pt>
              </c:numCache>
            </c:numRef>
          </c:val>
          <c:smooth val="0"/>
          <c:extLst>
            <c:ext xmlns:c16="http://schemas.microsoft.com/office/drawing/2014/chart" uri="{C3380CC4-5D6E-409C-BE32-E72D297353CC}">
              <c16:uniqueId val="{00000000-7695-ED4C-BCC7-6E2DC5DA5392}"/>
            </c:ext>
          </c:extLst>
        </c:ser>
        <c:ser>
          <c:idx val="1"/>
          <c:order val="1"/>
          <c:tx>
            <c:strRef>
              <c:f>BEV_Numbers!$B$69</c:f>
              <c:strCache>
                <c:ptCount val="1"/>
                <c:pt idx="0">
                  <c:v>Bus</c:v>
                </c:pt>
              </c:strCache>
            </c:strRef>
          </c:tx>
          <c:spPr>
            <a:ln w="28575" cap="rnd">
              <a:solidFill>
                <a:schemeClr val="accent2"/>
              </a:solidFill>
              <a:round/>
            </a:ln>
            <a:effectLst/>
          </c:spPr>
          <c:marker>
            <c:symbol val="none"/>
          </c:marker>
          <c:cat>
            <c:strRef>
              <c:f>BEV_Numbers!$C$67:$AF$67</c:f>
              <c:strCache>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Cache>
            </c:strRef>
          </c:cat>
          <c:val>
            <c:numRef>
              <c:f>BEV_Numbers!$C$69:$AF$69</c:f>
              <c:numCache>
                <c:formatCode>_(* #,##0_);_(* \(#,##0\);_(* "-"??_);_(@_)</c:formatCode>
                <c:ptCount val="30"/>
                <c:pt idx="0">
                  <c:v>35</c:v>
                </c:pt>
                <c:pt idx="1">
                  <c:v>75</c:v>
                </c:pt>
                <c:pt idx="2">
                  <c:v>115</c:v>
                </c:pt>
                <c:pt idx="3">
                  <c:v>160</c:v>
                </c:pt>
                <c:pt idx="4">
                  <c:v>214</c:v>
                </c:pt>
                <c:pt idx="5">
                  <c:v>306</c:v>
                </c:pt>
                <c:pt idx="6">
                  <c:v>437</c:v>
                </c:pt>
                <c:pt idx="7">
                  <c:v>604</c:v>
                </c:pt>
                <c:pt idx="8">
                  <c:v>803</c:v>
                </c:pt>
                <c:pt idx="9">
                  <c:v>1031</c:v>
                </c:pt>
                <c:pt idx="10">
                  <c:v>1283</c:v>
                </c:pt>
                <c:pt idx="11">
                  <c:v>1559</c:v>
                </c:pt>
                <c:pt idx="12">
                  <c:v>1857</c:v>
                </c:pt>
                <c:pt idx="13">
                  <c:v>2175</c:v>
                </c:pt>
                <c:pt idx="14">
                  <c:v>2514</c:v>
                </c:pt>
                <c:pt idx="15">
                  <c:v>2885</c:v>
                </c:pt>
                <c:pt idx="16">
                  <c:v>3256</c:v>
                </c:pt>
                <c:pt idx="17">
                  <c:v>3626</c:v>
                </c:pt>
                <c:pt idx="18">
                  <c:v>3997</c:v>
                </c:pt>
                <c:pt idx="19">
                  <c:v>4368</c:v>
                </c:pt>
                <c:pt idx="20">
                  <c:v>4739</c:v>
                </c:pt>
                <c:pt idx="21">
                  <c:v>5110</c:v>
                </c:pt>
                <c:pt idx="22">
                  <c:v>5481</c:v>
                </c:pt>
                <c:pt idx="23">
                  <c:v>5852</c:v>
                </c:pt>
                <c:pt idx="24">
                  <c:v>6223</c:v>
                </c:pt>
                <c:pt idx="25">
                  <c:v>6594</c:v>
                </c:pt>
                <c:pt idx="26">
                  <c:v>6965</c:v>
                </c:pt>
                <c:pt idx="27">
                  <c:v>7335</c:v>
                </c:pt>
                <c:pt idx="28">
                  <c:v>7706</c:v>
                </c:pt>
                <c:pt idx="29">
                  <c:v>8077</c:v>
                </c:pt>
              </c:numCache>
            </c:numRef>
          </c:val>
          <c:smooth val="0"/>
          <c:extLst>
            <c:ext xmlns:c16="http://schemas.microsoft.com/office/drawing/2014/chart" uri="{C3380CC4-5D6E-409C-BE32-E72D297353CC}">
              <c16:uniqueId val="{00000001-7695-ED4C-BCC7-6E2DC5DA5392}"/>
            </c:ext>
          </c:extLst>
        </c:ser>
        <c:ser>
          <c:idx val="2"/>
          <c:order val="2"/>
          <c:tx>
            <c:strRef>
              <c:f>BEV_Numbers!$B$70</c:f>
              <c:strCache>
                <c:ptCount val="1"/>
                <c:pt idx="0">
                  <c:v>Large Light Commercial</c:v>
                </c:pt>
              </c:strCache>
            </c:strRef>
          </c:tx>
          <c:spPr>
            <a:ln w="28575" cap="rnd">
              <a:solidFill>
                <a:schemeClr val="accent3"/>
              </a:solidFill>
              <a:round/>
            </a:ln>
            <a:effectLst/>
          </c:spPr>
          <c:marker>
            <c:symbol val="none"/>
          </c:marker>
          <c:cat>
            <c:strRef>
              <c:f>BEV_Numbers!$C$67:$AF$67</c:f>
              <c:strCache>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Cache>
            </c:strRef>
          </c:cat>
          <c:val>
            <c:numRef>
              <c:f>BEV_Numbers!$C$70:$AF$70</c:f>
              <c:numCache>
                <c:formatCode>_(* #,##0_);_(* \(#,##0\);_(* "-"??_);_(@_)</c:formatCode>
                <c:ptCount val="30"/>
                <c:pt idx="0">
                  <c:v>279</c:v>
                </c:pt>
                <c:pt idx="1">
                  <c:v>646</c:v>
                </c:pt>
                <c:pt idx="2">
                  <c:v>1188</c:v>
                </c:pt>
                <c:pt idx="3">
                  <c:v>1852</c:v>
                </c:pt>
                <c:pt idx="4">
                  <c:v>2643</c:v>
                </c:pt>
                <c:pt idx="5">
                  <c:v>4747</c:v>
                </c:pt>
                <c:pt idx="6">
                  <c:v>8074</c:v>
                </c:pt>
                <c:pt idx="7">
                  <c:v>12489</c:v>
                </c:pt>
                <c:pt idx="8">
                  <c:v>17916</c:v>
                </c:pt>
                <c:pt idx="9">
                  <c:v>24433</c:v>
                </c:pt>
                <c:pt idx="10">
                  <c:v>32004</c:v>
                </c:pt>
                <c:pt idx="11">
                  <c:v>40549</c:v>
                </c:pt>
                <c:pt idx="12">
                  <c:v>50093</c:v>
                </c:pt>
                <c:pt idx="13">
                  <c:v>60540</c:v>
                </c:pt>
                <c:pt idx="14">
                  <c:v>71820</c:v>
                </c:pt>
                <c:pt idx="15">
                  <c:v>90378</c:v>
                </c:pt>
                <c:pt idx="16">
                  <c:v>108935</c:v>
                </c:pt>
                <c:pt idx="17">
                  <c:v>127492</c:v>
                </c:pt>
                <c:pt idx="18">
                  <c:v>146049</c:v>
                </c:pt>
                <c:pt idx="19">
                  <c:v>164606</c:v>
                </c:pt>
                <c:pt idx="20">
                  <c:v>183164</c:v>
                </c:pt>
                <c:pt idx="21">
                  <c:v>201721</c:v>
                </c:pt>
                <c:pt idx="22">
                  <c:v>220278</c:v>
                </c:pt>
                <c:pt idx="23">
                  <c:v>238835</c:v>
                </c:pt>
                <c:pt idx="24">
                  <c:v>257392</c:v>
                </c:pt>
                <c:pt idx="25">
                  <c:v>275949</c:v>
                </c:pt>
                <c:pt idx="26">
                  <c:v>294507</c:v>
                </c:pt>
                <c:pt idx="27">
                  <c:v>313064</c:v>
                </c:pt>
                <c:pt idx="28">
                  <c:v>331621</c:v>
                </c:pt>
                <c:pt idx="29">
                  <c:v>350178</c:v>
                </c:pt>
              </c:numCache>
            </c:numRef>
          </c:val>
          <c:smooth val="0"/>
          <c:extLst>
            <c:ext xmlns:c16="http://schemas.microsoft.com/office/drawing/2014/chart" uri="{C3380CC4-5D6E-409C-BE32-E72D297353CC}">
              <c16:uniqueId val="{00000002-7695-ED4C-BCC7-6E2DC5DA5392}"/>
            </c:ext>
          </c:extLst>
        </c:ser>
        <c:ser>
          <c:idx val="3"/>
          <c:order val="3"/>
          <c:tx>
            <c:strRef>
              <c:f>BEV_Numbers!$B$71</c:f>
              <c:strCache>
                <c:ptCount val="1"/>
                <c:pt idx="0">
                  <c:v>Large Residential</c:v>
                </c:pt>
              </c:strCache>
            </c:strRef>
          </c:tx>
          <c:spPr>
            <a:ln w="28575" cap="rnd">
              <a:solidFill>
                <a:schemeClr val="accent4"/>
              </a:solidFill>
              <a:round/>
            </a:ln>
            <a:effectLst/>
          </c:spPr>
          <c:marker>
            <c:symbol val="none"/>
          </c:marker>
          <c:cat>
            <c:strRef>
              <c:f>BEV_Numbers!$C$67:$AF$67</c:f>
              <c:strCache>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Cache>
            </c:strRef>
          </c:cat>
          <c:val>
            <c:numRef>
              <c:f>BEV_Numbers!$C$71:$AF$71</c:f>
              <c:numCache>
                <c:formatCode>_(* #,##0_);_(* \(#,##0\);_(* "-"??_);_(@_)</c:formatCode>
                <c:ptCount val="30"/>
                <c:pt idx="0">
                  <c:v>8720</c:v>
                </c:pt>
                <c:pt idx="1">
                  <c:v>16598</c:v>
                </c:pt>
                <c:pt idx="2">
                  <c:v>27677</c:v>
                </c:pt>
                <c:pt idx="3">
                  <c:v>40923</c:v>
                </c:pt>
                <c:pt idx="4">
                  <c:v>56748</c:v>
                </c:pt>
                <c:pt idx="5">
                  <c:v>72975</c:v>
                </c:pt>
                <c:pt idx="6">
                  <c:v>89771</c:v>
                </c:pt>
                <c:pt idx="7">
                  <c:v>107040</c:v>
                </c:pt>
                <c:pt idx="8">
                  <c:v>124871</c:v>
                </c:pt>
                <c:pt idx="9">
                  <c:v>143302</c:v>
                </c:pt>
                <c:pt idx="10">
                  <c:v>162192</c:v>
                </c:pt>
                <c:pt idx="11">
                  <c:v>181655</c:v>
                </c:pt>
                <c:pt idx="12">
                  <c:v>201690</c:v>
                </c:pt>
                <c:pt idx="13">
                  <c:v>222271</c:v>
                </c:pt>
                <c:pt idx="14">
                  <c:v>243330</c:v>
                </c:pt>
                <c:pt idx="15">
                  <c:v>272711</c:v>
                </c:pt>
                <c:pt idx="16">
                  <c:v>302091</c:v>
                </c:pt>
                <c:pt idx="17">
                  <c:v>331471</c:v>
                </c:pt>
                <c:pt idx="18">
                  <c:v>360852</c:v>
                </c:pt>
                <c:pt idx="19">
                  <c:v>390232</c:v>
                </c:pt>
                <c:pt idx="20">
                  <c:v>419612</c:v>
                </c:pt>
                <c:pt idx="21">
                  <c:v>448993</c:v>
                </c:pt>
                <c:pt idx="22">
                  <c:v>478373</c:v>
                </c:pt>
                <c:pt idx="23">
                  <c:v>507753</c:v>
                </c:pt>
                <c:pt idx="24">
                  <c:v>537134</c:v>
                </c:pt>
                <c:pt idx="25">
                  <c:v>566514</c:v>
                </c:pt>
                <c:pt idx="26">
                  <c:v>595894</c:v>
                </c:pt>
                <c:pt idx="27">
                  <c:v>625275</c:v>
                </c:pt>
                <c:pt idx="28">
                  <c:v>654655</c:v>
                </c:pt>
                <c:pt idx="29">
                  <c:v>684035</c:v>
                </c:pt>
              </c:numCache>
            </c:numRef>
          </c:val>
          <c:smooth val="0"/>
          <c:extLst>
            <c:ext xmlns:c16="http://schemas.microsoft.com/office/drawing/2014/chart" uri="{C3380CC4-5D6E-409C-BE32-E72D297353CC}">
              <c16:uniqueId val="{00000003-7695-ED4C-BCC7-6E2DC5DA5392}"/>
            </c:ext>
          </c:extLst>
        </c:ser>
        <c:ser>
          <c:idx val="4"/>
          <c:order val="4"/>
          <c:tx>
            <c:strRef>
              <c:f>BEV_Numbers!$B$72</c:f>
              <c:strCache>
                <c:ptCount val="1"/>
                <c:pt idx="0">
                  <c:v>Medium Light Commercial</c:v>
                </c:pt>
              </c:strCache>
            </c:strRef>
          </c:tx>
          <c:spPr>
            <a:ln w="28575" cap="rnd">
              <a:solidFill>
                <a:schemeClr val="accent5"/>
              </a:solidFill>
              <a:round/>
            </a:ln>
            <a:effectLst/>
          </c:spPr>
          <c:marker>
            <c:symbol val="none"/>
          </c:marker>
          <c:cat>
            <c:strRef>
              <c:f>BEV_Numbers!$C$67:$AF$67</c:f>
              <c:strCache>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Cache>
            </c:strRef>
          </c:cat>
          <c:val>
            <c:numRef>
              <c:f>BEV_Numbers!$C$72:$AF$72</c:f>
              <c:numCache>
                <c:formatCode>_(* #,##0_);_(* \(#,##0\);_(* "-"??_);_(@_)</c:formatCode>
                <c:ptCount val="30"/>
                <c:pt idx="0">
                  <c:v>470</c:v>
                </c:pt>
                <c:pt idx="1">
                  <c:v>814</c:v>
                </c:pt>
                <c:pt idx="2">
                  <c:v>1290</c:v>
                </c:pt>
                <c:pt idx="3">
                  <c:v>1840</c:v>
                </c:pt>
                <c:pt idx="4">
                  <c:v>2477</c:v>
                </c:pt>
                <c:pt idx="5">
                  <c:v>3420</c:v>
                </c:pt>
                <c:pt idx="6">
                  <c:v>4556</c:v>
                </c:pt>
                <c:pt idx="7">
                  <c:v>5833</c:v>
                </c:pt>
                <c:pt idx="8">
                  <c:v>7239</c:v>
                </c:pt>
                <c:pt idx="9">
                  <c:v>8802</c:v>
                </c:pt>
                <c:pt idx="10">
                  <c:v>10520</c:v>
                </c:pt>
                <c:pt idx="11">
                  <c:v>12378</c:v>
                </c:pt>
                <c:pt idx="12">
                  <c:v>14388</c:v>
                </c:pt>
                <c:pt idx="13">
                  <c:v>16530</c:v>
                </c:pt>
                <c:pt idx="14">
                  <c:v>18793</c:v>
                </c:pt>
                <c:pt idx="15">
                  <c:v>22353</c:v>
                </c:pt>
                <c:pt idx="16">
                  <c:v>25914</c:v>
                </c:pt>
                <c:pt idx="17">
                  <c:v>29475</c:v>
                </c:pt>
                <c:pt idx="18">
                  <c:v>33035</c:v>
                </c:pt>
                <c:pt idx="19">
                  <c:v>36596</c:v>
                </c:pt>
                <c:pt idx="20">
                  <c:v>40156</c:v>
                </c:pt>
                <c:pt idx="21">
                  <c:v>43717</c:v>
                </c:pt>
                <c:pt idx="22">
                  <c:v>47278</c:v>
                </c:pt>
                <c:pt idx="23">
                  <c:v>50838</c:v>
                </c:pt>
                <c:pt idx="24">
                  <c:v>54399</c:v>
                </c:pt>
                <c:pt idx="25">
                  <c:v>57959</c:v>
                </c:pt>
                <c:pt idx="26">
                  <c:v>61520</c:v>
                </c:pt>
                <c:pt idx="27">
                  <c:v>65081</c:v>
                </c:pt>
                <c:pt idx="28">
                  <c:v>68641</c:v>
                </c:pt>
                <c:pt idx="29">
                  <c:v>72202</c:v>
                </c:pt>
              </c:numCache>
            </c:numRef>
          </c:val>
          <c:smooth val="0"/>
          <c:extLst>
            <c:ext xmlns:c16="http://schemas.microsoft.com/office/drawing/2014/chart" uri="{C3380CC4-5D6E-409C-BE32-E72D297353CC}">
              <c16:uniqueId val="{00000004-7695-ED4C-BCC7-6E2DC5DA5392}"/>
            </c:ext>
          </c:extLst>
        </c:ser>
        <c:ser>
          <c:idx val="5"/>
          <c:order val="5"/>
          <c:tx>
            <c:strRef>
              <c:f>BEV_Numbers!$B$73</c:f>
              <c:strCache>
                <c:ptCount val="1"/>
                <c:pt idx="0">
                  <c:v>Medium Residential</c:v>
                </c:pt>
              </c:strCache>
            </c:strRef>
          </c:tx>
          <c:spPr>
            <a:ln w="28575" cap="rnd">
              <a:solidFill>
                <a:schemeClr val="accent6"/>
              </a:solidFill>
              <a:round/>
            </a:ln>
            <a:effectLst/>
          </c:spPr>
          <c:marker>
            <c:symbol val="none"/>
          </c:marker>
          <c:cat>
            <c:strRef>
              <c:f>BEV_Numbers!$C$67:$AF$67</c:f>
              <c:strCache>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Cache>
            </c:strRef>
          </c:cat>
          <c:val>
            <c:numRef>
              <c:f>BEV_Numbers!$C$73:$AF$73</c:f>
              <c:numCache>
                <c:formatCode>_(* #,##0_);_(* \(#,##0\);_(* "-"??_);_(@_)</c:formatCode>
                <c:ptCount val="30"/>
                <c:pt idx="0">
                  <c:v>19265</c:v>
                </c:pt>
                <c:pt idx="1">
                  <c:v>28689</c:v>
                </c:pt>
                <c:pt idx="2">
                  <c:v>40807</c:v>
                </c:pt>
                <c:pt idx="3">
                  <c:v>54090</c:v>
                </c:pt>
                <c:pt idx="4">
                  <c:v>69459</c:v>
                </c:pt>
                <c:pt idx="5">
                  <c:v>84877</c:v>
                </c:pt>
                <c:pt idx="6">
                  <c:v>100530</c:v>
                </c:pt>
                <c:pt idx="7">
                  <c:v>116342</c:v>
                </c:pt>
                <c:pt idx="8">
                  <c:v>132409</c:v>
                </c:pt>
                <c:pt idx="9">
                  <c:v>148781</c:v>
                </c:pt>
                <c:pt idx="10">
                  <c:v>165335</c:v>
                </c:pt>
                <c:pt idx="11">
                  <c:v>182187</c:v>
                </c:pt>
                <c:pt idx="12">
                  <c:v>199343</c:v>
                </c:pt>
                <c:pt idx="13">
                  <c:v>216787</c:v>
                </c:pt>
                <c:pt idx="14">
                  <c:v>234466</c:v>
                </c:pt>
                <c:pt idx="15">
                  <c:v>258514</c:v>
                </c:pt>
                <c:pt idx="16">
                  <c:v>282563</c:v>
                </c:pt>
                <c:pt idx="17">
                  <c:v>306611</c:v>
                </c:pt>
                <c:pt idx="18">
                  <c:v>330659</c:v>
                </c:pt>
                <c:pt idx="19">
                  <c:v>354708</c:v>
                </c:pt>
                <c:pt idx="20">
                  <c:v>378756</c:v>
                </c:pt>
                <c:pt idx="21">
                  <c:v>402804</c:v>
                </c:pt>
                <c:pt idx="22">
                  <c:v>426853</c:v>
                </c:pt>
                <c:pt idx="23">
                  <c:v>450901</c:v>
                </c:pt>
                <c:pt idx="24">
                  <c:v>474950</c:v>
                </c:pt>
                <c:pt idx="25">
                  <c:v>498998</c:v>
                </c:pt>
                <c:pt idx="26">
                  <c:v>523046</c:v>
                </c:pt>
                <c:pt idx="27">
                  <c:v>547095</c:v>
                </c:pt>
                <c:pt idx="28">
                  <c:v>571143</c:v>
                </c:pt>
                <c:pt idx="29">
                  <c:v>595191</c:v>
                </c:pt>
              </c:numCache>
            </c:numRef>
          </c:val>
          <c:smooth val="0"/>
          <c:extLst>
            <c:ext xmlns:c16="http://schemas.microsoft.com/office/drawing/2014/chart" uri="{C3380CC4-5D6E-409C-BE32-E72D297353CC}">
              <c16:uniqueId val="{00000005-7695-ED4C-BCC7-6E2DC5DA5392}"/>
            </c:ext>
          </c:extLst>
        </c:ser>
        <c:ser>
          <c:idx val="6"/>
          <c:order val="6"/>
          <c:tx>
            <c:strRef>
              <c:f>BEV_Numbers!$B$74</c:f>
              <c:strCache>
                <c:ptCount val="1"/>
                <c:pt idx="0">
                  <c:v>Motorcycle</c:v>
                </c:pt>
              </c:strCache>
            </c:strRef>
          </c:tx>
          <c:spPr>
            <a:ln w="28575" cap="rnd">
              <a:solidFill>
                <a:schemeClr val="accent1">
                  <a:lumMod val="60000"/>
                </a:schemeClr>
              </a:solidFill>
              <a:round/>
            </a:ln>
            <a:effectLst/>
          </c:spPr>
          <c:marker>
            <c:symbol val="none"/>
          </c:marker>
          <c:cat>
            <c:strRef>
              <c:f>BEV_Numbers!$C$67:$AF$67</c:f>
              <c:strCache>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Cache>
            </c:strRef>
          </c:cat>
          <c:val>
            <c:numRef>
              <c:f>BEV_Numbers!$C$74:$AF$74</c:f>
              <c:numCache>
                <c:formatCode>_(* #,##0_);_(* \(#,##0\);_(* "-"??_);_(@_)</c:formatCode>
                <c:ptCount val="30"/>
                <c:pt idx="0">
                  <c:v>1149</c:v>
                </c:pt>
                <c:pt idx="1">
                  <c:v>2311</c:v>
                </c:pt>
                <c:pt idx="2">
                  <c:v>4008</c:v>
                </c:pt>
                <c:pt idx="3">
                  <c:v>6087</c:v>
                </c:pt>
                <c:pt idx="4">
                  <c:v>8627</c:v>
                </c:pt>
                <c:pt idx="5">
                  <c:v>11020</c:v>
                </c:pt>
                <c:pt idx="6">
                  <c:v>13589</c:v>
                </c:pt>
                <c:pt idx="7">
                  <c:v>16325</c:v>
                </c:pt>
                <c:pt idx="8">
                  <c:v>19225</c:v>
                </c:pt>
                <c:pt idx="9">
                  <c:v>22284</c:v>
                </c:pt>
                <c:pt idx="10">
                  <c:v>25498</c:v>
                </c:pt>
                <c:pt idx="11">
                  <c:v>28852</c:v>
                </c:pt>
                <c:pt idx="12">
                  <c:v>32338</c:v>
                </c:pt>
                <c:pt idx="13">
                  <c:v>35948</c:v>
                </c:pt>
                <c:pt idx="14">
                  <c:v>39675</c:v>
                </c:pt>
                <c:pt idx="15">
                  <c:v>45145</c:v>
                </c:pt>
                <c:pt idx="16">
                  <c:v>50615</c:v>
                </c:pt>
                <c:pt idx="17">
                  <c:v>56085</c:v>
                </c:pt>
                <c:pt idx="18">
                  <c:v>61555</c:v>
                </c:pt>
                <c:pt idx="19">
                  <c:v>67025</c:v>
                </c:pt>
                <c:pt idx="20">
                  <c:v>72495</c:v>
                </c:pt>
                <c:pt idx="21">
                  <c:v>77965</c:v>
                </c:pt>
                <c:pt idx="22">
                  <c:v>83435</c:v>
                </c:pt>
                <c:pt idx="23">
                  <c:v>88905</c:v>
                </c:pt>
                <c:pt idx="24">
                  <c:v>94375</c:v>
                </c:pt>
                <c:pt idx="25">
                  <c:v>99845</c:v>
                </c:pt>
                <c:pt idx="26">
                  <c:v>105315</c:v>
                </c:pt>
                <c:pt idx="27">
                  <c:v>110785</c:v>
                </c:pt>
                <c:pt idx="28">
                  <c:v>116255</c:v>
                </c:pt>
                <c:pt idx="29">
                  <c:v>121725</c:v>
                </c:pt>
              </c:numCache>
            </c:numRef>
          </c:val>
          <c:smooth val="0"/>
          <c:extLst>
            <c:ext xmlns:c16="http://schemas.microsoft.com/office/drawing/2014/chart" uri="{C3380CC4-5D6E-409C-BE32-E72D297353CC}">
              <c16:uniqueId val="{00000006-7695-ED4C-BCC7-6E2DC5DA5392}"/>
            </c:ext>
          </c:extLst>
        </c:ser>
        <c:ser>
          <c:idx val="7"/>
          <c:order val="7"/>
          <c:tx>
            <c:strRef>
              <c:f>BEV_Numbers!$B$75</c:f>
              <c:strCache>
                <c:ptCount val="1"/>
                <c:pt idx="0">
                  <c:v>Rigid Truck</c:v>
                </c:pt>
              </c:strCache>
            </c:strRef>
          </c:tx>
          <c:spPr>
            <a:ln w="28575" cap="rnd">
              <a:solidFill>
                <a:schemeClr val="accent2">
                  <a:lumMod val="60000"/>
                </a:schemeClr>
              </a:solidFill>
              <a:round/>
            </a:ln>
            <a:effectLst/>
          </c:spPr>
          <c:marker>
            <c:symbol val="none"/>
          </c:marker>
          <c:cat>
            <c:strRef>
              <c:f>BEV_Numbers!$C$67:$AF$67</c:f>
              <c:strCache>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Cache>
            </c:strRef>
          </c:cat>
          <c:val>
            <c:numRef>
              <c:f>BEV_Numbers!$C$75:$AF$75</c:f>
              <c:numCache>
                <c:formatCode>_(* #,##0_);_(* \(#,##0\);_(* "-"??_);_(@_)</c:formatCode>
                <c:ptCount val="30"/>
                <c:pt idx="0">
                  <c:v>54</c:v>
                </c:pt>
                <c:pt idx="1">
                  <c:v>117</c:v>
                </c:pt>
                <c:pt idx="2">
                  <c:v>168</c:v>
                </c:pt>
                <c:pt idx="3">
                  <c:v>222</c:v>
                </c:pt>
                <c:pt idx="4">
                  <c:v>281</c:v>
                </c:pt>
                <c:pt idx="5">
                  <c:v>615</c:v>
                </c:pt>
                <c:pt idx="6">
                  <c:v>1206</c:v>
                </c:pt>
                <c:pt idx="7">
                  <c:v>2026</c:v>
                </c:pt>
                <c:pt idx="8">
                  <c:v>3049</c:v>
                </c:pt>
                <c:pt idx="9">
                  <c:v>4316</c:v>
                </c:pt>
                <c:pt idx="10">
                  <c:v>5826</c:v>
                </c:pt>
                <c:pt idx="11">
                  <c:v>7565</c:v>
                </c:pt>
                <c:pt idx="12">
                  <c:v>9555</c:v>
                </c:pt>
                <c:pt idx="13">
                  <c:v>11771</c:v>
                </c:pt>
                <c:pt idx="14">
                  <c:v>14206</c:v>
                </c:pt>
                <c:pt idx="15">
                  <c:v>18406</c:v>
                </c:pt>
                <c:pt idx="16">
                  <c:v>22605</c:v>
                </c:pt>
                <c:pt idx="17">
                  <c:v>26805</c:v>
                </c:pt>
                <c:pt idx="18">
                  <c:v>31004</c:v>
                </c:pt>
                <c:pt idx="19">
                  <c:v>35204</c:v>
                </c:pt>
                <c:pt idx="20">
                  <c:v>39403</c:v>
                </c:pt>
                <c:pt idx="21">
                  <c:v>43603</c:v>
                </c:pt>
                <c:pt idx="22">
                  <c:v>47803</c:v>
                </c:pt>
                <c:pt idx="23">
                  <c:v>52002</c:v>
                </c:pt>
                <c:pt idx="24">
                  <c:v>56202</c:v>
                </c:pt>
                <c:pt idx="25">
                  <c:v>60401</c:v>
                </c:pt>
                <c:pt idx="26">
                  <c:v>64601</c:v>
                </c:pt>
                <c:pt idx="27">
                  <c:v>68800</c:v>
                </c:pt>
                <c:pt idx="28">
                  <c:v>73000</c:v>
                </c:pt>
                <c:pt idx="29">
                  <c:v>77199</c:v>
                </c:pt>
              </c:numCache>
            </c:numRef>
          </c:val>
          <c:smooth val="0"/>
          <c:extLst>
            <c:ext xmlns:c16="http://schemas.microsoft.com/office/drawing/2014/chart" uri="{C3380CC4-5D6E-409C-BE32-E72D297353CC}">
              <c16:uniqueId val="{00000007-7695-ED4C-BCC7-6E2DC5DA5392}"/>
            </c:ext>
          </c:extLst>
        </c:ser>
        <c:ser>
          <c:idx val="8"/>
          <c:order val="8"/>
          <c:tx>
            <c:strRef>
              <c:f>BEV_Numbers!$B$76</c:f>
              <c:strCache>
                <c:ptCount val="1"/>
                <c:pt idx="0">
                  <c:v>Small Light Commercial</c:v>
                </c:pt>
              </c:strCache>
            </c:strRef>
          </c:tx>
          <c:spPr>
            <a:ln w="28575" cap="rnd">
              <a:solidFill>
                <a:schemeClr val="accent3">
                  <a:lumMod val="60000"/>
                </a:schemeClr>
              </a:solidFill>
              <a:round/>
            </a:ln>
            <a:effectLst/>
          </c:spPr>
          <c:marker>
            <c:symbol val="none"/>
          </c:marker>
          <c:cat>
            <c:strRef>
              <c:f>BEV_Numbers!$C$67:$AF$67</c:f>
              <c:strCache>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Cache>
            </c:strRef>
          </c:cat>
          <c:val>
            <c:numRef>
              <c:f>BEV_Numbers!$C$76:$AF$76</c:f>
              <c:numCache>
                <c:formatCode>_(* #,##0_);_(* \(#,##0\);_(* "-"??_);_(@_)</c:formatCode>
                <c:ptCount val="30"/>
                <c:pt idx="0">
                  <c:v>406</c:v>
                </c:pt>
                <c:pt idx="1">
                  <c:v>623</c:v>
                </c:pt>
                <c:pt idx="2">
                  <c:v>906</c:v>
                </c:pt>
                <c:pt idx="3">
                  <c:v>1216</c:v>
                </c:pt>
                <c:pt idx="4">
                  <c:v>1569</c:v>
                </c:pt>
                <c:pt idx="5">
                  <c:v>2037</c:v>
                </c:pt>
                <c:pt idx="6">
                  <c:v>2555</c:v>
                </c:pt>
                <c:pt idx="7">
                  <c:v>3098</c:v>
                </c:pt>
                <c:pt idx="8">
                  <c:v>3664</c:v>
                </c:pt>
                <c:pt idx="9">
                  <c:v>4264</c:v>
                </c:pt>
                <c:pt idx="10">
                  <c:v>4899</c:v>
                </c:pt>
                <c:pt idx="11">
                  <c:v>5564</c:v>
                </c:pt>
                <c:pt idx="12">
                  <c:v>6262</c:v>
                </c:pt>
                <c:pt idx="13">
                  <c:v>6987</c:v>
                </c:pt>
                <c:pt idx="14">
                  <c:v>7737</c:v>
                </c:pt>
                <c:pt idx="15">
                  <c:v>8856</c:v>
                </c:pt>
                <c:pt idx="16">
                  <c:v>9974</c:v>
                </c:pt>
                <c:pt idx="17">
                  <c:v>11093</c:v>
                </c:pt>
                <c:pt idx="18">
                  <c:v>12212</c:v>
                </c:pt>
                <c:pt idx="19">
                  <c:v>13331</c:v>
                </c:pt>
                <c:pt idx="20">
                  <c:v>14450</c:v>
                </c:pt>
                <c:pt idx="21">
                  <c:v>15568</c:v>
                </c:pt>
                <c:pt idx="22">
                  <c:v>16687</c:v>
                </c:pt>
                <c:pt idx="23">
                  <c:v>17806</c:v>
                </c:pt>
                <c:pt idx="24">
                  <c:v>18925</c:v>
                </c:pt>
                <c:pt idx="25">
                  <c:v>20044</c:v>
                </c:pt>
                <c:pt idx="26">
                  <c:v>21162</c:v>
                </c:pt>
                <c:pt idx="27">
                  <c:v>22281</c:v>
                </c:pt>
                <c:pt idx="28">
                  <c:v>23400</c:v>
                </c:pt>
                <c:pt idx="29">
                  <c:v>24519</c:v>
                </c:pt>
              </c:numCache>
            </c:numRef>
          </c:val>
          <c:smooth val="0"/>
          <c:extLst>
            <c:ext xmlns:c16="http://schemas.microsoft.com/office/drawing/2014/chart" uri="{C3380CC4-5D6E-409C-BE32-E72D297353CC}">
              <c16:uniqueId val="{00000008-7695-ED4C-BCC7-6E2DC5DA5392}"/>
            </c:ext>
          </c:extLst>
        </c:ser>
        <c:ser>
          <c:idx val="9"/>
          <c:order val="9"/>
          <c:tx>
            <c:strRef>
              <c:f>BEV_Numbers!$B$77</c:f>
              <c:strCache>
                <c:ptCount val="1"/>
                <c:pt idx="0">
                  <c:v>Small Residential</c:v>
                </c:pt>
              </c:strCache>
            </c:strRef>
          </c:tx>
          <c:spPr>
            <a:ln w="28575" cap="rnd">
              <a:solidFill>
                <a:schemeClr val="accent4">
                  <a:lumMod val="60000"/>
                </a:schemeClr>
              </a:solidFill>
              <a:round/>
            </a:ln>
            <a:effectLst/>
          </c:spPr>
          <c:marker>
            <c:symbol val="none"/>
          </c:marker>
          <c:cat>
            <c:strRef>
              <c:f>BEV_Numbers!$C$67:$AF$67</c:f>
              <c:strCache>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Cache>
            </c:strRef>
          </c:cat>
          <c:val>
            <c:numRef>
              <c:f>BEV_Numbers!$C$77:$AF$77</c:f>
              <c:numCache>
                <c:formatCode>_(* #,##0_);_(* \(#,##0\);_(* "-"??_);_(@_)</c:formatCode>
                <c:ptCount val="30"/>
                <c:pt idx="0">
                  <c:v>17426</c:v>
                </c:pt>
                <c:pt idx="1">
                  <c:v>23187</c:v>
                </c:pt>
                <c:pt idx="2">
                  <c:v>29851</c:v>
                </c:pt>
                <c:pt idx="3">
                  <c:v>36292</c:v>
                </c:pt>
                <c:pt idx="4">
                  <c:v>43352</c:v>
                </c:pt>
                <c:pt idx="5">
                  <c:v>50361</c:v>
                </c:pt>
                <c:pt idx="6">
                  <c:v>57414</c:v>
                </c:pt>
                <c:pt idx="7">
                  <c:v>64477</c:v>
                </c:pt>
                <c:pt idx="8">
                  <c:v>71599</c:v>
                </c:pt>
                <c:pt idx="9">
                  <c:v>78805</c:v>
                </c:pt>
                <c:pt idx="10">
                  <c:v>86042</c:v>
                </c:pt>
                <c:pt idx="11">
                  <c:v>93365</c:v>
                </c:pt>
                <c:pt idx="12">
                  <c:v>100777</c:v>
                </c:pt>
                <c:pt idx="13">
                  <c:v>108275</c:v>
                </c:pt>
                <c:pt idx="14">
                  <c:v>115835</c:v>
                </c:pt>
                <c:pt idx="15">
                  <c:v>125958</c:v>
                </c:pt>
                <c:pt idx="16">
                  <c:v>136081</c:v>
                </c:pt>
                <c:pt idx="17">
                  <c:v>146204</c:v>
                </c:pt>
                <c:pt idx="18">
                  <c:v>156327</c:v>
                </c:pt>
                <c:pt idx="19">
                  <c:v>166450</c:v>
                </c:pt>
                <c:pt idx="20">
                  <c:v>176574</c:v>
                </c:pt>
                <c:pt idx="21">
                  <c:v>186697</c:v>
                </c:pt>
                <c:pt idx="22">
                  <c:v>196820</c:v>
                </c:pt>
                <c:pt idx="23">
                  <c:v>206943</c:v>
                </c:pt>
                <c:pt idx="24">
                  <c:v>217066</c:v>
                </c:pt>
                <c:pt idx="25">
                  <c:v>227189</c:v>
                </c:pt>
                <c:pt idx="26">
                  <c:v>237312</c:v>
                </c:pt>
                <c:pt idx="27">
                  <c:v>247435</c:v>
                </c:pt>
                <c:pt idx="28">
                  <c:v>257559</c:v>
                </c:pt>
                <c:pt idx="29">
                  <c:v>267682</c:v>
                </c:pt>
              </c:numCache>
            </c:numRef>
          </c:val>
          <c:smooth val="0"/>
          <c:extLst>
            <c:ext xmlns:c16="http://schemas.microsoft.com/office/drawing/2014/chart" uri="{C3380CC4-5D6E-409C-BE32-E72D297353CC}">
              <c16:uniqueId val="{00000009-7695-ED4C-BCC7-6E2DC5DA5392}"/>
            </c:ext>
          </c:extLst>
        </c:ser>
        <c:dLbls>
          <c:showLegendKey val="0"/>
          <c:showVal val="0"/>
          <c:showCatName val="0"/>
          <c:showSerName val="0"/>
          <c:showPercent val="0"/>
          <c:showBubbleSize val="0"/>
        </c:dLbls>
        <c:smooth val="0"/>
        <c:axId val="71762368"/>
        <c:axId val="244577408"/>
      </c:lineChart>
      <c:catAx>
        <c:axId val="717623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ontserrat" pitchFamily="2" charset="77"/>
                <a:ea typeface="+mn-ea"/>
                <a:cs typeface="+mn-cs"/>
              </a:defRPr>
            </a:pPr>
            <a:endParaRPr lang="en-US"/>
          </a:p>
        </c:txPr>
        <c:crossAx val="244577408"/>
        <c:crosses val="autoZero"/>
        <c:auto val="1"/>
        <c:lblAlgn val="ctr"/>
        <c:lblOffset val="100"/>
        <c:noMultiLvlLbl val="0"/>
      </c:catAx>
      <c:valAx>
        <c:axId val="244577408"/>
        <c:scaling>
          <c:orientation val="minMax"/>
          <c:max val="1000000"/>
        </c:scaling>
        <c:delete val="0"/>
        <c:axPos val="l"/>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ontserrat" pitchFamily="2" charset="77"/>
                <a:ea typeface="+mn-ea"/>
                <a:cs typeface="+mn-cs"/>
              </a:defRPr>
            </a:pPr>
            <a:endParaRPr lang="en-US"/>
          </a:p>
        </c:txPr>
        <c:crossAx val="71762368"/>
        <c:crosses val="autoZero"/>
        <c:crossBetween val="between"/>
      </c:valAx>
      <c:spPr>
        <a:noFill/>
        <a:ln>
          <a:noFill/>
        </a:ln>
        <a:effectLst/>
      </c:spPr>
    </c:plotArea>
    <c:legend>
      <c:legendPos val="b"/>
      <c:layout>
        <c:manualLayout>
          <c:xMode val="edge"/>
          <c:yMode val="edge"/>
          <c:x val="3.8993549535121665E-2"/>
          <c:y val="0.82594143951189236"/>
          <c:w val="0.91975301392410691"/>
          <c:h val="0.15173227917344709"/>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ontserrat"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0" i="0">
          <a:latin typeface="Montserrat" pitchFamily="2" charset="77"/>
        </a:defRPr>
      </a:pPr>
      <a:endParaRPr lang="en-US"/>
    </a:p>
  </c:tx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just">
              <a:defRPr sz="1050" b="0" i="0" u="none" strike="noStrike" kern="1200" spc="0" baseline="0">
                <a:solidFill>
                  <a:schemeClr val="tx1">
                    <a:lumMod val="65000"/>
                    <a:lumOff val="35000"/>
                  </a:schemeClr>
                </a:solidFill>
                <a:latin typeface="Montserrat" pitchFamily="2" charset="77"/>
                <a:ea typeface="+mn-ea"/>
                <a:cs typeface="+mn-cs"/>
              </a:defRPr>
            </a:pPr>
            <a:r>
              <a:rPr lang="en-GB" sz="1050" b="1" dirty="0"/>
              <a:t>WEM Slower Growth</a:t>
            </a:r>
          </a:p>
          <a:p>
            <a:pPr algn="just">
              <a:defRPr sz="1050"/>
            </a:pPr>
            <a:r>
              <a:rPr lang="en-GB" sz="1050" b="0" dirty="0"/>
              <a:t>Total BEV and PHEV</a:t>
            </a:r>
            <a:r>
              <a:rPr lang="en-GB" sz="1050" b="0" baseline="0" dirty="0"/>
              <a:t> load by vehicle type</a:t>
            </a:r>
            <a:endParaRPr lang="en-GB" sz="1050" b="0" dirty="0"/>
          </a:p>
        </c:rich>
      </c:tx>
      <c:overlay val="0"/>
      <c:spPr>
        <a:noFill/>
        <a:ln>
          <a:noFill/>
        </a:ln>
        <a:effectLst/>
      </c:spPr>
      <c:txPr>
        <a:bodyPr rot="0" spcFirstLastPara="1" vertOverflow="ellipsis" vert="horz" wrap="square" anchor="ctr" anchorCtr="1"/>
        <a:lstStyle/>
        <a:p>
          <a:pPr algn="just">
            <a:defRPr sz="1050" b="0" i="0" u="none" strike="noStrike" kern="1200" spc="0" baseline="0">
              <a:solidFill>
                <a:schemeClr val="tx1">
                  <a:lumMod val="65000"/>
                  <a:lumOff val="35000"/>
                </a:schemeClr>
              </a:solidFill>
              <a:latin typeface="Montserrat" pitchFamily="2" charset="77"/>
              <a:ea typeface="+mn-ea"/>
              <a:cs typeface="+mn-cs"/>
            </a:defRPr>
          </a:pPr>
          <a:endParaRPr lang="en-US"/>
        </a:p>
      </c:txPr>
    </c:title>
    <c:autoTitleDeleted val="0"/>
    <c:plotArea>
      <c:layout/>
      <c:areaChart>
        <c:grouping val="stacked"/>
        <c:varyColors val="0"/>
        <c:ser>
          <c:idx val="0"/>
          <c:order val="0"/>
          <c:tx>
            <c:strRef>
              <c:f>'BEV_PHEV_Consumption (GWh)'!$B$68</c:f>
              <c:strCache>
                <c:ptCount val="1"/>
                <c:pt idx="0">
                  <c:v>Articulated Truck</c:v>
                </c:pt>
              </c:strCache>
            </c:strRef>
          </c:tx>
          <c:spPr>
            <a:solidFill>
              <a:schemeClr val="accent1"/>
            </a:solidFill>
            <a:ln>
              <a:noFill/>
            </a:ln>
            <a:effectLst/>
          </c:spPr>
          <c:cat>
            <c:strRef>
              <c:f>'BEV_PHEV_Consumption (GWh)'!$C$67:$AF$67</c:f>
              <c:strCache>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Cache>
            </c:strRef>
          </c:cat>
          <c:val>
            <c:numRef>
              <c:f>'BEV_PHEV_Consumption (GWh)'!$C$68:$AF$68</c:f>
              <c:numCache>
                <c:formatCode>_(* #,##0_);_(* \(#,##0\);_(* "-"??_);_(@_)</c:formatCode>
                <c:ptCount val="30"/>
                <c:pt idx="0">
                  <c:v>1.5089999999999999E-3</c:v>
                </c:pt>
                <c:pt idx="1">
                  <c:v>1.2839E-2</c:v>
                </c:pt>
                <c:pt idx="2">
                  <c:v>3.3424000000000002E-2</c:v>
                </c:pt>
                <c:pt idx="3">
                  <c:v>8.2441E-2</c:v>
                </c:pt>
                <c:pt idx="4">
                  <c:v>0.22716600000000001</c:v>
                </c:pt>
                <c:pt idx="5">
                  <c:v>3.1804929999999998</c:v>
                </c:pt>
                <c:pt idx="6">
                  <c:v>11.640771000000001</c:v>
                </c:pt>
                <c:pt idx="7">
                  <c:v>25.409507000000001</c:v>
                </c:pt>
                <c:pt idx="8">
                  <c:v>44.012335999999998</c:v>
                </c:pt>
                <c:pt idx="9">
                  <c:v>67.498722000000001</c:v>
                </c:pt>
                <c:pt idx="10">
                  <c:v>96.836945</c:v>
                </c:pt>
                <c:pt idx="11">
                  <c:v>130.947587</c:v>
                </c:pt>
                <c:pt idx="12">
                  <c:v>170.67613</c:v>
                </c:pt>
                <c:pt idx="13">
                  <c:v>215.66405599999999</c:v>
                </c:pt>
                <c:pt idx="14">
                  <c:v>266.28971000000001</c:v>
                </c:pt>
                <c:pt idx="15">
                  <c:v>339.32996700000001</c:v>
                </c:pt>
                <c:pt idx="16">
                  <c:v>432.98611299999999</c:v>
                </c:pt>
                <c:pt idx="17">
                  <c:v>526.672236</c:v>
                </c:pt>
                <c:pt idx="18">
                  <c:v>621.98548900000003</c:v>
                </c:pt>
                <c:pt idx="19">
                  <c:v>714.00895500000001</c:v>
                </c:pt>
                <c:pt idx="20">
                  <c:v>807.77196900000001</c:v>
                </c:pt>
                <c:pt idx="21">
                  <c:v>901.45902100000001</c:v>
                </c:pt>
                <c:pt idx="22">
                  <c:v>997.71081500000003</c:v>
                </c:pt>
                <c:pt idx="23">
                  <c:v>1088.7490250000001</c:v>
                </c:pt>
                <c:pt idx="24">
                  <c:v>1182.4216510000001</c:v>
                </c:pt>
                <c:pt idx="25">
                  <c:v>1276.0880669999999</c:v>
                </c:pt>
                <c:pt idx="26">
                  <c:v>1373.6527980000001</c:v>
                </c:pt>
                <c:pt idx="27">
                  <c:v>1463.4745700000001</c:v>
                </c:pt>
                <c:pt idx="28">
                  <c:v>1557.1794789999999</c:v>
                </c:pt>
                <c:pt idx="29">
                  <c:v>1650.8359230000001</c:v>
                </c:pt>
              </c:numCache>
            </c:numRef>
          </c:val>
          <c:extLst>
            <c:ext xmlns:c16="http://schemas.microsoft.com/office/drawing/2014/chart" uri="{C3380CC4-5D6E-409C-BE32-E72D297353CC}">
              <c16:uniqueId val="{00000000-7257-E64D-8353-1B0BC9087AB0}"/>
            </c:ext>
          </c:extLst>
        </c:ser>
        <c:ser>
          <c:idx val="1"/>
          <c:order val="1"/>
          <c:tx>
            <c:strRef>
              <c:f>'BEV_PHEV_Consumption (GWh)'!$B$69</c:f>
              <c:strCache>
                <c:ptCount val="1"/>
                <c:pt idx="0">
                  <c:v>Bus</c:v>
                </c:pt>
              </c:strCache>
            </c:strRef>
          </c:tx>
          <c:spPr>
            <a:solidFill>
              <a:schemeClr val="accent2"/>
            </a:solidFill>
            <a:ln>
              <a:noFill/>
            </a:ln>
            <a:effectLst/>
          </c:spPr>
          <c:cat>
            <c:strRef>
              <c:f>'BEV_PHEV_Consumption (GWh)'!$C$67:$AF$67</c:f>
              <c:strCache>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Cache>
            </c:strRef>
          </c:cat>
          <c:val>
            <c:numRef>
              <c:f>'BEV_PHEV_Consumption (GWh)'!$C$69:$AF$69</c:f>
              <c:numCache>
                <c:formatCode>_(* #,##0_);_(* \(#,##0\);_(* "-"??_);_(@_)</c:formatCode>
                <c:ptCount val="30"/>
                <c:pt idx="0">
                  <c:v>1.102373</c:v>
                </c:pt>
                <c:pt idx="1">
                  <c:v>1.011026</c:v>
                </c:pt>
                <c:pt idx="2">
                  <c:v>1.726313</c:v>
                </c:pt>
                <c:pt idx="3">
                  <c:v>2.475174</c:v>
                </c:pt>
                <c:pt idx="4">
                  <c:v>3.3555929999999998</c:v>
                </c:pt>
                <c:pt idx="5">
                  <c:v>4.6710979999999998</c:v>
                </c:pt>
                <c:pt idx="6">
                  <c:v>6.7015520000000004</c:v>
                </c:pt>
                <c:pt idx="7">
                  <c:v>9.3537730000000003</c:v>
                </c:pt>
                <c:pt idx="8">
                  <c:v>12.612322000000001</c:v>
                </c:pt>
                <c:pt idx="9">
                  <c:v>16.398372999999999</c:v>
                </c:pt>
                <c:pt idx="10">
                  <c:v>20.766179000000001</c:v>
                </c:pt>
                <c:pt idx="11">
                  <c:v>25.457118000000001</c:v>
                </c:pt>
                <c:pt idx="12">
                  <c:v>30.616164000000001</c:v>
                </c:pt>
                <c:pt idx="13">
                  <c:v>36.156390000000002</c:v>
                </c:pt>
                <c:pt idx="14">
                  <c:v>42.174798000000003</c:v>
                </c:pt>
                <c:pt idx="15">
                  <c:v>48.441769999999998</c:v>
                </c:pt>
                <c:pt idx="16">
                  <c:v>55.102992</c:v>
                </c:pt>
                <c:pt idx="17">
                  <c:v>61.768700000000003</c:v>
                </c:pt>
                <c:pt idx="18">
                  <c:v>68.612513000000007</c:v>
                </c:pt>
                <c:pt idx="19">
                  <c:v>75.096031999999994</c:v>
                </c:pt>
                <c:pt idx="20">
                  <c:v>81.769204000000002</c:v>
                </c:pt>
                <c:pt idx="21">
                  <c:v>88.434263999999999</c:v>
                </c:pt>
                <c:pt idx="22">
                  <c:v>95.343879000000001</c:v>
                </c:pt>
                <c:pt idx="23">
                  <c:v>101.75713500000001</c:v>
                </c:pt>
                <c:pt idx="24">
                  <c:v>108.421331</c:v>
                </c:pt>
                <c:pt idx="25">
                  <c:v>115.084975</c:v>
                </c:pt>
                <c:pt idx="26">
                  <c:v>122.094426</c:v>
                </c:pt>
                <c:pt idx="27">
                  <c:v>128.41676899999999</c:v>
                </c:pt>
                <c:pt idx="28">
                  <c:v>135.08381800000001</c:v>
                </c:pt>
                <c:pt idx="29">
                  <c:v>141.74663100000001</c:v>
                </c:pt>
              </c:numCache>
            </c:numRef>
          </c:val>
          <c:extLst>
            <c:ext xmlns:c16="http://schemas.microsoft.com/office/drawing/2014/chart" uri="{C3380CC4-5D6E-409C-BE32-E72D297353CC}">
              <c16:uniqueId val="{00000001-7257-E64D-8353-1B0BC9087AB0}"/>
            </c:ext>
          </c:extLst>
        </c:ser>
        <c:ser>
          <c:idx val="2"/>
          <c:order val="2"/>
          <c:tx>
            <c:strRef>
              <c:f>'BEV_PHEV_Consumption (GWh)'!$B$70</c:f>
              <c:strCache>
                <c:ptCount val="1"/>
                <c:pt idx="0">
                  <c:v>Large Light Commercial</c:v>
                </c:pt>
              </c:strCache>
            </c:strRef>
          </c:tx>
          <c:spPr>
            <a:solidFill>
              <a:schemeClr val="accent3"/>
            </a:solidFill>
            <a:ln>
              <a:noFill/>
            </a:ln>
            <a:effectLst/>
          </c:spPr>
          <c:cat>
            <c:strRef>
              <c:f>'BEV_PHEV_Consumption (GWh)'!$C$67:$AF$67</c:f>
              <c:strCache>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Cache>
            </c:strRef>
          </c:cat>
          <c:val>
            <c:numRef>
              <c:f>'BEV_PHEV_Consumption (GWh)'!$C$70:$AF$70</c:f>
              <c:numCache>
                <c:formatCode>_(* #,##0_);_(* \(#,##0\);_(* "-"??_);_(@_)</c:formatCode>
                <c:ptCount val="30"/>
                <c:pt idx="0">
                  <c:v>0.80450900000000003</c:v>
                </c:pt>
                <c:pt idx="1">
                  <c:v>1.975706</c:v>
                </c:pt>
                <c:pt idx="2">
                  <c:v>3.845974</c:v>
                </c:pt>
                <c:pt idx="3">
                  <c:v>6.2720269999999996</c:v>
                </c:pt>
                <c:pt idx="4">
                  <c:v>9.1891459999999991</c:v>
                </c:pt>
                <c:pt idx="5">
                  <c:v>15.089930000000001</c:v>
                </c:pt>
                <c:pt idx="6">
                  <c:v>26.109022</c:v>
                </c:pt>
                <c:pt idx="7">
                  <c:v>41.525388</c:v>
                </c:pt>
                <c:pt idx="8">
                  <c:v>61.109470999999999</c:v>
                </c:pt>
                <c:pt idx="9">
                  <c:v>84.810550000000006</c:v>
                </c:pt>
                <c:pt idx="10">
                  <c:v>113.229574</c:v>
                </c:pt>
                <c:pt idx="11">
                  <c:v>144.99341699999999</c:v>
                </c:pt>
                <c:pt idx="12">
                  <c:v>181.05143000000001</c:v>
                </c:pt>
                <c:pt idx="13">
                  <c:v>220.87135699999999</c:v>
                </c:pt>
                <c:pt idx="14">
                  <c:v>264.926783</c:v>
                </c:pt>
                <c:pt idx="15">
                  <c:v>324.24903599999999</c:v>
                </c:pt>
                <c:pt idx="16">
                  <c:v>397.95977800000003</c:v>
                </c:pt>
                <c:pt idx="17">
                  <c:v>471.75763699999999</c:v>
                </c:pt>
                <c:pt idx="18">
                  <c:v>546.97483199999999</c:v>
                </c:pt>
                <c:pt idx="19">
                  <c:v>619.29432299999996</c:v>
                </c:pt>
                <c:pt idx="20">
                  <c:v>693.31152099999997</c:v>
                </c:pt>
                <c:pt idx="21">
                  <c:v>767.22277799999995</c:v>
                </c:pt>
                <c:pt idx="22">
                  <c:v>843.06404399999997</c:v>
                </c:pt>
                <c:pt idx="23">
                  <c:v>914.452721</c:v>
                </c:pt>
                <c:pt idx="24">
                  <c:v>988.33463200000006</c:v>
                </c:pt>
                <c:pt idx="25">
                  <c:v>1062.089813</c:v>
                </c:pt>
                <c:pt idx="26">
                  <c:v>1139.6070629999999</c:v>
                </c:pt>
                <c:pt idx="27">
                  <c:v>1209.749558</c:v>
                </c:pt>
                <c:pt idx="28">
                  <c:v>1283.5743649999999</c:v>
                </c:pt>
                <c:pt idx="29">
                  <c:v>1357.3303759999999</c:v>
                </c:pt>
              </c:numCache>
            </c:numRef>
          </c:val>
          <c:extLst>
            <c:ext xmlns:c16="http://schemas.microsoft.com/office/drawing/2014/chart" uri="{C3380CC4-5D6E-409C-BE32-E72D297353CC}">
              <c16:uniqueId val="{00000002-7257-E64D-8353-1B0BC9087AB0}"/>
            </c:ext>
          </c:extLst>
        </c:ser>
        <c:ser>
          <c:idx val="3"/>
          <c:order val="3"/>
          <c:tx>
            <c:strRef>
              <c:f>'BEV_PHEV_Consumption (GWh)'!$B$71</c:f>
              <c:strCache>
                <c:ptCount val="1"/>
                <c:pt idx="0">
                  <c:v>Large Residential</c:v>
                </c:pt>
              </c:strCache>
            </c:strRef>
          </c:tx>
          <c:spPr>
            <a:solidFill>
              <a:schemeClr val="accent4"/>
            </a:solidFill>
            <a:ln>
              <a:noFill/>
            </a:ln>
            <a:effectLst/>
          </c:spPr>
          <c:cat>
            <c:strRef>
              <c:f>'BEV_PHEV_Consumption (GWh)'!$C$67:$AF$67</c:f>
              <c:strCache>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Cache>
            </c:strRef>
          </c:cat>
          <c:val>
            <c:numRef>
              <c:f>'BEV_PHEV_Consumption (GWh)'!$C$71:$AF$71</c:f>
              <c:numCache>
                <c:formatCode>_(* #,##0_);_(* \(#,##0\);_(* "-"??_);_(@_)</c:formatCode>
                <c:ptCount val="30"/>
                <c:pt idx="0">
                  <c:v>20.480644000000002</c:v>
                </c:pt>
                <c:pt idx="1">
                  <c:v>38.834367</c:v>
                </c:pt>
                <c:pt idx="2">
                  <c:v>65.959749000000002</c:v>
                </c:pt>
                <c:pt idx="3">
                  <c:v>99.561618999999993</c:v>
                </c:pt>
                <c:pt idx="4">
                  <c:v>139.27647899999999</c:v>
                </c:pt>
                <c:pt idx="5">
                  <c:v>182.390289</c:v>
                </c:pt>
                <c:pt idx="6">
                  <c:v>226.967974</c:v>
                </c:pt>
                <c:pt idx="7">
                  <c:v>271.26621699999998</c:v>
                </c:pt>
                <c:pt idx="8">
                  <c:v>317.04612600000002</c:v>
                </c:pt>
                <c:pt idx="9">
                  <c:v>364.06257699999998</c:v>
                </c:pt>
                <c:pt idx="10">
                  <c:v>415.31575199999997</c:v>
                </c:pt>
                <c:pt idx="11">
                  <c:v>465.56210800000002</c:v>
                </c:pt>
                <c:pt idx="12">
                  <c:v>518.59234700000002</c:v>
                </c:pt>
                <c:pt idx="13">
                  <c:v>573.13861899999995</c:v>
                </c:pt>
                <c:pt idx="14">
                  <c:v>630.85176200000001</c:v>
                </c:pt>
                <c:pt idx="15">
                  <c:v>697.67415400000004</c:v>
                </c:pt>
                <c:pt idx="16">
                  <c:v>776.29425300000003</c:v>
                </c:pt>
                <c:pt idx="17">
                  <c:v>855.33974999999998</c:v>
                </c:pt>
                <c:pt idx="18">
                  <c:v>936.64032699999996</c:v>
                </c:pt>
                <c:pt idx="19">
                  <c:v>1013.093127</c:v>
                </c:pt>
                <c:pt idx="20">
                  <c:v>1092.493066</c:v>
                </c:pt>
                <c:pt idx="21">
                  <c:v>1171.4018120000001</c:v>
                </c:pt>
                <c:pt idx="22">
                  <c:v>1253.559203</c:v>
                </c:pt>
                <c:pt idx="23">
                  <c:v>1328.9889390000001</c:v>
                </c:pt>
                <c:pt idx="24">
                  <c:v>1408.125078</c:v>
                </c:pt>
                <c:pt idx="25">
                  <c:v>1486.9983380000001</c:v>
                </c:pt>
                <c:pt idx="26">
                  <c:v>1570.9806599999999</c:v>
                </c:pt>
                <c:pt idx="27">
                  <c:v>1644.9264499999999</c:v>
                </c:pt>
                <c:pt idx="28">
                  <c:v>1723.889506</c:v>
                </c:pt>
                <c:pt idx="29">
                  <c:v>1802.7656019999999</c:v>
                </c:pt>
              </c:numCache>
            </c:numRef>
          </c:val>
          <c:extLst>
            <c:ext xmlns:c16="http://schemas.microsoft.com/office/drawing/2014/chart" uri="{C3380CC4-5D6E-409C-BE32-E72D297353CC}">
              <c16:uniqueId val="{00000003-7257-E64D-8353-1B0BC9087AB0}"/>
            </c:ext>
          </c:extLst>
        </c:ser>
        <c:ser>
          <c:idx val="4"/>
          <c:order val="4"/>
          <c:tx>
            <c:strRef>
              <c:f>'BEV_PHEV_Consumption (GWh)'!$B$72</c:f>
              <c:strCache>
                <c:ptCount val="1"/>
                <c:pt idx="0">
                  <c:v>Medium Light Commercial</c:v>
                </c:pt>
              </c:strCache>
            </c:strRef>
          </c:tx>
          <c:spPr>
            <a:solidFill>
              <a:schemeClr val="accent5"/>
            </a:solidFill>
            <a:ln>
              <a:noFill/>
            </a:ln>
            <a:effectLst/>
          </c:spPr>
          <c:cat>
            <c:strRef>
              <c:f>'BEV_PHEV_Consumption (GWh)'!$C$67:$AF$67</c:f>
              <c:strCache>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Cache>
            </c:strRef>
          </c:cat>
          <c:val>
            <c:numRef>
              <c:f>'BEV_PHEV_Consumption (GWh)'!$C$72:$AF$72</c:f>
              <c:numCache>
                <c:formatCode>_(* #,##0_);_(* \(#,##0\);_(* "-"??_);_(@_)</c:formatCode>
                <c:ptCount val="30"/>
                <c:pt idx="0">
                  <c:v>1.2713319999999999</c:v>
                </c:pt>
                <c:pt idx="1">
                  <c:v>2.1704629999999998</c:v>
                </c:pt>
                <c:pt idx="2">
                  <c:v>3.454437</c:v>
                </c:pt>
                <c:pt idx="3">
                  <c:v>4.9941649999999997</c:v>
                </c:pt>
                <c:pt idx="4">
                  <c:v>6.7508319999999999</c:v>
                </c:pt>
                <c:pt idx="5">
                  <c:v>9.0849849999999996</c:v>
                </c:pt>
                <c:pt idx="6">
                  <c:v>12.165963</c:v>
                </c:pt>
                <c:pt idx="7">
                  <c:v>15.639227999999999</c:v>
                </c:pt>
                <c:pt idx="8">
                  <c:v>19.505358999999999</c:v>
                </c:pt>
                <c:pt idx="9">
                  <c:v>23.762184999999999</c:v>
                </c:pt>
                <c:pt idx="10">
                  <c:v>28.658353000000002</c:v>
                </c:pt>
                <c:pt idx="11">
                  <c:v>33.819082000000002</c:v>
                </c:pt>
                <c:pt idx="12">
                  <c:v>39.502709000000003</c:v>
                </c:pt>
                <c:pt idx="13">
                  <c:v>45.600948000000002</c:v>
                </c:pt>
                <c:pt idx="14">
                  <c:v>52.226036000000001</c:v>
                </c:pt>
                <c:pt idx="15">
                  <c:v>60.729624999999999</c:v>
                </c:pt>
                <c:pt idx="16">
                  <c:v>71.171249000000003</c:v>
                </c:pt>
                <c:pt idx="17">
                  <c:v>81.629586000000003</c:v>
                </c:pt>
                <c:pt idx="18">
                  <c:v>92.326648000000006</c:v>
                </c:pt>
                <c:pt idx="19">
                  <c:v>102.535937</c:v>
                </c:pt>
                <c:pt idx="20">
                  <c:v>113.029465</c:v>
                </c:pt>
                <c:pt idx="21">
                  <c:v>123.504783</c:v>
                </c:pt>
                <c:pt idx="22">
                  <c:v>134.28716</c:v>
                </c:pt>
                <c:pt idx="23">
                  <c:v>144.361906</c:v>
                </c:pt>
                <c:pt idx="24">
                  <c:v>154.833001</c:v>
                </c:pt>
                <c:pt idx="25">
                  <c:v>165.284156</c:v>
                </c:pt>
                <c:pt idx="26">
                  <c:v>176.316856</c:v>
                </c:pt>
                <c:pt idx="27">
                  <c:v>186.20914300000001</c:v>
                </c:pt>
                <c:pt idx="28">
                  <c:v>196.67110299999999</c:v>
                </c:pt>
                <c:pt idx="29">
                  <c:v>207.12246500000001</c:v>
                </c:pt>
              </c:numCache>
            </c:numRef>
          </c:val>
          <c:extLst>
            <c:ext xmlns:c16="http://schemas.microsoft.com/office/drawing/2014/chart" uri="{C3380CC4-5D6E-409C-BE32-E72D297353CC}">
              <c16:uniqueId val="{00000004-7257-E64D-8353-1B0BC9087AB0}"/>
            </c:ext>
          </c:extLst>
        </c:ser>
        <c:ser>
          <c:idx val="5"/>
          <c:order val="5"/>
          <c:tx>
            <c:strRef>
              <c:f>'BEV_PHEV_Consumption (GWh)'!$B$73</c:f>
              <c:strCache>
                <c:ptCount val="1"/>
                <c:pt idx="0">
                  <c:v>Medium Residential</c:v>
                </c:pt>
              </c:strCache>
            </c:strRef>
          </c:tx>
          <c:spPr>
            <a:solidFill>
              <a:schemeClr val="accent6"/>
            </a:solidFill>
            <a:ln>
              <a:noFill/>
            </a:ln>
            <a:effectLst/>
          </c:spPr>
          <c:cat>
            <c:strRef>
              <c:f>'BEV_PHEV_Consumption (GWh)'!$C$67:$AF$67</c:f>
              <c:strCache>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Cache>
            </c:strRef>
          </c:cat>
          <c:val>
            <c:numRef>
              <c:f>'BEV_PHEV_Consumption (GWh)'!$C$73:$AF$73</c:f>
              <c:numCache>
                <c:formatCode>_(* #,##0_);_(* \(#,##0\);_(* "-"??_);_(@_)</c:formatCode>
                <c:ptCount val="30"/>
                <c:pt idx="0">
                  <c:v>43.009659999999997</c:v>
                </c:pt>
                <c:pt idx="1">
                  <c:v>62.807637999999997</c:v>
                </c:pt>
                <c:pt idx="2">
                  <c:v>88.238365000000002</c:v>
                </c:pt>
                <c:pt idx="3">
                  <c:v>116.491281</c:v>
                </c:pt>
                <c:pt idx="4">
                  <c:v>147.63869500000001</c:v>
                </c:pt>
                <c:pt idx="5">
                  <c:v>180.42108999999999</c:v>
                </c:pt>
                <c:pt idx="6">
                  <c:v>213.692204</c:v>
                </c:pt>
                <c:pt idx="7">
                  <c:v>245.85889800000001</c:v>
                </c:pt>
                <c:pt idx="8">
                  <c:v>278.61604799999998</c:v>
                </c:pt>
                <c:pt idx="9">
                  <c:v>311.726877</c:v>
                </c:pt>
                <c:pt idx="10">
                  <c:v>348.08319</c:v>
                </c:pt>
                <c:pt idx="11">
                  <c:v>382.98078600000002</c:v>
                </c:pt>
                <c:pt idx="12">
                  <c:v>419.58844399999998</c:v>
                </c:pt>
                <c:pt idx="13">
                  <c:v>456.86739499999999</c:v>
                </c:pt>
                <c:pt idx="14">
                  <c:v>496.13631800000002</c:v>
                </c:pt>
                <c:pt idx="15">
                  <c:v>540.35826799999995</c:v>
                </c:pt>
                <c:pt idx="16">
                  <c:v>592.06493799999998</c:v>
                </c:pt>
                <c:pt idx="17">
                  <c:v>644.09613999999999</c:v>
                </c:pt>
                <c:pt idx="18">
                  <c:v>697.80383400000005</c:v>
                </c:pt>
                <c:pt idx="19">
                  <c:v>747.90427899999997</c:v>
                </c:pt>
                <c:pt idx="20">
                  <c:v>800.19052599999998</c:v>
                </c:pt>
                <c:pt idx="21">
                  <c:v>852.11390200000005</c:v>
                </c:pt>
                <c:pt idx="22">
                  <c:v>906.38655100000005</c:v>
                </c:pt>
                <c:pt idx="23">
                  <c:v>955.79951600000004</c:v>
                </c:pt>
                <c:pt idx="24">
                  <c:v>1007.888918</c:v>
                </c:pt>
                <c:pt idx="25">
                  <c:v>1059.788368</c:v>
                </c:pt>
                <c:pt idx="26">
                  <c:v>1115.312302</c:v>
                </c:pt>
                <c:pt idx="27">
                  <c:v>1163.7143390000001</c:v>
                </c:pt>
                <c:pt idx="28">
                  <c:v>1215.6775990000001</c:v>
                </c:pt>
                <c:pt idx="29">
                  <c:v>1267.579377</c:v>
                </c:pt>
              </c:numCache>
            </c:numRef>
          </c:val>
          <c:extLst>
            <c:ext xmlns:c16="http://schemas.microsoft.com/office/drawing/2014/chart" uri="{C3380CC4-5D6E-409C-BE32-E72D297353CC}">
              <c16:uniqueId val="{00000005-7257-E64D-8353-1B0BC9087AB0}"/>
            </c:ext>
          </c:extLst>
        </c:ser>
        <c:ser>
          <c:idx val="6"/>
          <c:order val="6"/>
          <c:tx>
            <c:strRef>
              <c:f>'BEV_PHEV_Consumption (GWh)'!$B$74</c:f>
              <c:strCache>
                <c:ptCount val="1"/>
                <c:pt idx="0">
                  <c:v>Motorcycle</c:v>
                </c:pt>
              </c:strCache>
            </c:strRef>
          </c:tx>
          <c:spPr>
            <a:solidFill>
              <a:schemeClr val="accent1">
                <a:lumMod val="60000"/>
              </a:schemeClr>
            </a:solidFill>
            <a:ln>
              <a:noFill/>
            </a:ln>
            <a:effectLst/>
          </c:spPr>
          <c:cat>
            <c:strRef>
              <c:f>'BEV_PHEV_Consumption (GWh)'!$C$67:$AF$67</c:f>
              <c:strCache>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Cache>
            </c:strRef>
          </c:cat>
          <c:val>
            <c:numRef>
              <c:f>'BEV_PHEV_Consumption (GWh)'!$C$74:$AF$74</c:f>
              <c:numCache>
                <c:formatCode>_(* #,##0_);_(* \(#,##0\);_(* "-"??_);_(@_)</c:formatCode>
                <c:ptCount val="30"/>
                <c:pt idx="0">
                  <c:v>0.17779900000000001</c:v>
                </c:pt>
                <c:pt idx="1">
                  <c:v>0.366809</c:v>
                </c:pt>
                <c:pt idx="2">
                  <c:v>0.66767200000000004</c:v>
                </c:pt>
                <c:pt idx="3">
                  <c:v>1.0580540000000001</c:v>
                </c:pt>
                <c:pt idx="4">
                  <c:v>1.5356939999999999</c:v>
                </c:pt>
                <c:pt idx="5">
                  <c:v>2.0398049999999999</c:v>
                </c:pt>
                <c:pt idx="6">
                  <c:v>2.5524939999999998</c:v>
                </c:pt>
                <c:pt idx="7">
                  <c:v>3.0841409999999998</c:v>
                </c:pt>
                <c:pt idx="8">
                  <c:v>3.6532269999999998</c:v>
                </c:pt>
                <c:pt idx="9">
                  <c:v>4.2541919999999998</c:v>
                </c:pt>
                <c:pt idx="10">
                  <c:v>4.9097010000000001</c:v>
                </c:pt>
                <c:pt idx="11">
                  <c:v>5.5667949999999999</c:v>
                </c:pt>
                <c:pt idx="12">
                  <c:v>6.2662779999999998</c:v>
                </c:pt>
                <c:pt idx="13">
                  <c:v>6.9920020000000003</c:v>
                </c:pt>
                <c:pt idx="14">
                  <c:v>7.7643779999999998</c:v>
                </c:pt>
                <c:pt idx="15">
                  <c:v>8.6951739999999997</c:v>
                </c:pt>
                <c:pt idx="16">
                  <c:v>9.8097239999999992</c:v>
                </c:pt>
                <c:pt idx="17">
                  <c:v>10.929482</c:v>
                </c:pt>
                <c:pt idx="18">
                  <c:v>12.078454000000001</c:v>
                </c:pt>
                <c:pt idx="19">
                  <c:v>13.164853000000001</c:v>
                </c:pt>
                <c:pt idx="20">
                  <c:v>14.289393</c:v>
                </c:pt>
                <c:pt idx="21">
                  <c:v>15.407564000000001</c:v>
                </c:pt>
                <c:pt idx="22">
                  <c:v>16.568676</c:v>
                </c:pt>
                <c:pt idx="23">
                  <c:v>17.640785000000001</c:v>
                </c:pt>
                <c:pt idx="24">
                  <c:v>18.761946999999999</c:v>
                </c:pt>
                <c:pt idx="25">
                  <c:v>19.87961</c:v>
                </c:pt>
                <c:pt idx="26">
                  <c:v>21.065816999999999</c:v>
                </c:pt>
                <c:pt idx="27">
                  <c:v>22.117402999999999</c:v>
                </c:pt>
                <c:pt idx="28">
                  <c:v>23.236270999999999</c:v>
                </c:pt>
                <c:pt idx="29">
                  <c:v>24.353967000000001</c:v>
                </c:pt>
              </c:numCache>
            </c:numRef>
          </c:val>
          <c:extLst>
            <c:ext xmlns:c16="http://schemas.microsoft.com/office/drawing/2014/chart" uri="{C3380CC4-5D6E-409C-BE32-E72D297353CC}">
              <c16:uniqueId val="{00000006-7257-E64D-8353-1B0BC9087AB0}"/>
            </c:ext>
          </c:extLst>
        </c:ser>
        <c:ser>
          <c:idx val="7"/>
          <c:order val="7"/>
          <c:tx>
            <c:strRef>
              <c:f>'BEV_PHEV_Consumption (GWh)'!$B$75</c:f>
              <c:strCache>
                <c:ptCount val="1"/>
                <c:pt idx="0">
                  <c:v>Rigid Truck</c:v>
                </c:pt>
              </c:strCache>
            </c:strRef>
          </c:tx>
          <c:spPr>
            <a:solidFill>
              <a:schemeClr val="accent2">
                <a:lumMod val="60000"/>
              </a:schemeClr>
            </a:solidFill>
            <a:ln>
              <a:noFill/>
            </a:ln>
            <a:effectLst/>
          </c:spPr>
          <c:cat>
            <c:strRef>
              <c:f>'BEV_PHEV_Consumption (GWh)'!$C$67:$AF$67</c:f>
              <c:strCache>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Cache>
            </c:strRef>
          </c:cat>
          <c:val>
            <c:numRef>
              <c:f>'BEV_PHEV_Consumption (GWh)'!$C$75:$AF$75</c:f>
              <c:numCache>
                <c:formatCode>_(* #,##0_);_(* \(#,##0\);_(* "-"??_);_(@_)</c:formatCode>
                <c:ptCount val="30"/>
                <c:pt idx="0">
                  <c:v>1.8118840000000001</c:v>
                </c:pt>
                <c:pt idx="1">
                  <c:v>1.90741</c:v>
                </c:pt>
                <c:pt idx="2">
                  <c:v>3.158426</c:v>
                </c:pt>
                <c:pt idx="3">
                  <c:v>4.2824669999999996</c:v>
                </c:pt>
                <c:pt idx="4">
                  <c:v>5.499574</c:v>
                </c:pt>
                <c:pt idx="5">
                  <c:v>9.9439119999999992</c:v>
                </c:pt>
                <c:pt idx="6">
                  <c:v>20.306145999999998</c:v>
                </c:pt>
                <c:pt idx="7">
                  <c:v>35.847678999999999</c:v>
                </c:pt>
                <c:pt idx="8">
                  <c:v>56.101031999999996</c:v>
                </c:pt>
                <c:pt idx="9">
                  <c:v>81.155015000000006</c:v>
                </c:pt>
                <c:pt idx="10">
                  <c:v>112.055679</c:v>
                </c:pt>
                <c:pt idx="11">
                  <c:v>147.540976</c:v>
                </c:pt>
                <c:pt idx="12">
                  <c:v>188.641682</c:v>
                </c:pt>
                <c:pt idx="13">
                  <c:v>234.97622000000001</c:v>
                </c:pt>
                <c:pt idx="14">
                  <c:v>286.98688099999998</c:v>
                </c:pt>
                <c:pt idx="15">
                  <c:v>359.91428500000001</c:v>
                </c:pt>
                <c:pt idx="16">
                  <c:v>452.23615100000001</c:v>
                </c:pt>
                <c:pt idx="17">
                  <c:v>544.59003600000005</c:v>
                </c:pt>
                <c:pt idx="18">
                  <c:v>638.61310200000003</c:v>
                </c:pt>
                <c:pt idx="19">
                  <c:v>729.26114700000005</c:v>
                </c:pt>
                <c:pt idx="20">
                  <c:v>821.69288800000004</c:v>
                </c:pt>
                <c:pt idx="21">
                  <c:v>914.04695100000004</c:v>
                </c:pt>
                <c:pt idx="22">
                  <c:v>1008.9941679999999</c:v>
                </c:pt>
                <c:pt idx="23">
                  <c:v>1098.670807</c:v>
                </c:pt>
                <c:pt idx="24">
                  <c:v>1191.010812</c:v>
                </c:pt>
                <c:pt idx="25">
                  <c:v>1283.3445710000001</c:v>
                </c:pt>
                <c:pt idx="26">
                  <c:v>1379.5927750000001</c:v>
                </c:pt>
                <c:pt idx="27">
                  <c:v>1468.0657160000001</c:v>
                </c:pt>
                <c:pt idx="28">
                  <c:v>1560.438122</c:v>
                </c:pt>
                <c:pt idx="29">
                  <c:v>1652.761931</c:v>
                </c:pt>
              </c:numCache>
            </c:numRef>
          </c:val>
          <c:extLst>
            <c:ext xmlns:c16="http://schemas.microsoft.com/office/drawing/2014/chart" uri="{C3380CC4-5D6E-409C-BE32-E72D297353CC}">
              <c16:uniqueId val="{00000007-7257-E64D-8353-1B0BC9087AB0}"/>
            </c:ext>
          </c:extLst>
        </c:ser>
        <c:ser>
          <c:idx val="8"/>
          <c:order val="8"/>
          <c:tx>
            <c:strRef>
              <c:f>'BEV_PHEV_Consumption (GWh)'!$B$76</c:f>
              <c:strCache>
                <c:ptCount val="1"/>
                <c:pt idx="0">
                  <c:v>Small Light Commercial</c:v>
                </c:pt>
              </c:strCache>
            </c:strRef>
          </c:tx>
          <c:spPr>
            <a:solidFill>
              <a:schemeClr val="accent3">
                <a:lumMod val="60000"/>
              </a:schemeClr>
            </a:solidFill>
            <a:ln>
              <a:noFill/>
            </a:ln>
            <a:effectLst/>
          </c:spPr>
          <c:cat>
            <c:strRef>
              <c:f>'BEV_PHEV_Consumption (GWh)'!$C$67:$AF$67</c:f>
              <c:strCache>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Cache>
            </c:strRef>
          </c:cat>
          <c:val>
            <c:numRef>
              <c:f>'BEV_PHEV_Consumption (GWh)'!$C$76:$AF$76</c:f>
              <c:numCache>
                <c:formatCode>_(* #,##0_);_(* \(#,##0\);_(* "-"??_);_(@_)</c:formatCode>
                <c:ptCount val="30"/>
                <c:pt idx="0">
                  <c:v>1.0313110000000001</c:v>
                </c:pt>
                <c:pt idx="1">
                  <c:v>1.5515330000000001</c:v>
                </c:pt>
                <c:pt idx="2">
                  <c:v>2.2378529999999999</c:v>
                </c:pt>
                <c:pt idx="3">
                  <c:v>3.0108190000000001</c:v>
                </c:pt>
                <c:pt idx="4">
                  <c:v>3.8565839999999998</c:v>
                </c:pt>
                <c:pt idx="5">
                  <c:v>4.895715</c:v>
                </c:pt>
                <c:pt idx="6">
                  <c:v>6.1506069999999999</c:v>
                </c:pt>
                <c:pt idx="7">
                  <c:v>7.4521059999999997</c:v>
                </c:pt>
                <c:pt idx="8">
                  <c:v>8.8147110000000009</c:v>
                </c:pt>
                <c:pt idx="9">
                  <c:v>10.238046000000001</c:v>
                </c:pt>
                <c:pt idx="10">
                  <c:v>11.837224000000001</c:v>
                </c:pt>
                <c:pt idx="11">
                  <c:v>13.448745000000001</c:v>
                </c:pt>
                <c:pt idx="12">
                  <c:v>15.179815</c:v>
                </c:pt>
                <c:pt idx="13">
                  <c:v>16.988519</c:v>
                </c:pt>
                <c:pt idx="14">
                  <c:v>18.918900000000001</c:v>
                </c:pt>
                <c:pt idx="15">
                  <c:v>21.26755</c:v>
                </c:pt>
                <c:pt idx="16">
                  <c:v>24.109162999999999</c:v>
                </c:pt>
                <c:pt idx="17">
                  <c:v>26.956723</c:v>
                </c:pt>
                <c:pt idx="18">
                  <c:v>29.881321</c:v>
                </c:pt>
                <c:pt idx="19">
                  <c:v>32.648411000000003</c:v>
                </c:pt>
                <c:pt idx="20">
                  <c:v>35.506864999999998</c:v>
                </c:pt>
                <c:pt idx="21">
                  <c:v>38.359344</c:v>
                </c:pt>
                <c:pt idx="22">
                  <c:v>41.306165999999997</c:v>
                </c:pt>
                <c:pt idx="23">
                  <c:v>44.035777000000003</c:v>
                </c:pt>
                <c:pt idx="24">
                  <c:v>46.887087999999999</c:v>
                </c:pt>
                <c:pt idx="25">
                  <c:v>49.732329999999997</c:v>
                </c:pt>
                <c:pt idx="26">
                  <c:v>52.751410999999997</c:v>
                </c:pt>
                <c:pt idx="27">
                  <c:v>55.429473000000002</c:v>
                </c:pt>
                <c:pt idx="28">
                  <c:v>58.277957999999998</c:v>
                </c:pt>
                <c:pt idx="29">
                  <c:v>61.123285000000003</c:v>
                </c:pt>
              </c:numCache>
            </c:numRef>
          </c:val>
          <c:extLst>
            <c:ext xmlns:c16="http://schemas.microsoft.com/office/drawing/2014/chart" uri="{C3380CC4-5D6E-409C-BE32-E72D297353CC}">
              <c16:uniqueId val="{00000008-7257-E64D-8353-1B0BC9087AB0}"/>
            </c:ext>
          </c:extLst>
        </c:ser>
        <c:ser>
          <c:idx val="9"/>
          <c:order val="9"/>
          <c:tx>
            <c:strRef>
              <c:f>'BEV_PHEV_Consumption (GWh)'!$B$77</c:f>
              <c:strCache>
                <c:ptCount val="1"/>
                <c:pt idx="0">
                  <c:v>Small Residential</c:v>
                </c:pt>
              </c:strCache>
            </c:strRef>
          </c:tx>
          <c:spPr>
            <a:solidFill>
              <a:schemeClr val="accent4">
                <a:lumMod val="60000"/>
              </a:schemeClr>
            </a:solidFill>
            <a:ln>
              <a:noFill/>
            </a:ln>
            <a:effectLst/>
          </c:spPr>
          <c:cat>
            <c:strRef>
              <c:f>'BEV_PHEV_Consumption (GWh)'!$C$67:$AF$67</c:f>
              <c:strCache>
                <c:ptCount val="30"/>
                <c:pt idx="0">
                  <c:v>2025-26</c:v>
                </c:pt>
                <c:pt idx="1">
                  <c:v>2026-27</c:v>
                </c:pt>
                <c:pt idx="2">
                  <c:v>2027-28</c:v>
                </c:pt>
                <c:pt idx="3">
                  <c:v>2028-29</c:v>
                </c:pt>
                <c:pt idx="4">
                  <c:v>2029-30</c:v>
                </c:pt>
                <c:pt idx="5">
                  <c:v>2030-31</c:v>
                </c:pt>
                <c:pt idx="6">
                  <c:v>2031-32</c:v>
                </c:pt>
                <c:pt idx="7">
                  <c:v>2032-33</c:v>
                </c:pt>
                <c:pt idx="8">
                  <c:v>2033-34</c:v>
                </c:pt>
                <c:pt idx="9">
                  <c:v>2034-35</c:v>
                </c:pt>
                <c:pt idx="10">
                  <c:v>2035-36</c:v>
                </c:pt>
                <c:pt idx="11">
                  <c:v>2036-37</c:v>
                </c:pt>
                <c:pt idx="12">
                  <c:v>2037-38</c:v>
                </c:pt>
                <c:pt idx="13">
                  <c:v>2038-39</c:v>
                </c:pt>
                <c:pt idx="14">
                  <c:v>2039-40</c:v>
                </c:pt>
                <c:pt idx="15">
                  <c:v>2040-41</c:v>
                </c:pt>
                <c:pt idx="16">
                  <c:v>2041-42</c:v>
                </c:pt>
                <c:pt idx="17">
                  <c:v>2042-43</c:v>
                </c:pt>
                <c:pt idx="18">
                  <c:v>2043-44</c:v>
                </c:pt>
                <c:pt idx="19">
                  <c:v>2044-45</c:v>
                </c:pt>
                <c:pt idx="20">
                  <c:v>2045-46</c:v>
                </c:pt>
                <c:pt idx="21">
                  <c:v>2046-47</c:v>
                </c:pt>
                <c:pt idx="22">
                  <c:v>2047-48</c:v>
                </c:pt>
                <c:pt idx="23">
                  <c:v>2048-49</c:v>
                </c:pt>
                <c:pt idx="24">
                  <c:v>2049-50</c:v>
                </c:pt>
                <c:pt idx="25">
                  <c:v>2050-51</c:v>
                </c:pt>
                <c:pt idx="26">
                  <c:v>2051-52</c:v>
                </c:pt>
                <c:pt idx="27">
                  <c:v>2052-53</c:v>
                </c:pt>
                <c:pt idx="28">
                  <c:v>2053-54</c:v>
                </c:pt>
                <c:pt idx="29">
                  <c:v>2054-55</c:v>
                </c:pt>
              </c:strCache>
            </c:strRef>
          </c:cat>
          <c:val>
            <c:numRef>
              <c:f>'BEV_PHEV_Consumption (GWh)'!$C$77:$AF$77</c:f>
              <c:numCache>
                <c:formatCode>_(* #,##0_);_(* \(#,##0\);_(* "-"??_);_(@_)</c:formatCode>
                <c:ptCount val="30"/>
                <c:pt idx="0">
                  <c:v>32.834820000000001</c:v>
                </c:pt>
                <c:pt idx="1">
                  <c:v>43.058649000000003</c:v>
                </c:pt>
                <c:pt idx="2">
                  <c:v>54.741667999999997</c:v>
                </c:pt>
                <c:pt idx="3">
                  <c:v>66.244887000000006</c:v>
                </c:pt>
                <c:pt idx="4">
                  <c:v>77.820147000000006</c:v>
                </c:pt>
                <c:pt idx="5">
                  <c:v>89.651714999999996</c:v>
                </c:pt>
                <c:pt idx="6">
                  <c:v>101.637518</c:v>
                </c:pt>
                <c:pt idx="7">
                  <c:v>113.022048</c:v>
                </c:pt>
                <c:pt idx="8">
                  <c:v>124.612961</c:v>
                </c:pt>
                <c:pt idx="9">
                  <c:v>136.28443300000001</c:v>
                </c:pt>
                <c:pt idx="10">
                  <c:v>149.13455400000001</c:v>
                </c:pt>
                <c:pt idx="11">
                  <c:v>161.24607900000001</c:v>
                </c:pt>
                <c:pt idx="12">
                  <c:v>173.96873400000001</c:v>
                </c:pt>
                <c:pt idx="13">
                  <c:v>186.86202599999999</c:v>
                </c:pt>
                <c:pt idx="14">
                  <c:v>200.46317999999999</c:v>
                </c:pt>
                <c:pt idx="15">
                  <c:v>215.44805199999999</c:v>
                </c:pt>
                <c:pt idx="16">
                  <c:v>232.937408</c:v>
                </c:pt>
                <c:pt idx="17">
                  <c:v>250.554869</c:v>
                </c:pt>
                <c:pt idx="18">
                  <c:v>268.81654300000002</c:v>
                </c:pt>
                <c:pt idx="19">
                  <c:v>285.69016099999999</c:v>
                </c:pt>
                <c:pt idx="20">
                  <c:v>303.40238499999998</c:v>
                </c:pt>
                <c:pt idx="21">
                  <c:v>320.975663</c:v>
                </c:pt>
                <c:pt idx="22">
                  <c:v>339.42850700000002</c:v>
                </c:pt>
                <c:pt idx="23">
                  <c:v>356.06338199999999</c:v>
                </c:pt>
                <c:pt idx="24">
                  <c:v>373.69910199999998</c:v>
                </c:pt>
                <c:pt idx="25">
                  <c:v>391.26457799999997</c:v>
                </c:pt>
                <c:pt idx="26">
                  <c:v>410.16239999999999</c:v>
                </c:pt>
                <c:pt idx="27">
                  <c:v>426.44166899999999</c:v>
                </c:pt>
                <c:pt idx="28">
                  <c:v>444.03067499999997</c:v>
                </c:pt>
                <c:pt idx="29">
                  <c:v>461.597128</c:v>
                </c:pt>
              </c:numCache>
            </c:numRef>
          </c:val>
          <c:extLst>
            <c:ext xmlns:c16="http://schemas.microsoft.com/office/drawing/2014/chart" uri="{C3380CC4-5D6E-409C-BE32-E72D297353CC}">
              <c16:uniqueId val="{00000009-7257-E64D-8353-1B0BC9087AB0}"/>
            </c:ext>
          </c:extLst>
        </c:ser>
        <c:dLbls>
          <c:showLegendKey val="0"/>
          <c:showVal val="0"/>
          <c:showCatName val="0"/>
          <c:showSerName val="0"/>
          <c:showPercent val="0"/>
          <c:showBubbleSize val="0"/>
        </c:dLbls>
        <c:axId val="88062848"/>
        <c:axId val="71708480"/>
      </c:areaChart>
      <c:catAx>
        <c:axId val="880628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ontserrat" pitchFamily="2" charset="77"/>
                <a:ea typeface="+mn-ea"/>
                <a:cs typeface="+mn-cs"/>
              </a:defRPr>
            </a:pPr>
            <a:endParaRPr lang="en-US"/>
          </a:p>
        </c:txPr>
        <c:crossAx val="71708480"/>
        <c:crosses val="autoZero"/>
        <c:auto val="1"/>
        <c:lblAlgn val="ctr"/>
        <c:lblOffset val="100"/>
        <c:noMultiLvlLbl val="0"/>
      </c:catAx>
      <c:valAx>
        <c:axId val="71708480"/>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lumMod val="65000"/>
                        <a:lumOff val="35000"/>
                      </a:schemeClr>
                    </a:solidFill>
                    <a:latin typeface="Montserrat" pitchFamily="2" charset="77"/>
                    <a:ea typeface="+mn-ea"/>
                    <a:cs typeface="+mn-cs"/>
                  </a:defRPr>
                </a:pPr>
                <a:r>
                  <a:rPr lang="en-GB"/>
                  <a:t>GWh</a:t>
                </a:r>
              </a:p>
            </c:rich>
          </c:tx>
          <c:overlay val="0"/>
          <c:spPr>
            <a:noFill/>
            <a:ln>
              <a:noFill/>
            </a:ln>
            <a:effectLst/>
          </c:spPr>
          <c:txPr>
            <a:bodyPr rot="-5400000" spcFirstLastPara="1" vertOverflow="ellipsis" vert="horz" wrap="square" anchor="ctr" anchorCtr="1"/>
            <a:lstStyle/>
            <a:p>
              <a:pPr>
                <a:defRPr sz="800" b="0" i="0" u="none" strike="noStrike" kern="1200" baseline="0">
                  <a:solidFill>
                    <a:schemeClr val="tx1">
                      <a:lumMod val="65000"/>
                      <a:lumOff val="35000"/>
                    </a:schemeClr>
                  </a:solidFill>
                  <a:latin typeface="Montserrat" pitchFamily="2" charset="77"/>
                  <a:ea typeface="+mn-ea"/>
                  <a:cs typeface="+mn-cs"/>
                </a:defRPr>
              </a:pPr>
              <a:endParaRPr lang="en-US"/>
            </a:p>
          </c:txPr>
        </c:title>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ontserrat" pitchFamily="2" charset="77"/>
                <a:ea typeface="+mn-ea"/>
                <a:cs typeface="+mn-cs"/>
              </a:defRPr>
            </a:pPr>
            <a:endParaRPr lang="en-US"/>
          </a:p>
        </c:txPr>
        <c:crossAx val="88062848"/>
        <c:crosses val="autoZero"/>
        <c:crossBetween val="midCat"/>
      </c:valAx>
      <c:spPr>
        <a:noFill/>
        <a:ln>
          <a:noFill/>
        </a:ln>
        <a:effectLst/>
      </c:spPr>
    </c:plotArea>
    <c:legend>
      <c:legendPos val="b"/>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ontserrat"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a:latin typeface="Montserrat" pitchFamily="2" charset="77"/>
        </a:defRPr>
      </a:pPr>
      <a:endParaRPr lang="en-US"/>
    </a:p>
  </c:txPr>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just">
              <a:defRPr sz="960" b="0" i="0" u="none" strike="noStrike" kern="1200" spc="0" baseline="0">
                <a:solidFill>
                  <a:schemeClr val="tx1">
                    <a:lumMod val="65000"/>
                    <a:lumOff val="35000"/>
                  </a:schemeClr>
                </a:solidFill>
                <a:latin typeface="Montserrat" pitchFamily="2" charset="77"/>
                <a:ea typeface="+mn-ea"/>
                <a:cs typeface="+mn-cs"/>
              </a:defRPr>
            </a:pPr>
            <a:r>
              <a:rPr lang="en-US" sz="1050" b="1" dirty="0"/>
              <a:t>ESOO 2026 Expected, with each EV scenario swapped in, 2035</a:t>
            </a:r>
          </a:p>
          <a:p>
            <a:pPr algn="just">
              <a:defRPr sz="960" b="0" i="0" u="none" strike="noStrike" kern="1200" spc="0" baseline="0">
                <a:solidFill>
                  <a:schemeClr val="tx1">
                    <a:lumMod val="65000"/>
                    <a:lumOff val="35000"/>
                  </a:schemeClr>
                </a:solidFill>
                <a:latin typeface="Montserrat" pitchFamily="2" charset="77"/>
                <a:ea typeface="+mn-ea"/>
                <a:cs typeface="+mn-cs"/>
              </a:defRPr>
            </a:pPr>
            <a:r>
              <a:rPr lang="en-US" sz="1050" dirty="0"/>
              <a:t>Unmanaged charging: system demand on the peak day (MW)</a:t>
            </a:r>
          </a:p>
        </c:rich>
      </c:tx>
      <c:overlay val="0"/>
      <c:spPr>
        <a:noFill/>
        <a:ln>
          <a:noFill/>
        </a:ln>
        <a:effectLst/>
      </c:spPr>
    </c:title>
    <c:autoTitleDeleted val="0"/>
    <c:plotArea>
      <c:layout/>
      <c:lineChart>
        <c:grouping val="standard"/>
        <c:varyColors val="0"/>
        <c:ser>
          <c:idx val="0"/>
          <c:order val="0"/>
          <c:tx>
            <c:strRef>
              <c:f>Sheet1!$B$1</c:f>
              <c:strCache>
                <c:ptCount val="1"/>
                <c:pt idx="0">
                  <c:v>ESOO Expected (as published)</c:v>
                </c:pt>
              </c:strCache>
            </c:strRef>
          </c:tx>
          <c:spPr>
            <a:ln w="34925" cap="rnd">
              <a:solidFill>
                <a:srgbClr val="173647"/>
              </a:solidFill>
              <a:prstDash val="solid"/>
              <a:round/>
            </a:ln>
            <a:effectLst/>
          </c:spPr>
          <c:marker>
            <c:symbol val="none"/>
          </c:marker>
          <c:cat>
            <c:numRef>
              <c:f>Sheet1!$A$2:$A$49</c:f>
              <c:numCache>
                <c:formatCode>h:mm</c:formatCode>
                <c:ptCount val="48"/>
                <c:pt idx="0">
                  <c:v>0</c:v>
                </c:pt>
                <c:pt idx="1">
                  <c:v>2.08333333E-2</c:v>
                </c:pt>
                <c:pt idx="2">
                  <c:v>4.16666667E-2</c:v>
                </c:pt>
                <c:pt idx="3">
                  <c:v>6.25E-2</c:v>
                </c:pt>
                <c:pt idx="4">
                  <c:v>8.3333333300000006E-2</c:v>
                </c:pt>
                <c:pt idx="5">
                  <c:v>0.10416666669999999</c:v>
                </c:pt>
                <c:pt idx="6">
                  <c:v>0.125</c:v>
                </c:pt>
                <c:pt idx="7">
                  <c:v>0.14583333330000001</c:v>
                </c:pt>
                <c:pt idx="8">
                  <c:v>0.16666666669999999</c:v>
                </c:pt>
                <c:pt idx="9">
                  <c:v>0.1875</c:v>
                </c:pt>
                <c:pt idx="10">
                  <c:v>0.20833333330000001</c:v>
                </c:pt>
                <c:pt idx="11">
                  <c:v>0.22916666669999999</c:v>
                </c:pt>
                <c:pt idx="12">
                  <c:v>0.25</c:v>
                </c:pt>
                <c:pt idx="13">
                  <c:v>0.27083333329999998</c:v>
                </c:pt>
                <c:pt idx="14">
                  <c:v>0.29166666670000002</c:v>
                </c:pt>
                <c:pt idx="15">
                  <c:v>0.3125</c:v>
                </c:pt>
                <c:pt idx="16">
                  <c:v>0.33333333329999998</c:v>
                </c:pt>
                <c:pt idx="17">
                  <c:v>0.35416666670000002</c:v>
                </c:pt>
                <c:pt idx="18">
                  <c:v>0.375</c:v>
                </c:pt>
                <c:pt idx="19">
                  <c:v>0.39583333329999998</c:v>
                </c:pt>
                <c:pt idx="20">
                  <c:v>0.41666666670000002</c:v>
                </c:pt>
                <c:pt idx="21">
                  <c:v>0.4375</c:v>
                </c:pt>
                <c:pt idx="22">
                  <c:v>0.45833333329999998</c:v>
                </c:pt>
                <c:pt idx="23">
                  <c:v>0.47916666670000002</c:v>
                </c:pt>
                <c:pt idx="24">
                  <c:v>0.5</c:v>
                </c:pt>
                <c:pt idx="25">
                  <c:v>0.52083333330000003</c:v>
                </c:pt>
                <c:pt idx="26">
                  <c:v>0.54166666669999997</c:v>
                </c:pt>
                <c:pt idx="27">
                  <c:v>0.5625</c:v>
                </c:pt>
                <c:pt idx="28">
                  <c:v>0.58333333330000003</c:v>
                </c:pt>
                <c:pt idx="29">
                  <c:v>0.60416666669999997</c:v>
                </c:pt>
                <c:pt idx="30">
                  <c:v>0.625</c:v>
                </c:pt>
                <c:pt idx="31">
                  <c:v>0.64583333330000003</c:v>
                </c:pt>
                <c:pt idx="32">
                  <c:v>0.66666666669999997</c:v>
                </c:pt>
                <c:pt idx="33">
                  <c:v>0.6875</c:v>
                </c:pt>
                <c:pt idx="34">
                  <c:v>0.70833333330000003</c:v>
                </c:pt>
                <c:pt idx="35">
                  <c:v>0.72916666669999997</c:v>
                </c:pt>
                <c:pt idx="36">
                  <c:v>0.75</c:v>
                </c:pt>
                <c:pt idx="37">
                  <c:v>0.77083333330000003</c:v>
                </c:pt>
                <c:pt idx="38">
                  <c:v>0.79166666669999997</c:v>
                </c:pt>
                <c:pt idx="39">
                  <c:v>0.8125</c:v>
                </c:pt>
                <c:pt idx="40">
                  <c:v>0.83333333330000003</c:v>
                </c:pt>
                <c:pt idx="41">
                  <c:v>0.85416666669999997</c:v>
                </c:pt>
                <c:pt idx="42">
                  <c:v>0.875</c:v>
                </c:pt>
                <c:pt idx="43">
                  <c:v>0.89583333330000003</c:v>
                </c:pt>
                <c:pt idx="44">
                  <c:v>0.91666666669999997</c:v>
                </c:pt>
                <c:pt idx="45">
                  <c:v>0.9375</c:v>
                </c:pt>
                <c:pt idx="46">
                  <c:v>0.95833333330000003</c:v>
                </c:pt>
                <c:pt idx="47">
                  <c:v>0.97916666669999997</c:v>
                </c:pt>
              </c:numCache>
            </c:numRef>
          </c:cat>
          <c:val>
            <c:numRef>
              <c:f>Sheet1!$B$2:$B$49</c:f>
              <c:numCache>
                <c:formatCode>#,##0</c:formatCode>
                <c:ptCount val="48"/>
                <c:pt idx="0">
                  <c:v>3770</c:v>
                </c:pt>
                <c:pt idx="1">
                  <c:v>3696.9</c:v>
                </c:pt>
                <c:pt idx="2">
                  <c:v>3656.2</c:v>
                </c:pt>
                <c:pt idx="3">
                  <c:v>3587.6</c:v>
                </c:pt>
                <c:pt idx="4">
                  <c:v>3536.3</c:v>
                </c:pt>
                <c:pt idx="5">
                  <c:v>3483.1</c:v>
                </c:pt>
                <c:pt idx="6">
                  <c:v>3445.1</c:v>
                </c:pt>
                <c:pt idx="7">
                  <c:v>3392</c:v>
                </c:pt>
                <c:pt idx="8">
                  <c:v>3391.9</c:v>
                </c:pt>
                <c:pt idx="9">
                  <c:v>3386.9</c:v>
                </c:pt>
                <c:pt idx="10">
                  <c:v>3450.1</c:v>
                </c:pt>
                <c:pt idx="11">
                  <c:v>3457.8</c:v>
                </c:pt>
                <c:pt idx="12">
                  <c:v>3532.4</c:v>
                </c:pt>
                <c:pt idx="13">
                  <c:v>3574.9</c:v>
                </c:pt>
                <c:pt idx="14">
                  <c:v>3637.4</c:v>
                </c:pt>
                <c:pt idx="15">
                  <c:v>3632.5</c:v>
                </c:pt>
                <c:pt idx="16">
                  <c:v>3680.1</c:v>
                </c:pt>
                <c:pt idx="17">
                  <c:v>3687.9</c:v>
                </c:pt>
                <c:pt idx="18">
                  <c:v>3779.8</c:v>
                </c:pt>
                <c:pt idx="19">
                  <c:v>3870.6</c:v>
                </c:pt>
                <c:pt idx="20">
                  <c:v>4016.6</c:v>
                </c:pt>
                <c:pt idx="21">
                  <c:v>4145.6000000000004</c:v>
                </c:pt>
                <c:pt idx="22">
                  <c:v>4309</c:v>
                </c:pt>
                <c:pt idx="23">
                  <c:v>4520.2</c:v>
                </c:pt>
                <c:pt idx="24">
                  <c:v>4693.3999999999996</c:v>
                </c:pt>
                <c:pt idx="25">
                  <c:v>4891.3999999999996</c:v>
                </c:pt>
                <c:pt idx="26">
                  <c:v>4993.2</c:v>
                </c:pt>
                <c:pt idx="27">
                  <c:v>5233.2</c:v>
                </c:pt>
                <c:pt idx="28">
                  <c:v>5410.2</c:v>
                </c:pt>
                <c:pt idx="29">
                  <c:v>5375.7</c:v>
                </c:pt>
                <c:pt idx="30">
                  <c:v>5208.3999999999996</c:v>
                </c:pt>
                <c:pt idx="31">
                  <c:v>5186.7</c:v>
                </c:pt>
                <c:pt idx="32">
                  <c:v>5318.9</c:v>
                </c:pt>
                <c:pt idx="33">
                  <c:v>5476.3</c:v>
                </c:pt>
                <c:pt idx="34">
                  <c:v>5645.2</c:v>
                </c:pt>
                <c:pt idx="35">
                  <c:v>5861.1</c:v>
                </c:pt>
                <c:pt idx="36">
                  <c:v>5962.4</c:v>
                </c:pt>
                <c:pt idx="37">
                  <c:v>6015.5</c:v>
                </c:pt>
                <c:pt idx="38">
                  <c:v>5944.1</c:v>
                </c:pt>
                <c:pt idx="39">
                  <c:v>5872.7</c:v>
                </c:pt>
                <c:pt idx="40">
                  <c:v>5810.5</c:v>
                </c:pt>
                <c:pt idx="41">
                  <c:v>5701.1</c:v>
                </c:pt>
                <c:pt idx="42">
                  <c:v>5532.8</c:v>
                </c:pt>
                <c:pt idx="43">
                  <c:v>5321</c:v>
                </c:pt>
                <c:pt idx="44">
                  <c:v>5150.7</c:v>
                </c:pt>
                <c:pt idx="45">
                  <c:v>4962</c:v>
                </c:pt>
                <c:pt idx="46">
                  <c:v>4789.3</c:v>
                </c:pt>
                <c:pt idx="47">
                  <c:v>4632.7</c:v>
                </c:pt>
              </c:numCache>
            </c:numRef>
          </c:val>
          <c:smooth val="0"/>
          <c:extLst>
            <c:ext xmlns:c16="http://schemas.microsoft.com/office/drawing/2014/chart" uri="{C3380CC4-5D6E-409C-BE32-E72D297353CC}">
              <c16:uniqueId val="{00000000-BC1A-440E-9D64-5B81B5A80F1F}"/>
            </c:ext>
          </c:extLst>
        </c:ser>
        <c:ser>
          <c:idx val="1"/>
          <c:order val="1"/>
          <c:tx>
            <c:strRef>
              <c:f>Sheet1!$C$1</c:f>
              <c:strCache>
                <c:ptCount val="1"/>
                <c:pt idx="0">
                  <c:v>Slower Growth</c:v>
                </c:pt>
              </c:strCache>
            </c:strRef>
          </c:tx>
          <c:spPr>
            <a:ln w="28575" cap="rnd">
              <a:solidFill>
                <a:srgbClr val="5DB474"/>
              </a:solidFill>
              <a:prstDash val="solid"/>
              <a:round/>
            </a:ln>
            <a:effectLst/>
          </c:spPr>
          <c:marker>
            <c:symbol val="none"/>
          </c:marker>
          <c:cat>
            <c:numRef>
              <c:f>Sheet1!$A$2:$A$49</c:f>
              <c:numCache>
                <c:formatCode>h:mm</c:formatCode>
                <c:ptCount val="48"/>
                <c:pt idx="0">
                  <c:v>0</c:v>
                </c:pt>
                <c:pt idx="1">
                  <c:v>2.08333333E-2</c:v>
                </c:pt>
                <c:pt idx="2">
                  <c:v>4.16666667E-2</c:v>
                </c:pt>
                <c:pt idx="3">
                  <c:v>6.25E-2</c:v>
                </c:pt>
                <c:pt idx="4">
                  <c:v>8.3333333300000006E-2</c:v>
                </c:pt>
                <c:pt idx="5">
                  <c:v>0.10416666669999999</c:v>
                </c:pt>
                <c:pt idx="6">
                  <c:v>0.125</c:v>
                </c:pt>
                <c:pt idx="7">
                  <c:v>0.14583333330000001</c:v>
                </c:pt>
                <c:pt idx="8">
                  <c:v>0.16666666669999999</c:v>
                </c:pt>
                <c:pt idx="9">
                  <c:v>0.1875</c:v>
                </c:pt>
                <c:pt idx="10">
                  <c:v>0.20833333330000001</c:v>
                </c:pt>
                <c:pt idx="11">
                  <c:v>0.22916666669999999</c:v>
                </c:pt>
                <c:pt idx="12">
                  <c:v>0.25</c:v>
                </c:pt>
                <c:pt idx="13">
                  <c:v>0.27083333329999998</c:v>
                </c:pt>
                <c:pt idx="14">
                  <c:v>0.29166666670000002</c:v>
                </c:pt>
                <c:pt idx="15">
                  <c:v>0.3125</c:v>
                </c:pt>
                <c:pt idx="16">
                  <c:v>0.33333333329999998</c:v>
                </c:pt>
                <c:pt idx="17">
                  <c:v>0.35416666670000002</c:v>
                </c:pt>
                <c:pt idx="18">
                  <c:v>0.375</c:v>
                </c:pt>
                <c:pt idx="19">
                  <c:v>0.39583333329999998</c:v>
                </c:pt>
                <c:pt idx="20">
                  <c:v>0.41666666670000002</c:v>
                </c:pt>
                <c:pt idx="21">
                  <c:v>0.4375</c:v>
                </c:pt>
                <c:pt idx="22">
                  <c:v>0.45833333329999998</c:v>
                </c:pt>
                <c:pt idx="23">
                  <c:v>0.47916666670000002</c:v>
                </c:pt>
                <c:pt idx="24">
                  <c:v>0.5</c:v>
                </c:pt>
                <c:pt idx="25">
                  <c:v>0.52083333330000003</c:v>
                </c:pt>
                <c:pt idx="26">
                  <c:v>0.54166666669999997</c:v>
                </c:pt>
                <c:pt idx="27">
                  <c:v>0.5625</c:v>
                </c:pt>
                <c:pt idx="28">
                  <c:v>0.58333333330000003</c:v>
                </c:pt>
                <c:pt idx="29">
                  <c:v>0.60416666669999997</c:v>
                </c:pt>
                <c:pt idx="30">
                  <c:v>0.625</c:v>
                </c:pt>
                <c:pt idx="31">
                  <c:v>0.64583333330000003</c:v>
                </c:pt>
                <c:pt idx="32">
                  <c:v>0.66666666669999997</c:v>
                </c:pt>
                <c:pt idx="33">
                  <c:v>0.6875</c:v>
                </c:pt>
                <c:pt idx="34">
                  <c:v>0.70833333330000003</c:v>
                </c:pt>
                <c:pt idx="35">
                  <c:v>0.72916666669999997</c:v>
                </c:pt>
                <c:pt idx="36">
                  <c:v>0.75</c:v>
                </c:pt>
                <c:pt idx="37">
                  <c:v>0.77083333330000003</c:v>
                </c:pt>
                <c:pt idx="38">
                  <c:v>0.79166666669999997</c:v>
                </c:pt>
                <c:pt idx="39">
                  <c:v>0.8125</c:v>
                </c:pt>
                <c:pt idx="40">
                  <c:v>0.83333333330000003</c:v>
                </c:pt>
                <c:pt idx="41">
                  <c:v>0.85416666669999997</c:v>
                </c:pt>
                <c:pt idx="42">
                  <c:v>0.875</c:v>
                </c:pt>
                <c:pt idx="43">
                  <c:v>0.89583333330000003</c:v>
                </c:pt>
                <c:pt idx="44">
                  <c:v>0.91666666669999997</c:v>
                </c:pt>
                <c:pt idx="45">
                  <c:v>0.9375</c:v>
                </c:pt>
                <c:pt idx="46">
                  <c:v>0.95833333330000003</c:v>
                </c:pt>
                <c:pt idx="47">
                  <c:v>0.97916666669999997</c:v>
                </c:pt>
              </c:numCache>
            </c:numRef>
          </c:cat>
          <c:val>
            <c:numRef>
              <c:f>Sheet1!$C$2:$C$49</c:f>
              <c:numCache>
                <c:formatCode>#,##0</c:formatCode>
                <c:ptCount val="48"/>
                <c:pt idx="0">
                  <c:v>3661</c:v>
                </c:pt>
                <c:pt idx="1">
                  <c:v>3587.1</c:v>
                </c:pt>
                <c:pt idx="2">
                  <c:v>3545.5</c:v>
                </c:pt>
                <c:pt idx="3">
                  <c:v>3479.1</c:v>
                </c:pt>
                <c:pt idx="4">
                  <c:v>3429.8</c:v>
                </c:pt>
                <c:pt idx="5">
                  <c:v>3381.2</c:v>
                </c:pt>
                <c:pt idx="6">
                  <c:v>3347.8</c:v>
                </c:pt>
                <c:pt idx="7">
                  <c:v>3298.6</c:v>
                </c:pt>
                <c:pt idx="8">
                  <c:v>3302.4</c:v>
                </c:pt>
                <c:pt idx="9">
                  <c:v>3299.8</c:v>
                </c:pt>
                <c:pt idx="10">
                  <c:v>3365.5</c:v>
                </c:pt>
                <c:pt idx="11">
                  <c:v>3374</c:v>
                </c:pt>
                <c:pt idx="12">
                  <c:v>3449.5</c:v>
                </c:pt>
                <c:pt idx="13">
                  <c:v>3492.2</c:v>
                </c:pt>
                <c:pt idx="14">
                  <c:v>3554.8</c:v>
                </c:pt>
                <c:pt idx="15">
                  <c:v>3551.2</c:v>
                </c:pt>
                <c:pt idx="16">
                  <c:v>3600</c:v>
                </c:pt>
                <c:pt idx="17">
                  <c:v>3609.4</c:v>
                </c:pt>
                <c:pt idx="18">
                  <c:v>3703</c:v>
                </c:pt>
                <c:pt idx="19">
                  <c:v>3792.3</c:v>
                </c:pt>
                <c:pt idx="20">
                  <c:v>3936.8</c:v>
                </c:pt>
                <c:pt idx="21">
                  <c:v>4066.5</c:v>
                </c:pt>
                <c:pt idx="22">
                  <c:v>4230.5</c:v>
                </c:pt>
                <c:pt idx="23">
                  <c:v>4444</c:v>
                </c:pt>
                <c:pt idx="24">
                  <c:v>4619.3</c:v>
                </c:pt>
                <c:pt idx="25">
                  <c:v>4818.3999999999996</c:v>
                </c:pt>
                <c:pt idx="26">
                  <c:v>4921.3</c:v>
                </c:pt>
                <c:pt idx="27">
                  <c:v>5162.6000000000004</c:v>
                </c:pt>
                <c:pt idx="28">
                  <c:v>5340.8</c:v>
                </c:pt>
                <c:pt idx="29">
                  <c:v>5307.6</c:v>
                </c:pt>
                <c:pt idx="30">
                  <c:v>5141.6000000000004</c:v>
                </c:pt>
                <c:pt idx="31">
                  <c:v>5125.1000000000004</c:v>
                </c:pt>
                <c:pt idx="32">
                  <c:v>5262.6</c:v>
                </c:pt>
                <c:pt idx="33">
                  <c:v>5426.6</c:v>
                </c:pt>
                <c:pt idx="34">
                  <c:v>5602.1</c:v>
                </c:pt>
                <c:pt idx="35">
                  <c:v>5819.4</c:v>
                </c:pt>
                <c:pt idx="36">
                  <c:v>5922.2</c:v>
                </c:pt>
                <c:pt idx="37">
                  <c:v>5971</c:v>
                </c:pt>
                <c:pt idx="38">
                  <c:v>5895.1</c:v>
                </c:pt>
                <c:pt idx="39">
                  <c:v>5814.3</c:v>
                </c:pt>
                <c:pt idx="40">
                  <c:v>5742.8</c:v>
                </c:pt>
                <c:pt idx="41">
                  <c:v>5624.9</c:v>
                </c:pt>
                <c:pt idx="42">
                  <c:v>5448.2</c:v>
                </c:pt>
                <c:pt idx="43">
                  <c:v>5230.3</c:v>
                </c:pt>
                <c:pt idx="44">
                  <c:v>5053.8999999999996</c:v>
                </c:pt>
                <c:pt idx="45">
                  <c:v>4863.3999999999996</c:v>
                </c:pt>
                <c:pt idx="46">
                  <c:v>4688.8</c:v>
                </c:pt>
                <c:pt idx="47">
                  <c:v>4528</c:v>
                </c:pt>
              </c:numCache>
            </c:numRef>
          </c:val>
          <c:smooth val="0"/>
          <c:extLst>
            <c:ext xmlns:c16="http://schemas.microsoft.com/office/drawing/2014/chart" uri="{C3380CC4-5D6E-409C-BE32-E72D297353CC}">
              <c16:uniqueId val="{00000001-BC1A-440E-9D64-5B81B5A80F1F}"/>
            </c:ext>
          </c:extLst>
        </c:ser>
        <c:ser>
          <c:idx val="2"/>
          <c:order val="2"/>
          <c:tx>
            <c:strRef>
              <c:f>Sheet1!$D$1</c:f>
              <c:strCache>
                <c:ptCount val="1"/>
                <c:pt idx="0">
                  <c:v>Step Change</c:v>
                </c:pt>
              </c:strCache>
            </c:strRef>
          </c:tx>
          <c:spPr>
            <a:ln w="28575" cap="rnd">
              <a:solidFill>
                <a:srgbClr val="00A9D8"/>
              </a:solidFill>
              <a:prstDash val="solid"/>
              <a:round/>
            </a:ln>
            <a:effectLst/>
          </c:spPr>
          <c:marker>
            <c:symbol val="none"/>
          </c:marker>
          <c:cat>
            <c:numRef>
              <c:f>Sheet1!$A$2:$A$49</c:f>
              <c:numCache>
                <c:formatCode>h:mm</c:formatCode>
                <c:ptCount val="48"/>
                <c:pt idx="0">
                  <c:v>0</c:v>
                </c:pt>
                <c:pt idx="1">
                  <c:v>2.08333333E-2</c:v>
                </c:pt>
                <c:pt idx="2">
                  <c:v>4.16666667E-2</c:v>
                </c:pt>
                <c:pt idx="3">
                  <c:v>6.25E-2</c:v>
                </c:pt>
                <c:pt idx="4">
                  <c:v>8.3333333300000006E-2</c:v>
                </c:pt>
                <c:pt idx="5">
                  <c:v>0.10416666669999999</c:v>
                </c:pt>
                <c:pt idx="6">
                  <c:v>0.125</c:v>
                </c:pt>
                <c:pt idx="7">
                  <c:v>0.14583333330000001</c:v>
                </c:pt>
                <c:pt idx="8">
                  <c:v>0.16666666669999999</c:v>
                </c:pt>
                <c:pt idx="9">
                  <c:v>0.1875</c:v>
                </c:pt>
                <c:pt idx="10">
                  <c:v>0.20833333330000001</c:v>
                </c:pt>
                <c:pt idx="11">
                  <c:v>0.22916666669999999</c:v>
                </c:pt>
                <c:pt idx="12">
                  <c:v>0.25</c:v>
                </c:pt>
                <c:pt idx="13">
                  <c:v>0.27083333329999998</c:v>
                </c:pt>
                <c:pt idx="14">
                  <c:v>0.29166666670000002</c:v>
                </c:pt>
                <c:pt idx="15">
                  <c:v>0.3125</c:v>
                </c:pt>
                <c:pt idx="16">
                  <c:v>0.33333333329999998</c:v>
                </c:pt>
                <c:pt idx="17">
                  <c:v>0.35416666670000002</c:v>
                </c:pt>
                <c:pt idx="18">
                  <c:v>0.375</c:v>
                </c:pt>
                <c:pt idx="19">
                  <c:v>0.39583333329999998</c:v>
                </c:pt>
                <c:pt idx="20">
                  <c:v>0.41666666670000002</c:v>
                </c:pt>
                <c:pt idx="21">
                  <c:v>0.4375</c:v>
                </c:pt>
                <c:pt idx="22">
                  <c:v>0.45833333329999998</c:v>
                </c:pt>
                <c:pt idx="23">
                  <c:v>0.47916666670000002</c:v>
                </c:pt>
                <c:pt idx="24">
                  <c:v>0.5</c:v>
                </c:pt>
                <c:pt idx="25">
                  <c:v>0.52083333330000003</c:v>
                </c:pt>
                <c:pt idx="26">
                  <c:v>0.54166666669999997</c:v>
                </c:pt>
                <c:pt idx="27">
                  <c:v>0.5625</c:v>
                </c:pt>
                <c:pt idx="28">
                  <c:v>0.58333333330000003</c:v>
                </c:pt>
                <c:pt idx="29">
                  <c:v>0.60416666669999997</c:v>
                </c:pt>
                <c:pt idx="30">
                  <c:v>0.625</c:v>
                </c:pt>
                <c:pt idx="31">
                  <c:v>0.64583333330000003</c:v>
                </c:pt>
                <c:pt idx="32">
                  <c:v>0.66666666669999997</c:v>
                </c:pt>
                <c:pt idx="33">
                  <c:v>0.6875</c:v>
                </c:pt>
                <c:pt idx="34">
                  <c:v>0.70833333330000003</c:v>
                </c:pt>
                <c:pt idx="35">
                  <c:v>0.72916666669999997</c:v>
                </c:pt>
                <c:pt idx="36">
                  <c:v>0.75</c:v>
                </c:pt>
                <c:pt idx="37">
                  <c:v>0.77083333330000003</c:v>
                </c:pt>
                <c:pt idx="38">
                  <c:v>0.79166666669999997</c:v>
                </c:pt>
                <c:pt idx="39">
                  <c:v>0.8125</c:v>
                </c:pt>
                <c:pt idx="40">
                  <c:v>0.83333333330000003</c:v>
                </c:pt>
                <c:pt idx="41">
                  <c:v>0.85416666669999997</c:v>
                </c:pt>
                <c:pt idx="42">
                  <c:v>0.875</c:v>
                </c:pt>
                <c:pt idx="43">
                  <c:v>0.89583333330000003</c:v>
                </c:pt>
                <c:pt idx="44">
                  <c:v>0.91666666669999997</c:v>
                </c:pt>
                <c:pt idx="45">
                  <c:v>0.9375</c:v>
                </c:pt>
                <c:pt idx="46">
                  <c:v>0.95833333330000003</c:v>
                </c:pt>
                <c:pt idx="47">
                  <c:v>0.97916666669999997</c:v>
                </c:pt>
              </c:numCache>
            </c:numRef>
          </c:cat>
          <c:val>
            <c:numRef>
              <c:f>Sheet1!$D$2:$D$49</c:f>
              <c:numCache>
                <c:formatCode>#,##0</c:formatCode>
                <c:ptCount val="48"/>
                <c:pt idx="0">
                  <c:v>3727.1</c:v>
                </c:pt>
                <c:pt idx="1">
                  <c:v>3650.2</c:v>
                </c:pt>
                <c:pt idx="2">
                  <c:v>3605.7</c:v>
                </c:pt>
                <c:pt idx="3">
                  <c:v>3534.4</c:v>
                </c:pt>
                <c:pt idx="4">
                  <c:v>3480.3</c:v>
                </c:pt>
                <c:pt idx="5">
                  <c:v>3426.6</c:v>
                </c:pt>
                <c:pt idx="6">
                  <c:v>3388.1</c:v>
                </c:pt>
                <c:pt idx="7">
                  <c:v>3334.7</c:v>
                </c:pt>
                <c:pt idx="8">
                  <c:v>3334.3</c:v>
                </c:pt>
                <c:pt idx="9">
                  <c:v>3330.2</c:v>
                </c:pt>
                <c:pt idx="10">
                  <c:v>3394.3</c:v>
                </c:pt>
                <c:pt idx="11">
                  <c:v>3406.1</c:v>
                </c:pt>
                <c:pt idx="12">
                  <c:v>3484.7</c:v>
                </c:pt>
                <c:pt idx="13">
                  <c:v>3534.5</c:v>
                </c:pt>
                <c:pt idx="14">
                  <c:v>3604.3</c:v>
                </c:pt>
                <c:pt idx="15">
                  <c:v>3611.3</c:v>
                </c:pt>
                <c:pt idx="16">
                  <c:v>3670.7</c:v>
                </c:pt>
                <c:pt idx="17">
                  <c:v>3689.9</c:v>
                </c:pt>
                <c:pt idx="18">
                  <c:v>3793.1</c:v>
                </c:pt>
                <c:pt idx="19">
                  <c:v>3889.1</c:v>
                </c:pt>
                <c:pt idx="20">
                  <c:v>4040.2</c:v>
                </c:pt>
                <c:pt idx="21">
                  <c:v>4173.3</c:v>
                </c:pt>
                <c:pt idx="22">
                  <c:v>4340.8999999999996</c:v>
                </c:pt>
                <c:pt idx="23">
                  <c:v>4555.7</c:v>
                </c:pt>
                <c:pt idx="24">
                  <c:v>4732.3999999999996</c:v>
                </c:pt>
                <c:pt idx="25">
                  <c:v>4931.8</c:v>
                </c:pt>
                <c:pt idx="26">
                  <c:v>5035</c:v>
                </c:pt>
                <c:pt idx="27">
                  <c:v>5276.9</c:v>
                </c:pt>
                <c:pt idx="28">
                  <c:v>5455.8</c:v>
                </c:pt>
                <c:pt idx="29">
                  <c:v>5423</c:v>
                </c:pt>
                <c:pt idx="30">
                  <c:v>5257.3</c:v>
                </c:pt>
                <c:pt idx="31">
                  <c:v>5239.8999999999996</c:v>
                </c:pt>
                <c:pt idx="32">
                  <c:v>5376.4</c:v>
                </c:pt>
                <c:pt idx="33">
                  <c:v>5535.9</c:v>
                </c:pt>
                <c:pt idx="34">
                  <c:v>5706.9</c:v>
                </c:pt>
                <c:pt idx="35">
                  <c:v>5918.3</c:v>
                </c:pt>
                <c:pt idx="36">
                  <c:v>6015.2</c:v>
                </c:pt>
                <c:pt idx="37">
                  <c:v>6060.4</c:v>
                </c:pt>
                <c:pt idx="38">
                  <c:v>5981</c:v>
                </c:pt>
                <c:pt idx="39">
                  <c:v>5899</c:v>
                </c:pt>
                <c:pt idx="40">
                  <c:v>5826.2</c:v>
                </c:pt>
                <c:pt idx="41">
                  <c:v>5705.9</c:v>
                </c:pt>
                <c:pt idx="42">
                  <c:v>5526.9</c:v>
                </c:pt>
                <c:pt idx="43">
                  <c:v>5306.7</c:v>
                </c:pt>
                <c:pt idx="44">
                  <c:v>5128.1000000000004</c:v>
                </c:pt>
                <c:pt idx="45">
                  <c:v>4935.6000000000004</c:v>
                </c:pt>
                <c:pt idx="46">
                  <c:v>4758.8999999999996</c:v>
                </c:pt>
                <c:pt idx="47">
                  <c:v>4596.1000000000004</c:v>
                </c:pt>
              </c:numCache>
            </c:numRef>
          </c:val>
          <c:smooth val="0"/>
          <c:extLst>
            <c:ext xmlns:c16="http://schemas.microsoft.com/office/drawing/2014/chart" uri="{C3380CC4-5D6E-409C-BE32-E72D297353CC}">
              <c16:uniqueId val="{00000002-BC1A-440E-9D64-5B81B5A80F1F}"/>
            </c:ext>
          </c:extLst>
        </c:ser>
        <c:ser>
          <c:idx val="3"/>
          <c:order val="3"/>
          <c:tx>
            <c:strRef>
              <c:f>Sheet1!$E$1</c:f>
              <c:strCache>
                <c:ptCount val="1"/>
                <c:pt idx="0">
                  <c:v>Accelerated Transition</c:v>
                </c:pt>
              </c:strCache>
            </c:strRef>
          </c:tx>
          <c:spPr>
            <a:ln w="28575" cap="rnd">
              <a:solidFill>
                <a:srgbClr val="E07B39"/>
              </a:solidFill>
              <a:prstDash val="solid"/>
              <a:round/>
            </a:ln>
            <a:effectLst/>
          </c:spPr>
          <c:marker>
            <c:symbol val="none"/>
          </c:marker>
          <c:cat>
            <c:numRef>
              <c:f>Sheet1!$A$2:$A$49</c:f>
              <c:numCache>
                <c:formatCode>h:mm</c:formatCode>
                <c:ptCount val="48"/>
                <c:pt idx="0">
                  <c:v>0</c:v>
                </c:pt>
                <c:pt idx="1">
                  <c:v>2.08333333E-2</c:v>
                </c:pt>
                <c:pt idx="2">
                  <c:v>4.16666667E-2</c:v>
                </c:pt>
                <c:pt idx="3">
                  <c:v>6.25E-2</c:v>
                </c:pt>
                <c:pt idx="4">
                  <c:v>8.3333333300000006E-2</c:v>
                </c:pt>
                <c:pt idx="5">
                  <c:v>0.10416666669999999</c:v>
                </c:pt>
                <c:pt idx="6">
                  <c:v>0.125</c:v>
                </c:pt>
                <c:pt idx="7">
                  <c:v>0.14583333330000001</c:v>
                </c:pt>
                <c:pt idx="8">
                  <c:v>0.16666666669999999</c:v>
                </c:pt>
                <c:pt idx="9">
                  <c:v>0.1875</c:v>
                </c:pt>
                <c:pt idx="10">
                  <c:v>0.20833333330000001</c:v>
                </c:pt>
                <c:pt idx="11">
                  <c:v>0.22916666669999999</c:v>
                </c:pt>
                <c:pt idx="12">
                  <c:v>0.25</c:v>
                </c:pt>
                <c:pt idx="13">
                  <c:v>0.27083333329999998</c:v>
                </c:pt>
                <c:pt idx="14">
                  <c:v>0.29166666670000002</c:v>
                </c:pt>
                <c:pt idx="15">
                  <c:v>0.3125</c:v>
                </c:pt>
                <c:pt idx="16">
                  <c:v>0.33333333329999998</c:v>
                </c:pt>
                <c:pt idx="17">
                  <c:v>0.35416666670000002</c:v>
                </c:pt>
                <c:pt idx="18">
                  <c:v>0.375</c:v>
                </c:pt>
                <c:pt idx="19">
                  <c:v>0.39583333329999998</c:v>
                </c:pt>
                <c:pt idx="20">
                  <c:v>0.41666666670000002</c:v>
                </c:pt>
                <c:pt idx="21">
                  <c:v>0.4375</c:v>
                </c:pt>
                <c:pt idx="22">
                  <c:v>0.45833333329999998</c:v>
                </c:pt>
                <c:pt idx="23">
                  <c:v>0.47916666670000002</c:v>
                </c:pt>
                <c:pt idx="24">
                  <c:v>0.5</c:v>
                </c:pt>
                <c:pt idx="25">
                  <c:v>0.52083333330000003</c:v>
                </c:pt>
                <c:pt idx="26">
                  <c:v>0.54166666669999997</c:v>
                </c:pt>
                <c:pt idx="27">
                  <c:v>0.5625</c:v>
                </c:pt>
                <c:pt idx="28">
                  <c:v>0.58333333330000003</c:v>
                </c:pt>
                <c:pt idx="29">
                  <c:v>0.60416666669999997</c:v>
                </c:pt>
                <c:pt idx="30">
                  <c:v>0.625</c:v>
                </c:pt>
                <c:pt idx="31">
                  <c:v>0.64583333330000003</c:v>
                </c:pt>
                <c:pt idx="32">
                  <c:v>0.66666666669999997</c:v>
                </c:pt>
                <c:pt idx="33">
                  <c:v>0.6875</c:v>
                </c:pt>
                <c:pt idx="34">
                  <c:v>0.70833333330000003</c:v>
                </c:pt>
                <c:pt idx="35">
                  <c:v>0.72916666669999997</c:v>
                </c:pt>
                <c:pt idx="36">
                  <c:v>0.75</c:v>
                </c:pt>
                <c:pt idx="37">
                  <c:v>0.77083333330000003</c:v>
                </c:pt>
                <c:pt idx="38">
                  <c:v>0.79166666669999997</c:v>
                </c:pt>
                <c:pt idx="39">
                  <c:v>0.8125</c:v>
                </c:pt>
                <c:pt idx="40">
                  <c:v>0.83333333330000003</c:v>
                </c:pt>
                <c:pt idx="41">
                  <c:v>0.85416666669999997</c:v>
                </c:pt>
                <c:pt idx="42">
                  <c:v>0.875</c:v>
                </c:pt>
                <c:pt idx="43">
                  <c:v>0.89583333330000003</c:v>
                </c:pt>
                <c:pt idx="44">
                  <c:v>0.91666666669999997</c:v>
                </c:pt>
                <c:pt idx="45">
                  <c:v>0.9375</c:v>
                </c:pt>
                <c:pt idx="46">
                  <c:v>0.95833333330000003</c:v>
                </c:pt>
                <c:pt idx="47">
                  <c:v>0.97916666669999997</c:v>
                </c:pt>
              </c:numCache>
            </c:numRef>
          </c:cat>
          <c:val>
            <c:numRef>
              <c:f>Sheet1!$E$2:$E$49</c:f>
              <c:numCache>
                <c:formatCode>#,##0</c:formatCode>
                <c:ptCount val="48"/>
                <c:pt idx="0">
                  <c:v>3844.4</c:v>
                </c:pt>
                <c:pt idx="1">
                  <c:v>3762.4</c:v>
                </c:pt>
                <c:pt idx="2">
                  <c:v>3712.7</c:v>
                </c:pt>
                <c:pt idx="3">
                  <c:v>3632.7</c:v>
                </c:pt>
                <c:pt idx="4">
                  <c:v>3570</c:v>
                </c:pt>
                <c:pt idx="5">
                  <c:v>3507.2</c:v>
                </c:pt>
                <c:pt idx="6">
                  <c:v>3459.6</c:v>
                </c:pt>
                <c:pt idx="7">
                  <c:v>3398.9</c:v>
                </c:pt>
                <c:pt idx="8">
                  <c:v>3391.1</c:v>
                </c:pt>
                <c:pt idx="9">
                  <c:v>3384.2</c:v>
                </c:pt>
                <c:pt idx="10">
                  <c:v>3445.6</c:v>
                </c:pt>
                <c:pt idx="11">
                  <c:v>3463</c:v>
                </c:pt>
                <c:pt idx="12">
                  <c:v>3547.4</c:v>
                </c:pt>
                <c:pt idx="13">
                  <c:v>3609.9</c:v>
                </c:pt>
                <c:pt idx="14">
                  <c:v>3692.3</c:v>
                </c:pt>
                <c:pt idx="15">
                  <c:v>3718.1</c:v>
                </c:pt>
                <c:pt idx="16">
                  <c:v>3796.3</c:v>
                </c:pt>
                <c:pt idx="17">
                  <c:v>3832.9</c:v>
                </c:pt>
                <c:pt idx="18">
                  <c:v>3953.4</c:v>
                </c:pt>
                <c:pt idx="19">
                  <c:v>4061.1</c:v>
                </c:pt>
                <c:pt idx="20">
                  <c:v>4223.8999999999996</c:v>
                </c:pt>
                <c:pt idx="21">
                  <c:v>4363.3</c:v>
                </c:pt>
                <c:pt idx="22">
                  <c:v>4537.1000000000004</c:v>
                </c:pt>
                <c:pt idx="23">
                  <c:v>4754.3</c:v>
                </c:pt>
                <c:pt idx="24">
                  <c:v>4933.3</c:v>
                </c:pt>
                <c:pt idx="25">
                  <c:v>5133.3</c:v>
                </c:pt>
                <c:pt idx="26">
                  <c:v>5237</c:v>
                </c:pt>
                <c:pt idx="27">
                  <c:v>5480.1</c:v>
                </c:pt>
                <c:pt idx="28">
                  <c:v>5660.2</c:v>
                </c:pt>
                <c:pt idx="29">
                  <c:v>5628</c:v>
                </c:pt>
                <c:pt idx="30">
                  <c:v>5463</c:v>
                </c:pt>
                <c:pt idx="31">
                  <c:v>5443.8</c:v>
                </c:pt>
                <c:pt idx="32">
                  <c:v>5578.6</c:v>
                </c:pt>
                <c:pt idx="33">
                  <c:v>5730.1</c:v>
                </c:pt>
                <c:pt idx="34">
                  <c:v>5893.1</c:v>
                </c:pt>
                <c:pt idx="35">
                  <c:v>6094.1</c:v>
                </c:pt>
                <c:pt idx="36">
                  <c:v>6180.5</c:v>
                </c:pt>
                <c:pt idx="37">
                  <c:v>6219.4</c:v>
                </c:pt>
                <c:pt idx="38">
                  <c:v>6133.8</c:v>
                </c:pt>
                <c:pt idx="39">
                  <c:v>6049.5</c:v>
                </c:pt>
                <c:pt idx="40">
                  <c:v>5974.5</c:v>
                </c:pt>
                <c:pt idx="41">
                  <c:v>5850</c:v>
                </c:pt>
                <c:pt idx="42">
                  <c:v>5666.7</c:v>
                </c:pt>
                <c:pt idx="43">
                  <c:v>5442.6</c:v>
                </c:pt>
                <c:pt idx="44">
                  <c:v>5260.1</c:v>
                </c:pt>
                <c:pt idx="45">
                  <c:v>5063.8</c:v>
                </c:pt>
                <c:pt idx="46">
                  <c:v>4883.6000000000004</c:v>
                </c:pt>
                <c:pt idx="47">
                  <c:v>4717.1000000000004</c:v>
                </c:pt>
              </c:numCache>
            </c:numRef>
          </c:val>
          <c:smooth val="0"/>
          <c:extLst>
            <c:ext xmlns:c16="http://schemas.microsoft.com/office/drawing/2014/chart" uri="{C3380CC4-5D6E-409C-BE32-E72D297353CC}">
              <c16:uniqueId val="{00000003-BC1A-440E-9D64-5B81B5A80F1F}"/>
            </c:ext>
          </c:extLst>
        </c:ser>
        <c:dLbls>
          <c:showLegendKey val="0"/>
          <c:showVal val="0"/>
          <c:showCatName val="0"/>
          <c:showSerName val="0"/>
          <c:showPercent val="0"/>
          <c:showBubbleSize val="0"/>
        </c:dLbls>
        <c:smooth val="0"/>
        <c:axId val="1606704575"/>
        <c:axId val="1703910847"/>
      </c:lineChart>
      <c:catAx>
        <c:axId val="1606704575"/>
        <c:scaling>
          <c:orientation val="minMax"/>
        </c:scaling>
        <c:delete val="0"/>
        <c:axPos val="b"/>
        <c:title>
          <c:tx>
            <c:rich>
              <a:bodyPr rot="0" spcFirstLastPara="1" vertOverflow="ellipsis" vert="horz" wrap="square" anchor="ctr" anchorCtr="1"/>
              <a:lstStyle/>
              <a:p>
                <a:pPr>
                  <a:defRPr sz="800" b="0" i="0" u="none" strike="noStrike" kern="1200" baseline="0">
                    <a:solidFill>
                      <a:schemeClr val="tx1">
                        <a:lumMod val="65000"/>
                        <a:lumOff val="35000"/>
                      </a:schemeClr>
                    </a:solidFill>
                    <a:latin typeface="Montserrat" pitchFamily="2" charset="77"/>
                    <a:ea typeface="+mn-ea"/>
                    <a:cs typeface="+mn-cs"/>
                  </a:defRPr>
                </a:pPr>
                <a:r>
                  <a:rPr lang="en-GB"/>
                  <a:t>Time of day (AWST), system peak day</a:t>
                </a:r>
              </a:p>
            </c:rich>
          </c:tx>
          <c:overlay val="0"/>
          <c:spPr>
            <a:noFill/>
            <a:ln>
              <a:noFill/>
            </a:ln>
            <a:effectLst/>
          </c:spPr>
        </c:title>
        <c:numFmt formatCode="h: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ontserrat" pitchFamily="2" charset="77"/>
                <a:ea typeface="+mn-ea"/>
                <a:cs typeface="+mn-cs"/>
              </a:defRPr>
            </a:pPr>
            <a:endParaRPr lang="en-US"/>
          </a:p>
        </c:txPr>
        <c:crossAx val="1703910847"/>
        <c:crosses val="autoZero"/>
        <c:auto val="1"/>
        <c:lblAlgn val="ctr"/>
        <c:lblOffset val="100"/>
        <c:tickLblSkip val="4"/>
        <c:tickMarkSkip val="4"/>
        <c:noMultiLvlLbl val="0"/>
      </c:catAx>
      <c:valAx>
        <c:axId val="1703910847"/>
        <c:scaling>
          <c:orientation val="minMax"/>
          <c:min val="2000"/>
        </c:scaling>
        <c:delete val="0"/>
        <c:axPos val="l"/>
        <c:title>
          <c:tx>
            <c:rich>
              <a:bodyPr rot="-5400000" spcFirstLastPara="1" vertOverflow="ellipsis" vert="horz" wrap="square" anchor="ctr" anchorCtr="1"/>
              <a:lstStyle/>
              <a:p>
                <a:pPr>
                  <a:defRPr sz="800" b="0" i="0" u="none" strike="noStrike" kern="1200" baseline="0">
                    <a:solidFill>
                      <a:schemeClr val="tx1">
                        <a:lumMod val="65000"/>
                        <a:lumOff val="35000"/>
                      </a:schemeClr>
                    </a:solidFill>
                    <a:latin typeface="Montserrat" pitchFamily="2" charset="77"/>
                    <a:ea typeface="+mn-ea"/>
                    <a:cs typeface="+mn-cs"/>
                  </a:defRPr>
                </a:pPr>
                <a:r>
                  <a:rPr lang="en-GB"/>
                  <a:t>Demand (MW)</a:t>
                </a:r>
              </a:p>
            </c:rich>
          </c:tx>
          <c:overlay val="0"/>
          <c:spPr>
            <a:noFill/>
            <a:ln>
              <a:noFill/>
            </a:ln>
            <a:effectLst/>
          </c:sp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ontserrat" pitchFamily="2" charset="77"/>
                <a:ea typeface="+mn-ea"/>
                <a:cs typeface="+mn-cs"/>
              </a:defRPr>
            </a:pPr>
            <a:endParaRPr lang="en-US"/>
          </a:p>
        </c:txPr>
        <c:crossAx val="16067045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ontserrat"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latin typeface="Montserrat" pitchFamily="2" charset="77"/>
        </a:defRPr>
      </a:pPr>
      <a:endParaRPr lang="en-US"/>
    </a:p>
  </c:txPr>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just">
              <a:defRPr sz="960" b="0" i="0" u="none" strike="noStrike" kern="1200" spc="0" baseline="0">
                <a:solidFill>
                  <a:schemeClr val="tx1">
                    <a:lumMod val="65000"/>
                    <a:lumOff val="35000"/>
                  </a:schemeClr>
                </a:solidFill>
                <a:latin typeface="Montserrat" pitchFamily="2" charset="77"/>
                <a:ea typeface="+mn-ea"/>
                <a:cs typeface="+mn-cs"/>
              </a:defRPr>
            </a:pPr>
            <a:r>
              <a:rPr lang="en-US" sz="1050" b="1" dirty="0"/>
              <a:t>ESOO 2026 Expected, with each EV scenario swapped in, 2035</a:t>
            </a:r>
          </a:p>
          <a:p>
            <a:pPr algn="just">
              <a:defRPr sz="960" b="0" i="0" u="none" strike="noStrike" kern="1200" spc="0" baseline="0">
                <a:solidFill>
                  <a:schemeClr val="tx1">
                    <a:lumMod val="65000"/>
                    <a:lumOff val="35000"/>
                  </a:schemeClr>
                </a:solidFill>
                <a:latin typeface="Montserrat" pitchFamily="2" charset="77"/>
                <a:ea typeface="+mn-ea"/>
                <a:cs typeface="+mn-cs"/>
              </a:defRPr>
            </a:pPr>
            <a:r>
              <a:rPr lang="en-US" sz="1050" dirty="0"/>
              <a:t>Managed charging: system demand on the peak day (MW)</a:t>
            </a:r>
          </a:p>
        </c:rich>
      </c:tx>
      <c:overlay val="0"/>
      <c:spPr>
        <a:noFill/>
        <a:ln>
          <a:noFill/>
        </a:ln>
        <a:effectLst/>
      </c:spPr>
    </c:title>
    <c:autoTitleDeleted val="0"/>
    <c:plotArea>
      <c:layout/>
      <c:lineChart>
        <c:grouping val="standard"/>
        <c:varyColors val="0"/>
        <c:ser>
          <c:idx val="0"/>
          <c:order val="0"/>
          <c:tx>
            <c:strRef>
              <c:f>Sheet1!$B$1</c:f>
              <c:strCache>
                <c:ptCount val="1"/>
                <c:pt idx="0">
                  <c:v>ESOO Expected (as published)</c:v>
                </c:pt>
              </c:strCache>
            </c:strRef>
          </c:tx>
          <c:spPr>
            <a:ln w="34925" cap="rnd">
              <a:solidFill>
                <a:srgbClr val="173647"/>
              </a:solidFill>
              <a:prstDash val="solid"/>
              <a:round/>
            </a:ln>
            <a:effectLst/>
          </c:spPr>
          <c:marker>
            <c:symbol val="none"/>
          </c:marker>
          <c:cat>
            <c:numRef>
              <c:f>Sheet1!$A$2:$A$49</c:f>
              <c:numCache>
                <c:formatCode>h:mm</c:formatCode>
                <c:ptCount val="48"/>
                <c:pt idx="0">
                  <c:v>0</c:v>
                </c:pt>
                <c:pt idx="1">
                  <c:v>2.08333333E-2</c:v>
                </c:pt>
                <c:pt idx="2">
                  <c:v>4.16666667E-2</c:v>
                </c:pt>
                <c:pt idx="3">
                  <c:v>6.25E-2</c:v>
                </c:pt>
                <c:pt idx="4">
                  <c:v>8.3333333300000006E-2</c:v>
                </c:pt>
                <c:pt idx="5">
                  <c:v>0.10416666669999999</c:v>
                </c:pt>
                <c:pt idx="6">
                  <c:v>0.125</c:v>
                </c:pt>
                <c:pt idx="7">
                  <c:v>0.14583333330000001</c:v>
                </c:pt>
                <c:pt idx="8">
                  <c:v>0.16666666669999999</c:v>
                </c:pt>
                <c:pt idx="9">
                  <c:v>0.1875</c:v>
                </c:pt>
                <c:pt idx="10">
                  <c:v>0.20833333330000001</c:v>
                </c:pt>
                <c:pt idx="11">
                  <c:v>0.22916666669999999</c:v>
                </c:pt>
                <c:pt idx="12">
                  <c:v>0.25</c:v>
                </c:pt>
                <c:pt idx="13">
                  <c:v>0.27083333329999998</c:v>
                </c:pt>
                <c:pt idx="14">
                  <c:v>0.29166666670000002</c:v>
                </c:pt>
                <c:pt idx="15">
                  <c:v>0.3125</c:v>
                </c:pt>
                <c:pt idx="16">
                  <c:v>0.33333333329999998</c:v>
                </c:pt>
                <c:pt idx="17">
                  <c:v>0.35416666670000002</c:v>
                </c:pt>
                <c:pt idx="18">
                  <c:v>0.375</c:v>
                </c:pt>
                <c:pt idx="19">
                  <c:v>0.39583333329999998</c:v>
                </c:pt>
                <c:pt idx="20">
                  <c:v>0.41666666670000002</c:v>
                </c:pt>
                <c:pt idx="21">
                  <c:v>0.4375</c:v>
                </c:pt>
                <c:pt idx="22">
                  <c:v>0.45833333329999998</c:v>
                </c:pt>
                <c:pt idx="23">
                  <c:v>0.47916666670000002</c:v>
                </c:pt>
                <c:pt idx="24">
                  <c:v>0.5</c:v>
                </c:pt>
                <c:pt idx="25">
                  <c:v>0.52083333330000003</c:v>
                </c:pt>
                <c:pt idx="26">
                  <c:v>0.54166666669999997</c:v>
                </c:pt>
                <c:pt idx="27">
                  <c:v>0.5625</c:v>
                </c:pt>
                <c:pt idx="28">
                  <c:v>0.58333333330000003</c:v>
                </c:pt>
                <c:pt idx="29">
                  <c:v>0.60416666669999997</c:v>
                </c:pt>
                <c:pt idx="30">
                  <c:v>0.625</c:v>
                </c:pt>
                <c:pt idx="31">
                  <c:v>0.64583333330000003</c:v>
                </c:pt>
                <c:pt idx="32">
                  <c:v>0.66666666669999997</c:v>
                </c:pt>
                <c:pt idx="33">
                  <c:v>0.6875</c:v>
                </c:pt>
                <c:pt idx="34">
                  <c:v>0.70833333330000003</c:v>
                </c:pt>
                <c:pt idx="35">
                  <c:v>0.72916666669999997</c:v>
                </c:pt>
                <c:pt idx="36">
                  <c:v>0.75</c:v>
                </c:pt>
                <c:pt idx="37">
                  <c:v>0.77083333330000003</c:v>
                </c:pt>
                <c:pt idx="38">
                  <c:v>0.79166666669999997</c:v>
                </c:pt>
                <c:pt idx="39">
                  <c:v>0.8125</c:v>
                </c:pt>
                <c:pt idx="40">
                  <c:v>0.83333333330000003</c:v>
                </c:pt>
                <c:pt idx="41">
                  <c:v>0.85416666669999997</c:v>
                </c:pt>
                <c:pt idx="42">
                  <c:v>0.875</c:v>
                </c:pt>
                <c:pt idx="43">
                  <c:v>0.89583333330000003</c:v>
                </c:pt>
                <c:pt idx="44">
                  <c:v>0.91666666669999997</c:v>
                </c:pt>
                <c:pt idx="45">
                  <c:v>0.9375</c:v>
                </c:pt>
                <c:pt idx="46">
                  <c:v>0.95833333330000003</c:v>
                </c:pt>
                <c:pt idx="47">
                  <c:v>0.97916666669999997</c:v>
                </c:pt>
              </c:numCache>
            </c:numRef>
          </c:cat>
          <c:val>
            <c:numRef>
              <c:f>Sheet1!$B$2:$B$49</c:f>
              <c:numCache>
                <c:formatCode>#,##0</c:formatCode>
                <c:ptCount val="48"/>
                <c:pt idx="0">
                  <c:v>3770</c:v>
                </c:pt>
                <c:pt idx="1">
                  <c:v>3696.9</c:v>
                </c:pt>
                <c:pt idx="2">
                  <c:v>3656.2</c:v>
                </c:pt>
                <c:pt idx="3">
                  <c:v>3587.6</c:v>
                </c:pt>
                <c:pt idx="4">
                  <c:v>3536.3</c:v>
                </c:pt>
                <c:pt idx="5">
                  <c:v>3483.1</c:v>
                </c:pt>
                <c:pt idx="6">
                  <c:v>3445.1</c:v>
                </c:pt>
                <c:pt idx="7">
                  <c:v>3392</c:v>
                </c:pt>
                <c:pt idx="8">
                  <c:v>3391.9</c:v>
                </c:pt>
                <c:pt idx="9">
                  <c:v>3386.9</c:v>
                </c:pt>
                <c:pt idx="10">
                  <c:v>3450.1</c:v>
                </c:pt>
                <c:pt idx="11">
                  <c:v>3457.8</c:v>
                </c:pt>
                <c:pt idx="12">
                  <c:v>3532.4</c:v>
                </c:pt>
                <c:pt idx="13">
                  <c:v>3574.9</c:v>
                </c:pt>
                <c:pt idx="14">
                  <c:v>3637.4</c:v>
                </c:pt>
                <c:pt idx="15">
                  <c:v>3632.5</c:v>
                </c:pt>
                <c:pt idx="16">
                  <c:v>3680.1</c:v>
                </c:pt>
                <c:pt idx="17">
                  <c:v>3687.9</c:v>
                </c:pt>
                <c:pt idx="18">
                  <c:v>3779.8</c:v>
                </c:pt>
                <c:pt idx="19">
                  <c:v>3870.6</c:v>
                </c:pt>
                <c:pt idx="20">
                  <c:v>4016.6</c:v>
                </c:pt>
                <c:pt idx="21">
                  <c:v>4145.6000000000004</c:v>
                </c:pt>
                <c:pt idx="22">
                  <c:v>4309</c:v>
                </c:pt>
                <c:pt idx="23">
                  <c:v>4520.2</c:v>
                </c:pt>
                <c:pt idx="24">
                  <c:v>4693.3999999999996</c:v>
                </c:pt>
                <c:pt idx="25">
                  <c:v>4891.3999999999996</c:v>
                </c:pt>
                <c:pt idx="26">
                  <c:v>4993.2</c:v>
                </c:pt>
                <c:pt idx="27">
                  <c:v>5233.2</c:v>
                </c:pt>
                <c:pt idx="28">
                  <c:v>5410.2</c:v>
                </c:pt>
                <c:pt idx="29">
                  <c:v>5375.7</c:v>
                </c:pt>
                <c:pt idx="30">
                  <c:v>5208.3999999999996</c:v>
                </c:pt>
                <c:pt idx="31">
                  <c:v>5186.7</c:v>
                </c:pt>
                <c:pt idx="32">
                  <c:v>5318.9</c:v>
                </c:pt>
                <c:pt idx="33">
                  <c:v>5476.3</c:v>
                </c:pt>
                <c:pt idx="34">
                  <c:v>5645.2</c:v>
                </c:pt>
                <c:pt idx="35">
                  <c:v>5861.1</c:v>
                </c:pt>
                <c:pt idx="36">
                  <c:v>5962.4</c:v>
                </c:pt>
                <c:pt idx="37">
                  <c:v>6015.5</c:v>
                </c:pt>
                <c:pt idx="38">
                  <c:v>5944.1</c:v>
                </c:pt>
                <c:pt idx="39">
                  <c:v>5872.7</c:v>
                </c:pt>
                <c:pt idx="40">
                  <c:v>5810.5</c:v>
                </c:pt>
                <c:pt idx="41">
                  <c:v>5701.1</c:v>
                </c:pt>
                <c:pt idx="42">
                  <c:v>5532.8</c:v>
                </c:pt>
                <c:pt idx="43">
                  <c:v>5321</c:v>
                </c:pt>
                <c:pt idx="44">
                  <c:v>5150.7</c:v>
                </c:pt>
                <c:pt idx="45">
                  <c:v>4962</c:v>
                </c:pt>
                <c:pt idx="46">
                  <c:v>4789.3</c:v>
                </c:pt>
                <c:pt idx="47">
                  <c:v>4632.7</c:v>
                </c:pt>
              </c:numCache>
            </c:numRef>
          </c:val>
          <c:smooth val="0"/>
          <c:extLst>
            <c:ext xmlns:c16="http://schemas.microsoft.com/office/drawing/2014/chart" uri="{C3380CC4-5D6E-409C-BE32-E72D297353CC}">
              <c16:uniqueId val="{00000000-954E-4AB8-B1AD-E5AB8701D765}"/>
            </c:ext>
          </c:extLst>
        </c:ser>
        <c:ser>
          <c:idx val="1"/>
          <c:order val="1"/>
          <c:tx>
            <c:strRef>
              <c:f>Sheet1!$C$1</c:f>
              <c:strCache>
                <c:ptCount val="1"/>
                <c:pt idx="0">
                  <c:v>Slower Growth</c:v>
                </c:pt>
              </c:strCache>
            </c:strRef>
          </c:tx>
          <c:spPr>
            <a:ln w="28575" cap="rnd">
              <a:solidFill>
                <a:srgbClr val="5DB474"/>
              </a:solidFill>
              <a:prstDash val="solid"/>
              <a:round/>
            </a:ln>
            <a:effectLst/>
          </c:spPr>
          <c:marker>
            <c:symbol val="none"/>
          </c:marker>
          <c:cat>
            <c:numRef>
              <c:f>Sheet1!$A$2:$A$49</c:f>
              <c:numCache>
                <c:formatCode>h:mm</c:formatCode>
                <c:ptCount val="48"/>
                <c:pt idx="0">
                  <c:v>0</c:v>
                </c:pt>
                <c:pt idx="1">
                  <c:v>2.08333333E-2</c:v>
                </c:pt>
                <c:pt idx="2">
                  <c:v>4.16666667E-2</c:v>
                </c:pt>
                <c:pt idx="3">
                  <c:v>6.25E-2</c:v>
                </c:pt>
                <c:pt idx="4">
                  <c:v>8.3333333300000006E-2</c:v>
                </c:pt>
                <c:pt idx="5">
                  <c:v>0.10416666669999999</c:v>
                </c:pt>
                <c:pt idx="6">
                  <c:v>0.125</c:v>
                </c:pt>
                <c:pt idx="7">
                  <c:v>0.14583333330000001</c:v>
                </c:pt>
                <c:pt idx="8">
                  <c:v>0.16666666669999999</c:v>
                </c:pt>
                <c:pt idx="9">
                  <c:v>0.1875</c:v>
                </c:pt>
                <c:pt idx="10">
                  <c:v>0.20833333330000001</c:v>
                </c:pt>
                <c:pt idx="11">
                  <c:v>0.22916666669999999</c:v>
                </c:pt>
                <c:pt idx="12">
                  <c:v>0.25</c:v>
                </c:pt>
                <c:pt idx="13">
                  <c:v>0.27083333329999998</c:v>
                </c:pt>
                <c:pt idx="14">
                  <c:v>0.29166666670000002</c:v>
                </c:pt>
                <c:pt idx="15">
                  <c:v>0.3125</c:v>
                </c:pt>
                <c:pt idx="16">
                  <c:v>0.33333333329999998</c:v>
                </c:pt>
                <c:pt idx="17">
                  <c:v>0.35416666670000002</c:v>
                </c:pt>
                <c:pt idx="18">
                  <c:v>0.375</c:v>
                </c:pt>
                <c:pt idx="19">
                  <c:v>0.39583333329999998</c:v>
                </c:pt>
                <c:pt idx="20">
                  <c:v>0.41666666670000002</c:v>
                </c:pt>
                <c:pt idx="21">
                  <c:v>0.4375</c:v>
                </c:pt>
                <c:pt idx="22">
                  <c:v>0.45833333329999998</c:v>
                </c:pt>
                <c:pt idx="23">
                  <c:v>0.47916666670000002</c:v>
                </c:pt>
                <c:pt idx="24">
                  <c:v>0.5</c:v>
                </c:pt>
                <c:pt idx="25">
                  <c:v>0.52083333330000003</c:v>
                </c:pt>
                <c:pt idx="26">
                  <c:v>0.54166666669999997</c:v>
                </c:pt>
                <c:pt idx="27">
                  <c:v>0.5625</c:v>
                </c:pt>
                <c:pt idx="28">
                  <c:v>0.58333333330000003</c:v>
                </c:pt>
                <c:pt idx="29">
                  <c:v>0.60416666669999997</c:v>
                </c:pt>
                <c:pt idx="30">
                  <c:v>0.625</c:v>
                </c:pt>
                <c:pt idx="31">
                  <c:v>0.64583333330000003</c:v>
                </c:pt>
                <c:pt idx="32">
                  <c:v>0.66666666669999997</c:v>
                </c:pt>
                <c:pt idx="33">
                  <c:v>0.6875</c:v>
                </c:pt>
                <c:pt idx="34">
                  <c:v>0.70833333330000003</c:v>
                </c:pt>
                <c:pt idx="35">
                  <c:v>0.72916666669999997</c:v>
                </c:pt>
                <c:pt idx="36">
                  <c:v>0.75</c:v>
                </c:pt>
                <c:pt idx="37">
                  <c:v>0.77083333330000003</c:v>
                </c:pt>
                <c:pt idx="38">
                  <c:v>0.79166666669999997</c:v>
                </c:pt>
                <c:pt idx="39">
                  <c:v>0.8125</c:v>
                </c:pt>
                <c:pt idx="40">
                  <c:v>0.83333333330000003</c:v>
                </c:pt>
                <c:pt idx="41">
                  <c:v>0.85416666669999997</c:v>
                </c:pt>
                <c:pt idx="42">
                  <c:v>0.875</c:v>
                </c:pt>
                <c:pt idx="43">
                  <c:v>0.89583333330000003</c:v>
                </c:pt>
                <c:pt idx="44">
                  <c:v>0.91666666669999997</c:v>
                </c:pt>
                <c:pt idx="45">
                  <c:v>0.9375</c:v>
                </c:pt>
                <c:pt idx="46">
                  <c:v>0.95833333330000003</c:v>
                </c:pt>
                <c:pt idx="47">
                  <c:v>0.97916666669999997</c:v>
                </c:pt>
              </c:numCache>
            </c:numRef>
          </c:cat>
          <c:val>
            <c:numRef>
              <c:f>Sheet1!$C$2:$C$49</c:f>
              <c:numCache>
                <c:formatCode>#,##0</c:formatCode>
                <c:ptCount val="48"/>
                <c:pt idx="0">
                  <c:v>3754.5</c:v>
                </c:pt>
                <c:pt idx="1">
                  <c:v>3688.8</c:v>
                </c:pt>
                <c:pt idx="2">
                  <c:v>3655.4</c:v>
                </c:pt>
                <c:pt idx="3">
                  <c:v>3595</c:v>
                </c:pt>
                <c:pt idx="4">
                  <c:v>3551.8</c:v>
                </c:pt>
                <c:pt idx="5">
                  <c:v>3504.4</c:v>
                </c:pt>
                <c:pt idx="6">
                  <c:v>3472.1</c:v>
                </c:pt>
                <c:pt idx="7">
                  <c:v>3423.4</c:v>
                </c:pt>
                <c:pt idx="8">
                  <c:v>3427.6</c:v>
                </c:pt>
                <c:pt idx="9">
                  <c:v>3423.2</c:v>
                </c:pt>
                <c:pt idx="10">
                  <c:v>3486.9</c:v>
                </c:pt>
                <c:pt idx="11">
                  <c:v>3486.7</c:v>
                </c:pt>
                <c:pt idx="12">
                  <c:v>3553.3</c:v>
                </c:pt>
                <c:pt idx="13">
                  <c:v>3580.1</c:v>
                </c:pt>
                <c:pt idx="14">
                  <c:v>3626.7</c:v>
                </c:pt>
                <c:pt idx="15">
                  <c:v>3597.4</c:v>
                </c:pt>
                <c:pt idx="16">
                  <c:v>3620.4</c:v>
                </c:pt>
                <c:pt idx="17">
                  <c:v>3605.1</c:v>
                </c:pt>
                <c:pt idx="18">
                  <c:v>3673.9</c:v>
                </c:pt>
                <c:pt idx="19">
                  <c:v>3752.1</c:v>
                </c:pt>
                <c:pt idx="20">
                  <c:v>3885.5</c:v>
                </c:pt>
                <c:pt idx="21">
                  <c:v>4006</c:v>
                </c:pt>
                <c:pt idx="22">
                  <c:v>4161</c:v>
                </c:pt>
                <c:pt idx="23">
                  <c:v>4366.8</c:v>
                </c:pt>
                <c:pt idx="24">
                  <c:v>4534.5</c:v>
                </c:pt>
                <c:pt idx="25">
                  <c:v>4730.5</c:v>
                </c:pt>
                <c:pt idx="26">
                  <c:v>4830.3</c:v>
                </c:pt>
                <c:pt idx="27">
                  <c:v>5067.3999999999996</c:v>
                </c:pt>
                <c:pt idx="28">
                  <c:v>5241.3999999999996</c:v>
                </c:pt>
                <c:pt idx="29">
                  <c:v>5204.7</c:v>
                </c:pt>
                <c:pt idx="30">
                  <c:v>5035.1000000000004</c:v>
                </c:pt>
                <c:pt idx="31">
                  <c:v>5009.3</c:v>
                </c:pt>
                <c:pt idx="32">
                  <c:v>5137.5</c:v>
                </c:pt>
                <c:pt idx="33">
                  <c:v>5296.9</c:v>
                </c:pt>
                <c:pt idx="34">
                  <c:v>5467.8</c:v>
                </c:pt>
                <c:pt idx="35">
                  <c:v>5694.8</c:v>
                </c:pt>
                <c:pt idx="36">
                  <c:v>5807.3</c:v>
                </c:pt>
                <c:pt idx="37">
                  <c:v>5873.2</c:v>
                </c:pt>
                <c:pt idx="38">
                  <c:v>5814.6</c:v>
                </c:pt>
                <c:pt idx="39">
                  <c:v>5757</c:v>
                </c:pt>
                <c:pt idx="40">
                  <c:v>5708.7</c:v>
                </c:pt>
                <c:pt idx="41">
                  <c:v>5614.3</c:v>
                </c:pt>
                <c:pt idx="42">
                  <c:v>5461.1</c:v>
                </c:pt>
                <c:pt idx="43">
                  <c:v>5261.3</c:v>
                </c:pt>
                <c:pt idx="44">
                  <c:v>5103.1000000000004</c:v>
                </c:pt>
                <c:pt idx="45">
                  <c:v>4921</c:v>
                </c:pt>
                <c:pt idx="46">
                  <c:v>4754.8999999999996</c:v>
                </c:pt>
                <c:pt idx="47">
                  <c:v>4607.8</c:v>
                </c:pt>
              </c:numCache>
            </c:numRef>
          </c:val>
          <c:smooth val="0"/>
          <c:extLst>
            <c:ext xmlns:c16="http://schemas.microsoft.com/office/drawing/2014/chart" uri="{C3380CC4-5D6E-409C-BE32-E72D297353CC}">
              <c16:uniqueId val="{00000001-954E-4AB8-B1AD-E5AB8701D765}"/>
            </c:ext>
          </c:extLst>
        </c:ser>
        <c:ser>
          <c:idx val="2"/>
          <c:order val="2"/>
          <c:tx>
            <c:strRef>
              <c:f>Sheet1!$D$1</c:f>
              <c:strCache>
                <c:ptCount val="1"/>
                <c:pt idx="0">
                  <c:v>Step Change</c:v>
                </c:pt>
              </c:strCache>
            </c:strRef>
          </c:tx>
          <c:spPr>
            <a:ln w="28575" cap="rnd">
              <a:solidFill>
                <a:srgbClr val="00A9D8"/>
              </a:solidFill>
              <a:prstDash val="solid"/>
              <a:round/>
            </a:ln>
            <a:effectLst/>
          </c:spPr>
          <c:marker>
            <c:symbol val="none"/>
          </c:marker>
          <c:cat>
            <c:numRef>
              <c:f>Sheet1!$A$2:$A$49</c:f>
              <c:numCache>
                <c:formatCode>h:mm</c:formatCode>
                <c:ptCount val="48"/>
                <c:pt idx="0">
                  <c:v>0</c:v>
                </c:pt>
                <c:pt idx="1">
                  <c:v>2.08333333E-2</c:v>
                </c:pt>
                <c:pt idx="2">
                  <c:v>4.16666667E-2</c:v>
                </c:pt>
                <c:pt idx="3">
                  <c:v>6.25E-2</c:v>
                </c:pt>
                <c:pt idx="4">
                  <c:v>8.3333333300000006E-2</c:v>
                </c:pt>
                <c:pt idx="5">
                  <c:v>0.10416666669999999</c:v>
                </c:pt>
                <c:pt idx="6">
                  <c:v>0.125</c:v>
                </c:pt>
                <c:pt idx="7">
                  <c:v>0.14583333330000001</c:v>
                </c:pt>
                <c:pt idx="8">
                  <c:v>0.16666666669999999</c:v>
                </c:pt>
                <c:pt idx="9">
                  <c:v>0.1875</c:v>
                </c:pt>
                <c:pt idx="10">
                  <c:v>0.20833333330000001</c:v>
                </c:pt>
                <c:pt idx="11">
                  <c:v>0.22916666669999999</c:v>
                </c:pt>
                <c:pt idx="12">
                  <c:v>0.25</c:v>
                </c:pt>
                <c:pt idx="13">
                  <c:v>0.27083333329999998</c:v>
                </c:pt>
                <c:pt idx="14">
                  <c:v>0.29166666670000002</c:v>
                </c:pt>
                <c:pt idx="15">
                  <c:v>0.3125</c:v>
                </c:pt>
                <c:pt idx="16">
                  <c:v>0.33333333329999998</c:v>
                </c:pt>
                <c:pt idx="17">
                  <c:v>0.35416666670000002</c:v>
                </c:pt>
                <c:pt idx="18">
                  <c:v>0.375</c:v>
                </c:pt>
                <c:pt idx="19">
                  <c:v>0.39583333329999998</c:v>
                </c:pt>
                <c:pt idx="20">
                  <c:v>0.41666666670000002</c:v>
                </c:pt>
                <c:pt idx="21">
                  <c:v>0.4375</c:v>
                </c:pt>
                <c:pt idx="22">
                  <c:v>0.45833333329999998</c:v>
                </c:pt>
                <c:pt idx="23">
                  <c:v>0.47916666670000002</c:v>
                </c:pt>
                <c:pt idx="24">
                  <c:v>0.5</c:v>
                </c:pt>
                <c:pt idx="25">
                  <c:v>0.52083333330000003</c:v>
                </c:pt>
                <c:pt idx="26">
                  <c:v>0.54166666669999997</c:v>
                </c:pt>
                <c:pt idx="27">
                  <c:v>0.5625</c:v>
                </c:pt>
                <c:pt idx="28">
                  <c:v>0.58333333330000003</c:v>
                </c:pt>
                <c:pt idx="29">
                  <c:v>0.60416666669999997</c:v>
                </c:pt>
                <c:pt idx="30">
                  <c:v>0.625</c:v>
                </c:pt>
                <c:pt idx="31">
                  <c:v>0.64583333330000003</c:v>
                </c:pt>
                <c:pt idx="32">
                  <c:v>0.66666666669999997</c:v>
                </c:pt>
                <c:pt idx="33">
                  <c:v>0.6875</c:v>
                </c:pt>
                <c:pt idx="34">
                  <c:v>0.70833333330000003</c:v>
                </c:pt>
                <c:pt idx="35">
                  <c:v>0.72916666669999997</c:v>
                </c:pt>
                <c:pt idx="36">
                  <c:v>0.75</c:v>
                </c:pt>
                <c:pt idx="37">
                  <c:v>0.77083333330000003</c:v>
                </c:pt>
                <c:pt idx="38">
                  <c:v>0.79166666669999997</c:v>
                </c:pt>
                <c:pt idx="39">
                  <c:v>0.8125</c:v>
                </c:pt>
                <c:pt idx="40">
                  <c:v>0.83333333330000003</c:v>
                </c:pt>
                <c:pt idx="41">
                  <c:v>0.85416666669999997</c:v>
                </c:pt>
                <c:pt idx="42">
                  <c:v>0.875</c:v>
                </c:pt>
                <c:pt idx="43">
                  <c:v>0.89583333330000003</c:v>
                </c:pt>
                <c:pt idx="44">
                  <c:v>0.91666666669999997</c:v>
                </c:pt>
                <c:pt idx="45">
                  <c:v>0.9375</c:v>
                </c:pt>
                <c:pt idx="46">
                  <c:v>0.95833333330000003</c:v>
                </c:pt>
                <c:pt idx="47">
                  <c:v>0.97916666669999997</c:v>
                </c:pt>
              </c:numCache>
            </c:numRef>
          </c:cat>
          <c:val>
            <c:numRef>
              <c:f>Sheet1!$D$2:$D$49</c:f>
              <c:numCache>
                <c:formatCode>#,##0</c:formatCode>
                <c:ptCount val="48"/>
                <c:pt idx="0">
                  <c:v>3870.3</c:v>
                </c:pt>
                <c:pt idx="1">
                  <c:v>3806</c:v>
                </c:pt>
                <c:pt idx="2">
                  <c:v>3774.1</c:v>
                </c:pt>
                <c:pt idx="3">
                  <c:v>3712.1</c:v>
                </c:pt>
                <c:pt idx="4">
                  <c:v>3667.3</c:v>
                </c:pt>
                <c:pt idx="5">
                  <c:v>3615.3</c:v>
                </c:pt>
                <c:pt idx="6">
                  <c:v>3578.5</c:v>
                </c:pt>
                <c:pt idx="7">
                  <c:v>3525.9</c:v>
                </c:pt>
                <c:pt idx="8">
                  <c:v>3526.3</c:v>
                </c:pt>
                <c:pt idx="9">
                  <c:v>3519.3</c:v>
                </c:pt>
                <c:pt idx="10">
                  <c:v>3580.5</c:v>
                </c:pt>
                <c:pt idx="11">
                  <c:v>3578.8</c:v>
                </c:pt>
                <c:pt idx="12">
                  <c:v>3643.9</c:v>
                </c:pt>
                <c:pt idx="13">
                  <c:v>3669.2</c:v>
                </c:pt>
                <c:pt idx="14">
                  <c:v>3714.5</c:v>
                </c:pt>
                <c:pt idx="15">
                  <c:v>3682.1</c:v>
                </c:pt>
                <c:pt idx="16">
                  <c:v>3702</c:v>
                </c:pt>
                <c:pt idx="17">
                  <c:v>3683.3</c:v>
                </c:pt>
                <c:pt idx="18">
                  <c:v>3748.6</c:v>
                </c:pt>
                <c:pt idx="19">
                  <c:v>3827.5</c:v>
                </c:pt>
                <c:pt idx="20">
                  <c:v>3961.5</c:v>
                </c:pt>
                <c:pt idx="21">
                  <c:v>4080.7</c:v>
                </c:pt>
                <c:pt idx="22">
                  <c:v>4234.3</c:v>
                </c:pt>
                <c:pt idx="23">
                  <c:v>4437.3999999999996</c:v>
                </c:pt>
                <c:pt idx="24">
                  <c:v>4602.3</c:v>
                </c:pt>
                <c:pt idx="25">
                  <c:v>4797</c:v>
                </c:pt>
                <c:pt idx="26">
                  <c:v>4895.5</c:v>
                </c:pt>
                <c:pt idx="27">
                  <c:v>5131</c:v>
                </c:pt>
                <c:pt idx="28">
                  <c:v>5303.4</c:v>
                </c:pt>
                <c:pt idx="29">
                  <c:v>5265.2</c:v>
                </c:pt>
                <c:pt idx="30">
                  <c:v>5094.2</c:v>
                </c:pt>
                <c:pt idx="31">
                  <c:v>5062.3999999999996</c:v>
                </c:pt>
                <c:pt idx="32">
                  <c:v>5184.7</c:v>
                </c:pt>
                <c:pt idx="33">
                  <c:v>5337</c:v>
                </c:pt>
                <c:pt idx="34">
                  <c:v>5501</c:v>
                </c:pt>
                <c:pt idx="35">
                  <c:v>5727.3</c:v>
                </c:pt>
                <c:pt idx="36">
                  <c:v>5839</c:v>
                </c:pt>
                <c:pt idx="37">
                  <c:v>5910.6</c:v>
                </c:pt>
                <c:pt idx="38">
                  <c:v>5857.6</c:v>
                </c:pt>
                <c:pt idx="39">
                  <c:v>5811.1</c:v>
                </c:pt>
                <c:pt idx="40">
                  <c:v>5773.9</c:v>
                </c:pt>
                <c:pt idx="41">
                  <c:v>5689.7</c:v>
                </c:pt>
                <c:pt idx="42">
                  <c:v>5546.7</c:v>
                </c:pt>
                <c:pt idx="43">
                  <c:v>5354.3</c:v>
                </c:pt>
                <c:pt idx="44">
                  <c:v>5203.6000000000004</c:v>
                </c:pt>
                <c:pt idx="45">
                  <c:v>5023.8999999999996</c:v>
                </c:pt>
                <c:pt idx="46">
                  <c:v>4860.3</c:v>
                </c:pt>
                <c:pt idx="47">
                  <c:v>4718.3999999999996</c:v>
                </c:pt>
              </c:numCache>
            </c:numRef>
          </c:val>
          <c:smooth val="0"/>
          <c:extLst>
            <c:ext xmlns:c16="http://schemas.microsoft.com/office/drawing/2014/chart" uri="{C3380CC4-5D6E-409C-BE32-E72D297353CC}">
              <c16:uniqueId val="{00000002-954E-4AB8-B1AD-E5AB8701D765}"/>
            </c:ext>
          </c:extLst>
        </c:ser>
        <c:ser>
          <c:idx val="3"/>
          <c:order val="3"/>
          <c:tx>
            <c:strRef>
              <c:f>Sheet1!$E$1</c:f>
              <c:strCache>
                <c:ptCount val="1"/>
                <c:pt idx="0">
                  <c:v>Accelerated Transition</c:v>
                </c:pt>
              </c:strCache>
            </c:strRef>
          </c:tx>
          <c:spPr>
            <a:ln w="28575" cap="rnd">
              <a:solidFill>
                <a:srgbClr val="E07B39"/>
              </a:solidFill>
              <a:prstDash val="solid"/>
              <a:round/>
            </a:ln>
            <a:effectLst/>
          </c:spPr>
          <c:marker>
            <c:symbol val="none"/>
          </c:marker>
          <c:cat>
            <c:numRef>
              <c:f>Sheet1!$A$2:$A$49</c:f>
              <c:numCache>
                <c:formatCode>h:mm</c:formatCode>
                <c:ptCount val="48"/>
                <c:pt idx="0">
                  <c:v>0</c:v>
                </c:pt>
                <c:pt idx="1">
                  <c:v>2.08333333E-2</c:v>
                </c:pt>
                <c:pt idx="2">
                  <c:v>4.16666667E-2</c:v>
                </c:pt>
                <c:pt idx="3">
                  <c:v>6.25E-2</c:v>
                </c:pt>
                <c:pt idx="4">
                  <c:v>8.3333333300000006E-2</c:v>
                </c:pt>
                <c:pt idx="5">
                  <c:v>0.10416666669999999</c:v>
                </c:pt>
                <c:pt idx="6">
                  <c:v>0.125</c:v>
                </c:pt>
                <c:pt idx="7">
                  <c:v>0.14583333330000001</c:v>
                </c:pt>
                <c:pt idx="8">
                  <c:v>0.16666666669999999</c:v>
                </c:pt>
                <c:pt idx="9">
                  <c:v>0.1875</c:v>
                </c:pt>
                <c:pt idx="10">
                  <c:v>0.20833333330000001</c:v>
                </c:pt>
                <c:pt idx="11">
                  <c:v>0.22916666669999999</c:v>
                </c:pt>
                <c:pt idx="12">
                  <c:v>0.25</c:v>
                </c:pt>
                <c:pt idx="13">
                  <c:v>0.27083333329999998</c:v>
                </c:pt>
                <c:pt idx="14">
                  <c:v>0.29166666670000002</c:v>
                </c:pt>
                <c:pt idx="15">
                  <c:v>0.3125</c:v>
                </c:pt>
                <c:pt idx="16">
                  <c:v>0.33333333329999998</c:v>
                </c:pt>
                <c:pt idx="17">
                  <c:v>0.35416666670000002</c:v>
                </c:pt>
                <c:pt idx="18">
                  <c:v>0.375</c:v>
                </c:pt>
                <c:pt idx="19">
                  <c:v>0.39583333329999998</c:v>
                </c:pt>
                <c:pt idx="20">
                  <c:v>0.41666666670000002</c:v>
                </c:pt>
                <c:pt idx="21">
                  <c:v>0.4375</c:v>
                </c:pt>
                <c:pt idx="22">
                  <c:v>0.45833333329999998</c:v>
                </c:pt>
                <c:pt idx="23">
                  <c:v>0.47916666670000002</c:v>
                </c:pt>
                <c:pt idx="24">
                  <c:v>0.5</c:v>
                </c:pt>
                <c:pt idx="25">
                  <c:v>0.52083333330000003</c:v>
                </c:pt>
                <c:pt idx="26">
                  <c:v>0.54166666669999997</c:v>
                </c:pt>
                <c:pt idx="27">
                  <c:v>0.5625</c:v>
                </c:pt>
                <c:pt idx="28">
                  <c:v>0.58333333330000003</c:v>
                </c:pt>
                <c:pt idx="29">
                  <c:v>0.60416666669999997</c:v>
                </c:pt>
                <c:pt idx="30">
                  <c:v>0.625</c:v>
                </c:pt>
                <c:pt idx="31">
                  <c:v>0.64583333330000003</c:v>
                </c:pt>
                <c:pt idx="32">
                  <c:v>0.66666666669999997</c:v>
                </c:pt>
                <c:pt idx="33">
                  <c:v>0.6875</c:v>
                </c:pt>
                <c:pt idx="34">
                  <c:v>0.70833333330000003</c:v>
                </c:pt>
                <c:pt idx="35">
                  <c:v>0.72916666669999997</c:v>
                </c:pt>
                <c:pt idx="36">
                  <c:v>0.75</c:v>
                </c:pt>
                <c:pt idx="37">
                  <c:v>0.77083333330000003</c:v>
                </c:pt>
                <c:pt idx="38">
                  <c:v>0.79166666669999997</c:v>
                </c:pt>
                <c:pt idx="39">
                  <c:v>0.8125</c:v>
                </c:pt>
                <c:pt idx="40">
                  <c:v>0.83333333330000003</c:v>
                </c:pt>
                <c:pt idx="41">
                  <c:v>0.85416666669999997</c:v>
                </c:pt>
                <c:pt idx="42">
                  <c:v>0.875</c:v>
                </c:pt>
                <c:pt idx="43">
                  <c:v>0.89583333330000003</c:v>
                </c:pt>
                <c:pt idx="44">
                  <c:v>0.91666666669999997</c:v>
                </c:pt>
                <c:pt idx="45">
                  <c:v>0.9375</c:v>
                </c:pt>
                <c:pt idx="46">
                  <c:v>0.95833333330000003</c:v>
                </c:pt>
                <c:pt idx="47">
                  <c:v>0.97916666669999997</c:v>
                </c:pt>
              </c:numCache>
            </c:numRef>
          </c:cat>
          <c:val>
            <c:numRef>
              <c:f>Sheet1!$E$2:$E$49</c:f>
              <c:numCache>
                <c:formatCode>#,##0</c:formatCode>
                <c:ptCount val="48"/>
                <c:pt idx="0">
                  <c:v>4076.2</c:v>
                </c:pt>
                <c:pt idx="1">
                  <c:v>4014.5</c:v>
                </c:pt>
                <c:pt idx="2">
                  <c:v>3985.1</c:v>
                </c:pt>
                <c:pt idx="3">
                  <c:v>3920.2</c:v>
                </c:pt>
                <c:pt idx="4">
                  <c:v>3872.5</c:v>
                </c:pt>
                <c:pt idx="5">
                  <c:v>3812.5</c:v>
                </c:pt>
                <c:pt idx="6">
                  <c:v>3767.6</c:v>
                </c:pt>
                <c:pt idx="7">
                  <c:v>3708.2</c:v>
                </c:pt>
                <c:pt idx="8">
                  <c:v>3701.6</c:v>
                </c:pt>
                <c:pt idx="9">
                  <c:v>3690.1</c:v>
                </c:pt>
                <c:pt idx="10">
                  <c:v>3746.8</c:v>
                </c:pt>
                <c:pt idx="11">
                  <c:v>3742.4</c:v>
                </c:pt>
                <c:pt idx="12">
                  <c:v>3804.8</c:v>
                </c:pt>
                <c:pt idx="13">
                  <c:v>3827.7</c:v>
                </c:pt>
                <c:pt idx="14">
                  <c:v>3870.6</c:v>
                </c:pt>
                <c:pt idx="15">
                  <c:v>3832.6</c:v>
                </c:pt>
                <c:pt idx="16">
                  <c:v>3846.9</c:v>
                </c:pt>
                <c:pt idx="17">
                  <c:v>3822.1</c:v>
                </c:pt>
                <c:pt idx="18">
                  <c:v>3881.4</c:v>
                </c:pt>
                <c:pt idx="19">
                  <c:v>3961.5</c:v>
                </c:pt>
                <c:pt idx="20">
                  <c:v>4096.7</c:v>
                </c:pt>
                <c:pt idx="21">
                  <c:v>4213.5</c:v>
                </c:pt>
                <c:pt idx="22">
                  <c:v>4364.6000000000004</c:v>
                </c:pt>
                <c:pt idx="23">
                  <c:v>4562.8</c:v>
                </c:pt>
                <c:pt idx="24">
                  <c:v>4723</c:v>
                </c:pt>
                <c:pt idx="25">
                  <c:v>4915.3</c:v>
                </c:pt>
                <c:pt idx="26">
                  <c:v>5011.3</c:v>
                </c:pt>
                <c:pt idx="27">
                  <c:v>5244</c:v>
                </c:pt>
                <c:pt idx="28">
                  <c:v>5413.6</c:v>
                </c:pt>
                <c:pt idx="29">
                  <c:v>5372.8</c:v>
                </c:pt>
                <c:pt idx="30">
                  <c:v>5199.1000000000004</c:v>
                </c:pt>
                <c:pt idx="31">
                  <c:v>5156.7</c:v>
                </c:pt>
                <c:pt idx="32">
                  <c:v>5268.4</c:v>
                </c:pt>
                <c:pt idx="33">
                  <c:v>5408.4</c:v>
                </c:pt>
                <c:pt idx="34">
                  <c:v>5560</c:v>
                </c:pt>
                <c:pt idx="35">
                  <c:v>5785</c:v>
                </c:pt>
                <c:pt idx="36">
                  <c:v>5895.5</c:v>
                </c:pt>
                <c:pt idx="37">
                  <c:v>5977.1</c:v>
                </c:pt>
                <c:pt idx="38">
                  <c:v>5934.1</c:v>
                </c:pt>
                <c:pt idx="39">
                  <c:v>5907.4</c:v>
                </c:pt>
                <c:pt idx="40">
                  <c:v>5889.9</c:v>
                </c:pt>
                <c:pt idx="41">
                  <c:v>5823.7</c:v>
                </c:pt>
                <c:pt idx="42">
                  <c:v>5698.7</c:v>
                </c:pt>
                <c:pt idx="43">
                  <c:v>5519.6</c:v>
                </c:pt>
                <c:pt idx="44">
                  <c:v>5382.1</c:v>
                </c:pt>
                <c:pt idx="45">
                  <c:v>5206.8</c:v>
                </c:pt>
                <c:pt idx="46">
                  <c:v>5047.5</c:v>
                </c:pt>
                <c:pt idx="47">
                  <c:v>4914.8999999999996</c:v>
                </c:pt>
              </c:numCache>
            </c:numRef>
          </c:val>
          <c:smooth val="0"/>
          <c:extLst>
            <c:ext xmlns:c16="http://schemas.microsoft.com/office/drawing/2014/chart" uri="{C3380CC4-5D6E-409C-BE32-E72D297353CC}">
              <c16:uniqueId val="{00000003-954E-4AB8-B1AD-E5AB8701D765}"/>
            </c:ext>
          </c:extLst>
        </c:ser>
        <c:dLbls>
          <c:showLegendKey val="0"/>
          <c:showVal val="0"/>
          <c:showCatName val="0"/>
          <c:showSerName val="0"/>
          <c:showPercent val="0"/>
          <c:showBubbleSize val="0"/>
        </c:dLbls>
        <c:smooth val="0"/>
        <c:axId val="1606704575"/>
        <c:axId val="1703910847"/>
      </c:lineChart>
      <c:catAx>
        <c:axId val="1606704575"/>
        <c:scaling>
          <c:orientation val="minMax"/>
        </c:scaling>
        <c:delete val="0"/>
        <c:axPos val="b"/>
        <c:title>
          <c:tx>
            <c:rich>
              <a:bodyPr rot="0" spcFirstLastPara="1" vertOverflow="ellipsis" vert="horz" wrap="square" anchor="ctr" anchorCtr="1"/>
              <a:lstStyle/>
              <a:p>
                <a:pPr>
                  <a:defRPr sz="800" b="0" i="0" u="none" strike="noStrike" kern="1200" baseline="0">
                    <a:solidFill>
                      <a:schemeClr val="tx1">
                        <a:lumMod val="65000"/>
                        <a:lumOff val="35000"/>
                      </a:schemeClr>
                    </a:solidFill>
                    <a:latin typeface="Montserrat" pitchFamily="2" charset="77"/>
                    <a:ea typeface="+mn-ea"/>
                    <a:cs typeface="+mn-cs"/>
                  </a:defRPr>
                </a:pPr>
                <a:r>
                  <a:rPr lang="en-GB"/>
                  <a:t>Time of day (AWST), system peak day</a:t>
                </a:r>
              </a:p>
            </c:rich>
          </c:tx>
          <c:overlay val="0"/>
          <c:spPr>
            <a:noFill/>
            <a:ln>
              <a:noFill/>
            </a:ln>
            <a:effectLst/>
          </c:spPr>
        </c:title>
        <c:numFmt formatCode="h: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ontserrat" pitchFamily="2" charset="77"/>
                <a:ea typeface="+mn-ea"/>
                <a:cs typeface="+mn-cs"/>
              </a:defRPr>
            </a:pPr>
            <a:endParaRPr lang="en-US"/>
          </a:p>
        </c:txPr>
        <c:crossAx val="1703910847"/>
        <c:crosses val="autoZero"/>
        <c:auto val="1"/>
        <c:lblAlgn val="ctr"/>
        <c:lblOffset val="100"/>
        <c:tickLblSkip val="4"/>
        <c:tickMarkSkip val="4"/>
        <c:noMultiLvlLbl val="0"/>
      </c:catAx>
      <c:valAx>
        <c:axId val="1703910847"/>
        <c:scaling>
          <c:orientation val="minMax"/>
          <c:min val="2000"/>
        </c:scaling>
        <c:delete val="0"/>
        <c:axPos val="l"/>
        <c:title>
          <c:tx>
            <c:rich>
              <a:bodyPr rot="-5400000" spcFirstLastPara="1" vertOverflow="ellipsis" vert="horz" wrap="square" anchor="ctr" anchorCtr="1"/>
              <a:lstStyle/>
              <a:p>
                <a:pPr>
                  <a:defRPr sz="800" b="0" i="0" u="none" strike="noStrike" kern="1200" baseline="0">
                    <a:solidFill>
                      <a:schemeClr val="tx1">
                        <a:lumMod val="65000"/>
                        <a:lumOff val="35000"/>
                      </a:schemeClr>
                    </a:solidFill>
                    <a:latin typeface="Montserrat" pitchFamily="2" charset="77"/>
                    <a:ea typeface="+mn-ea"/>
                    <a:cs typeface="+mn-cs"/>
                  </a:defRPr>
                </a:pPr>
                <a:r>
                  <a:rPr lang="en-GB"/>
                  <a:t>Demand (MW)</a:t>
                </a:r>
              </a:p>
            </c:rich>
          </c:tx>
          <c:overlay val="0"/>
          <c:spPr>
            <a:noFill/>
            <a:ln>
              <a:noFill/>
            </a:ln>
            <a:effectLst/>
          </c:sp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ontserrat" pitchFamily="2" charset="77"/>
                <a:ea typeface="+mn-ea"/>
                <a:cs typeface="+mn-cs"/>
              </a:defRPr>
            </a:pPr>
            <a:endParaRPr lang="en-US"/>
          </a:p>
        </c:txPr>
        <c:crossAx val="16067045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ontserrat"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latin typeface="Montserrat" pitchFamily="2" charset="77"/>
        </a:defRPr>
      </a:pPr>
      <a:endParaRPr lang="en-US"/>
    </a:p>
  </c:txPr>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just">
              <a:defRPr sz="960" b="0" i="0" u="none" strike="noStrike" kern="1200" spc="0" baseline="0">
                <a:solidFill>
                  <a:schemeClr val="tx1">
                    <a:lumMod val="65000"/>
                    <a:lumOff val="35000"/>
                  </a:schemeClr>
                </a:solidFill>
                <a:latin typeface="Montserrat" pitchFamily="2" charset="77"/>
                <a:ea typeface="+mn-ea"/>
                <a:cs typeface="+mn-cs"/>
              </a:defRPr>
            </a:pPr>
            <a:r>
              <a:rPr lang="en-US" sz="1050" b="1" dirty="0"/>
              <a:t>WEM</a:t>
            </a:r>
          </a:p>
          <a:p>
            <a:pPr algn="just">
              <a:defRPr/>
            </a:pPr>
            <a:r>
              <a:rPr lang="en-US" sz="1050" dirty="0"/>
              <a:t>Charging profile by vehicle type</a:t>
            </a:r>
          </a:p>
        </c:rich>
      </c:tx>
      <c:layout>
        <c:manualLayout>
          <c:xMode val="edge"/>
          <c:yMode val="edge"/>
          <c:x val="0.25825347222222222"/>
          <c:y val="2.4694444444444446E-2"/>
        </c:manualLayout>
      </c:layout>
      <c:overlay val="0"/>
      <c:spPr>
        <a:noFill/>
        <a:ln>
          <a:noFill/>
        </a:ln>
        <a:effectLst/>
      </c:spPr>
      <c:txPr>
        <a:bodyPr rot="0" spcFirstLastPara="1" vertOverflow="ellipsis" vert="horz" wrap="square" anchor="ctr" anchorCtr="1"/>
        <a:lstStyle/>
        <a:p>
          <a:pPr algn="just">
            <a:defRPr sz="960" b="0" i="0" u="none" strike="noStrike" kern="1200" spc="0" baseline="0">
              <a:solidFill>
                <a:schemeClr val="tx1">
                  <a:lumMod val="65000"/>
                  <a:lumOff val="35000"/>
                </a:schemeClr>
              </a:solidFill>
              <a:latin typeface="Montserrat" pitchFamily="2" charset="77"/>
              <a:ea typeface="+mn-ea"/>
              <a:cs typeface="+mn-cs"/>
            </a:defRPr>
          </a:pPr>
          <a:endParaRPr lang="en-US"/>
        </a:p>
      </c:txPr>
    </c:title>
    <c:autoTitleDeleted val="0"/>
    <c:plotArea>
      <c:layout/>
      <c:lineChart>
        <c:grouping val="standard"/>
        <c:varyColors val="0"/>
        <c:ser>
          <c:idx val="0"/>
          <c:order val="0"/>
          <c:tx>
            <c:strRef>
              <c:f>'BEV_PHEV_Profile_kW (Weekday)'!$B$300</c:f>
              <c:strCache>
                <c:ptCount val="1"/>
                <c:pt idx="0">
                  <c:v>Articulated Truck</c:v>
                </c:pt>
              </c:strCache>
            </c:strRef>
          </c:tx>
          <c:spPr>
            <a:ln w="28575" cap="rnd">
              <a:solidFill>
                <a:schemeClr val="accent1"/>
              </a:solidFill>
              <a:round/>
            </a:ln>
            <a:effectLst/>
          </c:spPr>
          <c:marker>
            <c:symbol val="none"/>
          </c:marker>
          <c:cat>
            <c:numRef>
              <c:f>'BEV_PHEV_Profile_kW (Weekday)'!$C$299:$AY$299</c:f>
              <c:numCache>
                <c:formatCode>h:mm</c:formatCode>
                <c:ptCount val="49"/>
                <c:pt idx="1">
                  <c:v>0</c:v>
                </c:pt>
                <c:pt idx="2">
                  <c:v>2.0833333333333332E-2</c:v>
                </c:pt>
                <c:pt idx="3">
                  <c:v>4.1666666666666699E-2</c:v>
                </c:pt>
                <c:pt idx="4">
                  <c:v>6.25E-2</c:v>
                </c:pt>
                <c:pt idx="5">
                  <c:v>8.3333333333333301E-2</c:v>
                </c:pt>
                <c:pt idx="6">
                  <c:v>0.104166666666667</c:v>
                </c:pt>
                <c:pt idx="7">
                  <c:v>0.125</c:v>
                </c:pt>
                <c:pt idx="8">
                  <c:v>0.14583333333333301</c:v>
                </c:pt>
                <c:pt idx="9">
                  <c:v>0.16666666666666699</c:v>
                </c:pt>
                <c:pt idx="10">
                  <c:v>0.1875</c:v>
                </c:pt>
                <c:pt idx="11">
                  <c:v>0.20833333333333301</c:v>
                </c:pt>
                <c:pt idx="12">
                  <c:v>0.22916666666666699</c:v>
                </c:pt>
                <c:pt idx="13">
                  <c:v>0.25</c:v>
                </c:pt>
                <c:pt idx="14">
                  <c:v>0.27083333333333298</c:v>
                </c:pt>
                <c:pt idx="15">
                  <c:v>0.29166666666666702</c:v>
                </c:pt>
                <c:pt idx="16">
                  <c:v>0.3125</c:v>
                </c:pt>
                <c:pt idx="17">
                  <c:v>0.33333333333333298</c:v>
                </c:pt>
                <c:pt idx="18">
                  <c:v>0.35416666666666702</c:v>
                </c:pt>
                <c:pt idx="19">
                  <c:v>0.375</c:v>
                </c:pt>
                <c:pt idx="20">
                  <c:v>0.39583333333333298</c:v>
                </c:pt>
                <c:pt idx="21">
                  <c:v>0.41666666666666702</c:v>
                </c:pt>
                <c:pt idx="22">
                  <c:v>0.4375</c:v>
                </c:pt>
                <c:pt idx="23">
                  <c:v>0.45833333333333298</c:v>
                </c:pt>
                <c:pt idx="24">
                  <c:v>0.47916666666666702</c:v>
                </c:pt>
                <c:pt idx="25">
                  <c:v>0.5</c:v>
                </c:pt>
                <c:pt idx="26">
                  <c:v>0.52083333333333304</c:v>
                </c:pt>
                <c:pt idx="27">
                  <c:v>0.54166666666666696</c:v>
                </c:pt>
                <c:pt idx="28">
                  <c:v>0.5625</c:v>
                </c:pt>
                <c:pt idx="29">
                  <c:v>0.58333333333333304</c:v>
                </c:pt>
                <c:pt idx="30">
                  <c:v>0.60416666666666696</c:v>
                </c:pt>
                <c:pt idx="31">
                  <c:v>0.625</c:v>
                </c:pt>
                <c:pt idx="32">
                  <c:v>0.64583333333333304</c:v>
                </c:pt>
                <c:pt idx="33">
                  <c:v>0.66666666666666696</c:v>
                </c:pt>
                <c:pt idx="34">
                  <c:v>0.6875</c:v>
                </c:pt>
                <c:pt idx="35">
                  <c:v>0.70833333333333304</c:v>
                </c:pt>
                <c:pt idx="36">
                  <c:v>0.72916666666666696</c:v>
                </c:pt>
                <c:pt idx="37">
                  <c:v>0.75</c:v>
                </c:pt>
                <c:pt idx="38">
                  <c:v>0.77083333333333304</c:v>
                </c:pt>
                <c:pt idx="39">
                  <c:v>0.79166666666666696</c:v>
                </c:pt>
                <c:pt idx="40">
                  <c:v>0.8125</c:v>
                </c:pt>
                <c:pt idx="41">
                  <c:v>0.83333333333333304</c:v>
                </c:pt>
                <c:pt idx="42">
                  <c:v>0.85416666666666696</c:v>
                </c:pt>
                <c:pt idx="43">
                  <c:v>0.875</c:v>
                </c:pt>
                <c:pt idx="44">
                  <c:v>0.89583333333333304</c:v>
                </c:pt>
                <c:pt idx="45">
                  <c:v>0.91666666666666696</c:v>
                </c:pt>
                <c:pt idx="46">
                  <c:v>0.9375</c:v>
                </c:pt>
                <c:pt idx="47">
                  <c:v>0.95833333333333304</c:v>
                </c:pt>
                <c:pt idx="48">
                  <c:v>0.97916666666666696</c:v>
                </c:pt>
              </c:numCache>
            </c:numRef>
          </c:cat>
          <c:val>
            <c:numRef>
              <c:f>'BEV_PHEV_Profile_kW (Weekday)'!$C$300:$AY$300</c:f>
              <c:numCache>
                <c:formatCode>0.00</c:formatCode>
                <c:ptCount val="49"/>
                <c:pt idx="1">
                  <c:v>12.928676073333335</c:v>
                </c:pt>
                <c:pt idx="2">
                  <c:v>13.070597513333333</c:v>
                </c:pt>
                <c:pt idx="3">
                  <c:v>13.212518953333332</c:v>
                </c:pt>
                <c:pt idx="4">
                  <c:v>13.064746496666666</c:v>
                </c:pt>
                <c:pt idx="5">
                  <c:v>12.916974046666667</c:v>
                </c:pt>
                <c:pt idx="6">
                  <c:v>12.506866276666665</c:v>
                </c:pt>
                <c:pt idx="7">
                  <c:v>12.096758513333334</c:v>
                </c:pt>
                <c:pt idx="8">
                  <c:v>11.859099503333333</c:v>
                </c:pt>
                <c:pt idx="9">
                  <c:v>11.621440493333333</c:v>
                </c:pt>
                <c:pt idx="10">
                  <c:v>11.566365186666665</c:v>
                </c:pt>
                <c:pt idx="11">
                  <c:v>11.511289886666667</c:v>
                </c:pt>
                <c:pt idx="12">
                  <c:v>11.819450680000001</c:v>
                </c:pt>
                <c:pt idx="13">
                  <c:v>12.127611480000001</c:v>
                </c:pt>
                <c:pt idx="14">
                  <c:v>12.973500536666668</c:v>
                </c:pt>
                <c:pt idx="15">
                  <c:v>13.819389593333334</c:v>
                </c:pt>
                <c:pt idx="16">
                  <c:v>14.415472763333332</c:v>
                </c:pt>
                <c:pt idx="17">
                  <c:v>15.01155593</c:v>
                </c:pt>
                <c:pt idx="18">
                  <c:v>15.411853720000002</c:v>
                </c:pt>
                <c:pt idx="19">
                  <c:v>15.81215151</c:v>
                </c:pt>
                <c:pt idx="20">
                  <c:v>16.310267169999999</c:v>
                </c:pt>
                <c:pt idx="21">
                  <c:v>16.808382833333333</c:v>
                </c:pt>
                <c:pt idx="22">
                  <c:v>16.98258706333333</c:v>
                </c:pt>
                <c:pt idx="23">
                  <c:v>17.156791296666665</c:v>
                </c:pt>
                <c:pt idx="24">
                  <c:v>17.005365076666667</c:v>
                </c:pt>
                <c:pt idx="25">
                  <c:v>16.853938850000002</c:v>
                </c:pt>
                <c:pt idx="26">
                  <c:v>16.664265506666666</c:v>
                </c:pt>
                <c:pt idx="27">
                  <c:v>16.474592153333333</c:v>
                </c:pt>
                <c:pt idx="28">
                  <c:v>16.188813240000002</c:v>
                </c:pt>
                <c:pt idx="29">
                  <c:v>15.903034329999999</c:v>
                </c:pt>
                <c:pt idx="30">
                  <c:v>15.571587940000001</c:v>
                </c:pt>
                <c:pt idx="31">
                  <c:v>15.240141553333336</c:v>
                </c:pt>
                <c:pt idx="32">
                  <c:v>14.092649786666668</c:v>
                </c:pt>
                <c:pt idx="33">
                  <c:v>12.945158026666666</c:v>
                </c:pt>
                <c:pt idx="34">
                  <c:v>11.229297369999999</c:v>
                </c:pt>
                <c:pt idx="35">
                  <c:v>9.513436716666666</c:v>
                </c:pt>
                <c:pt idx="36">
                  <c:v>8.5676513366666658</c:v>
                </c:pt>
                <c:pt idx="37">
                  <c:v>7.6218659600000001</c:v>
                </c:pt>
                <c:pt idx="38">
                  <c:v>7.3047337766666658</c:v>
                </c:pt>
                <c:pt idx="39">
                  <c:v>6.9876015933333342</c:v>
                </c:pt>
                <c:pt idx="40">
                  <c:v>7.5204893200000003</c:v>
                </c:pt>
                <c:pt idx="41">
                  <c:v>8.0533770466666663</c:v>
                </c:pt>
                <c:pt idx="42">
                  <c:v>8.4457828433333333</c:v>
                </c:pt>
                <c:pt idx="43">
                  <c:v>8.8381886499999993</c:v>
                </c:pt>
                <c:pt idx="44">
                  <c:v>9.5268258733333333</c:v>
                </c:pt>
                <c:pt idx="45">
                  <c:v>10.21546309</c:v>
                </c:pt>
                <c:pt idx="46">
                  <c:v>10.622923909999999</c:v>
                </c:pt>
                <c:pt idx="47">
                  <c:v>11.030384726666668</c:v>
                </c:pt>
                <c:pt idx="48">
                  <c:v>11.979530400000002</c:v>
                </c:pt>
              </c:numCache>
            </c:numRef>
          </c:val>
          <c:smooth val="0"/>
          <c:extLst>
            <c:ext xmlns:c16="http://schemas.microsoft.com/office/drawing/2014/chart" uri="{C3380CC4-5D6E-409C-BE32-E72D297353CC}">
              <c16:uniqueId val="{00000000-C6FD-294A-B221-0932E6D0C7E1}"/>
            </c:ext>
          </c:extLst>
        </c:ser>
        <c:ser>
          <c:idx val="1"/>
          <c:order val="1"/>
          <c:tx>
            <c:strRef>
              <c:f>'BEV_PHEV_Profile_kW (Weekday)'!$B$301</c:f>
              <c:strCache>
                <c:ptCount val="1"/>
                <c:pt idx="0">
                  <c:v>Bus</c:v>
                </c:pt>
              </c:strCache>
            </c:strRef>
          </c:tx>
          <c:spPr>
            <a:ln w="28575" cap="rnd">
              <a:solidFill>
                <a:schemeClr val="accent2"/>
              </a:solidFill>
              <a:round/>
            </a:ln>
            <a:effectLst/>
          </c:spPr>
          <c:marker>
            <c:symbol val="none"/>
          </c:marker>
          <c:cat>
            <c:numRef>
              <c:f>'BEV_PHEV_Profile_kW (Weekday)'!$C$299:$AY$299</c:f>
              <c:numCache>
                <c:formatCode>h:mm</c:formatCode>
                <c:ptCount val="49"/>
                <c:pt idx="1">
                  <c:v>0</c:v>
                </c:pt>
                <c:pt idx="2">
                  <c:v>2.0833333333333332E-2</c:v>
                </c:pt>
                <c:pt idx="3">
                  <c:v>4.1666666666666699E-2</c:v>
                </c:pt>
                <c:pt idx="4">
                  <c:v>6.25E-2</c:v>
                </c:pt>
                <c:pt idx="5">
                  <c:v>8.3333333333333301E-2</c:v>
                </c:pt>
                <c:pt idx="6">
                  <c:v>0.104166666666667</c:v>
                </c:pt>
                <c:pt idx="7">
                  <c:v>0.125</c:v>
                </c:pt>
                <c:pt idx="8">
                  <c:v>0.14583333333333301</c:v>
                </c:pt>
                <c:pt idx="9">
                  <c:v>0.16666666666666699</c:v>
                </c:pt>
                <c:pt idx="10">
                  <c:v>0.1875</c:v>
                </c:pt>
                <c:pt idx="11">
                  <c:v>0.20833333333333301</c:v>
                </c:pt>
                <c:pt idx="12">
                  <c:v>0.22916666666666699</c:v>
                </c:pt>
                <c:pt idx="13">
                  <c:v>0.25</c:v>
                </c:pt>
                <c:pt idx="14">
                  <c:v>0.27083333333333298</c:v>
                </c:pt>
                <c:pt idx="15">
                  <c:v>0.29166666666666702</c:v>
                </c:pt>
                <c:pt idx="16">
                  <c:v>0.3125</c:v>
                </c:pt>
                <c:pt idx="17">
                  <c:v>0.33333333333333298</c:v>
                </c:pt>
                <c:pt idx="18">
                  <c:v>0.35416666666666702</c:v>
                </c:pt>
                <c:pt idx="19">
                  <c:v>0.375</c:v>
                </c:pt>
                <c:pt idx="20">
                  <c:v>0.39583333333333298</c:v>
                </c:pt>
                <c:pt idx="21">
                  <c:v>0.41666666666666702</c:v>
                </c:pt>
                <c:pt idx="22">
                  <c:v>0.4375</c:v>
                </c:pt>
                <c:pt idx="23">
                  <c:v>0.45833333333333298</c:v>
                </c:pt>
                <c:pt idx="24">
                  <c:v>0.47916666666666702</c:v>
                </c:pt>
                <c:pt idx="25">
                  <c:v>0.5</c:v>
                </c:pt>
                <c:pt idx="26">
                  <c:v>0.52083333333333304</c:v>
                </c:pt>
                <c:pt idx="27">
                  <c:v>0.54166666666666696</c:v>
                </c:pt>
                <c:pt idx="28">
                  <c:v>0.5625</c:v>
                </c:pt>
                <c:pt idx="29">
                  <c:v>0.58333333333333304</c:v>
                </c:pt>
                <c:pt idx="30">
                  <c:v>0.60416666666666696</c:v>
                </c:pt>
                <c:pt idx="31">
                  <c:v>0.625</c:v>
                </c:pt>
                <c:pt idx="32">
                  <c:v>0.64583333333333304</c:v>
                </c:pt>
                <c:pt idx="33">
                  <c:v>0.66666666666666696</c:v>
                </c:pt>
                <c:pt idx="34">
                  <c:v>0.6875</c:v>
                </c:pt>
                <c:pt idx="35">
                  <c:v>0.70833333333333304</c:v>
                </c:pt>
                <c:pt idx="36">
                  <c:v>0.72916666666666696</c:v>
                </c:pt>
                <c:pt idx="37">
                  <c:v>0.75</c:v>
                </c:pt>
                <c:pt idx="38">
                  <c:v>0.77083333333333304</c:v>
                </c:pt>
                <c:pt idx="39">
                  <c:v>0.79166666666666696</c:v>
                </c:pt>
                <c:pt idx="40">
                  <c:v>0.8125</c:v>
                </c:pt>
                <c:pt idx="41">
                  <c:v>0.83333333333333304</c:v>
                </c:pt>
                <c:pt idx="42">
                  <c:v>0.85416666666666696</c:v>
                </c:pt>
                <c:pt idx="43">
                  <c:v>0.875</c:v>
                </c:pt>
                <c:pt idx="44">
                  <c:v>0.89583333333333304</c:v>
                </c:pt>
                <c:pt idx="45">
                  <c:v>0.91666666666666696</c:v>
                </c:pt>
                <c:pt idx="46">
                  <c:v>0.9375</c:v>
                </c:pt>
                <c:pt idx="47">
                  <c:v>0.95833333333333304</c:v>
                </c:pt>
                <c:pt idx="48">
                  <c:v>0.97916666666666696</c:v>
                </c:pt>
              </c:numCache>
            </c:numRef>
          </c:cat>
          <c:val>
            <c:numRef>
              <c:f>'BEV_PHEV_Profile_kW (Weekday)'!$C$301:$AY$301</c:f>
              <c:numCache>
                <c:formatCode>0.00</c:formatCode>
                <c:ptCount val="49"/>
                <c:pt idx="1">
                  <c:v>2.0236114733333337</c:v>
                </c:pt>
                <c:pt idx="2">
                  <c:v>1.8667255999999999</c:v>
                </c:pt>
                <c:pt idx="3">
                  <c:v>1.7098397266666667</c:v>
                </c:pt>
                <c:pt idx="4">
                  <c:v>1.5150371533333331</c:v>
                </c:pt>
                <c:pt idx="5">
                  <c:v>1.3202345833333331</c:v>
                </c:pt>
                <c:pt idx="6">
                  <c:v>1.1420905466666669</c:v>
                </c:pt>
                <c:pt idx="7">
                  <c:v>0.96394650999999998</c:v>
                </c:pt>
                <c:pt idx="8">
                  <c:v>0.8665979966666667</c:v>
                </c:pt>
                <c:pt idx="9">
                  <c:v>0.76924948000000004</c:v>
                </c:pt>
                <c:pt idx="10">
                  <c:v>0.7289667133333334</c:v>
                </c:pt>
                <c:pt idx="11">
                  <c:v>0.68868393999999988</c:v>
                </c:pt>
                <c:pt idx="12">
                  <c:v>0.72932966999999993</c:v>
                </c:pt>
                <c:pt idx="13">
                  <c:v>0.76997539666666659</c:v>
                </c:pt>
                <c:pt idx="14">
                  <c:v>0.99839510000000009</c:v>
                </c:pt>
                <c:pt idx="15">
                  <c:v>1.2268147999999999</c:v>
                </c:pt>
                <c:pt idx="16">
                  <c:v>1.4340667199999999</c:v>
                </c:pt>
                <c:pt idx="17">
                  <c:v>1.6413186433333333</c:v>
                </c:pt>
                <c:pt idx="18">
                  <c:v>1.8417162066666666</c:v>
                </c:pt>
                <c:pt idx="19">
                  <c:v>2.0421137766666666</c:v>
                </c:pt>
                <c:pt idx="20">
                  <c:v>2.1694782766666667</c:v>
                </c:pt>
                <c:pt idx="21">
                  <c:v>2.29684278</c:v>
                </c:pt>
                <c:pt idx="22">
                  <c:v>2.3641653166666665</c:v>
                </c:pt>
                <c:pt idx="23">
                  <c:v>2.4314878433333331</c:v>
                </c:pt>
                <c:pt idx="24">
                  <c:v>2.4176394499999998</c:v>
                </c:pt>
                <c:pt idx="25">
                  <c:v>2.4037910500000002</c:v>
                </c:pt>
                <c:pt idx="26">
                  <c:v>2.3253097700000001</c:v>
                </c:pt>
                <c:pt idx="27">
                  <c:v>2.2468284833333332</c:v>
                </c:pt>
                <c:pt idx="28">
                  <c:v>2.1390494933333333</c:v>
                </c:pt>
                <c:pt idx="29">
                  <c:v>2.0312705033333334</c:v>
                </c:pt>
                <c:pt idx="30">
                  <c:v>1.9330554866666667</c:v>
                </c:pt>
                <c:pt idx="31">
                  <c:v>1.8348404700000003</c:v>
                </c:pt>
                <c:pt idx="32">
                  <c:v>1.6646858200000001</c:v>
                </c:pt>
                <c:pt idx="33">
                  <c:v>1.4945311733333331</c:v>
                </c:pt>
                <c:pt idx="34">
                  <c:v>1.2868460766666665</c:v>
                </c:pt>
                <c:pt idx="35">
                  <c:v>1.0791609833333333</c:v>
                </c:pt>
                <c:pt idx="36">
                  <c:v>1.0481231766666668</c:v>
                </c:pt>
                <c:pt idx="37">
                  <c:v>1.01708537</c:v>
                </c:pt>
                <c:pt idx="38">
                  <c:v>1.2700000166666667</c:v>
                </c:pt>
                <c:pt idx="39">
                  <c:v>1.5229146599999999</c:v>
                </c:pt>
                <c:pt idx="40">
                  <c:v>1.8337103633333334</c:v>
                </c:pt>
                <c:pt idx="41">
                  <c:v>2.1445060633333335</c:v>
                </c:pt>
                <c:pt idx="42">
                  <c:v>2.2696595233333334</c:v>
                </c:pt>
                <c:pt idx="43">
                  <c:v>2.3948129866666665</c:v>
                </c:pt>
                <c:pt idx="44">
                  <c:v>2.3971333333333331</c:v>
                </c:pt>
                <c:pt idx="45">
                  <c:v>2.3994536866666665</c:v>
                </c:pt>
                <c:pt idx="46">
                  <c:v>2.2690155833333332</c:v>
                </c:pt>
                <c:pt idx="47">
                  <c:v>2.1385774866666662</c:v>
                </c:pt>
                <c:pt idx="48">
                  <c:v>2.0810944766666668</c:v>
                </c:pt>
              </c:numCache>
            </c:numRef>
          </c:val>
          <c:smooth val="0"/>
          <c:extLst>
            <c:ext xmlns:c16="http://schemas.microsoft.com/office/drawing/2014/chart" uri="{C3380CC4-5D6E-409C-BE32-E72D297353CC}">
              <c16:uniqueId val="{00000001-C6FD-294A-B221-0932E6D0C7E1}"/>
            </c:ext>
          </c:extLst>
        </c:ser>
        <c:ser>
          <c:idx val="2"/>
          <c:order val="2"/>
          <c:tx>
            <c:strRef>
              <c:f>'BEV_PHEV_Profile_kW (Weekday)'!$B$302</c:f>
              <c:strCache>
                <c:ptCount val="1"/>
                <c:pt idx="0">
                  <c:v>Large Light Commercial</c:v>
                </c:pt>
              </c:strCache>
            </c:strRef>
          </c:tx>
          <c:spPr>
            <a:ln w="28575" cap="rnd">
              <a:solidFill>
                <a:schemeClr val="accent3"/>
              </a:solidFill>
              <a:round/>
            </a:ln>
            <a:effectLst/>
          </c:spPr>
          <c:marker>
            <c:symbol val="none"/>
          </c:marker>
          <c:cat>
            <c:numRef>
              <c:f>'BEV_PHEV_Profile_kW (Weekday)'!$C$299:$AY$299</c:f>
              <c:numCache>
                <c:formatCode>h:mm</c:formatCode>
                <c:ptCount val="49"/>
                <c:pt idx="1">
                  <c:v>0</c:v>
                </c:pt>
                <c:pt idx="2">
                  <c:v>2.0833333333333332E-2</c:v>
                </c:pt>
                <c:pt idx="3">
                  <c:v>4.1666666666666699E-2</c:v>
                </c:pt>
                <c:pt idx="4">
                  <c:v>6.25E-2</c:v>
                </c:pt>
                <c:pt idx="5">
                  <c:v>8.3333333333333301E-2</c:v>
                </c:pt>
                <c:pt idx="6">
                  <c:v>0.104166666666667</c:v>
                </c:pt>
                <c:pt idx="7">
                  <c:v>0.125</c:v>
                </c:pt>
                <c:pt idx="8">
                  <c:v>0.14583333333333301</c:v>
                </c:pt>
                <c:pt idx="9">
                  <c:v>0.16666666666666699</c:v>
                </c:pt>
                <c:pt idx="10">
                  <c:v>0.1875</c:v>
                </c:pt>
                <c:pt idx="11">
                  <c:v>0.20833333333333301</c:v>
                </c:pt>
                <c:pt idx="12">
                  <c:v>0.22916666666666699</c:v>
                </c:pt>
                <c:pt idx="13">
                  <c:v>0.25</c:v>
                </c:pt>
                <c:pt idx="14">
                  <c:v>0.27083333333333298</c:v>
                </c:pt>
                <c:pt idx="15">
                  <c:v>0.29166666666666702</c:v>
                </c:pt>
                <c:pt idx="16">
                  <c:v>0.3125</c:v>
                </c:pt>
                <c:pt idx="17">
                  <c:v>0.33333333333333298</c:v>
                </c:pt>
                <c:pt idx="18">
                  <c:v>0.35416666666666702</c:v>
                </c:pt>
                <c:pt idx="19">
                  <c:v>0.375</c:v>
                </c:pt>
                <c:pt idx="20">
                  <c:v>0.39583333333333298</c:v>
                </c:pt>
                <c:pt idx="21">
                  <c:v>0.41666666666666702</c:v>
                </c:pt>
                <c:pt idx="22">
                  <c:v>0.4375</c:v>
                </c:pt>
                <c:pt idx="23">
                  <c:v>0.45833333333333298</c:v>
                </c:pt>
                <c:pt idx="24">
                  <c:v>0.47916666666666702</c:v>
                </c:pt>
                <c:pt idx="25">
                  <c:v>0.5</c:v>
                </c:pt>
                <c:pt idx="26">
                  <c:v>0.52083333333333304</c:v>
                </c:pt>
                <c:pt idx="27">
                  <c:v>0.54166666666666696</c:v>
                </c:pt>
                <c:pt idx="28">
                  <c:v>0.5625</c:v>
                </c:pt>
                <c:pt idx="29">
                  <c:v>0.58333333333333304</c:v>
                </c:pt>
                <c:pt idx="30">
                  <c:v>0.60416666666666696</c:v>
                </c:pt>
                <c:pt idx="31">
                  <c:v>0.625</c:v>
                </c:pt>
                <c:pt idx="32">
                  <c:v>0.64583333333333304</c:v>
                </c:pt>
                <c:pt idx="33">
                  <c:v>0.66666666666666696</c:v>
                </c:pt>
                <c:pt idx="34">
                  <c:v>0.6875</c:v>
                </c:pt>
                <c:pt idx="35">
                  <c:v>0.70833333333333304</c:v>
                </c:pt>
                <c:pt idx="36">
                  <c:v>0.72916666666666696</c:v>
                </c:pt>
                <c:pt idx="37">
                  <c:v>0.75</c:v>
                </c:pt>
                <c:pt idx="38">
                  <c:v>0.77083333333333304</c:v>
                </c:pt>
                <c:pt idx="39">
                  <c:v>0.79166666666666696</c:v>
                </c:pt>
                <c:pt idx="40">
                  <c:v>0.8125</c:v>
                </c:pt>
                <c:pt idx="41">
                  <c:v>0.83333333333333304</c:v>
                </c:pt>
                <c:pt idx="42">
                  <c:v>0.85416666666666696</c:v>
                </c:pt>
                <c:pt idx="43">
                  <c:v>0.875</c:v>
                </c:pt>
                <c:pt idx="44">
                  <c:v>0.89583333333333304</c:v>
                </c:pt>
                <c:pt idx="45">
                  <c:v>0.91666666666666696</c:v>
                </c:pt>
                <c:pt idx="46">
                  <c:v>0.9375</c:v>
                </c:pt>
                <c:pt idx="47">
                  <c:v>0.95833333333333304</c:v>
                </c:pt>
                <c:pt idx="48">
                  <c:v>0.97916666666666696</c:v>
                </c:pt>
              </c:numCache>
            </c:numRef>
          </c:cat>
          <c:val>
            <c:numRef>
              <c:f>'BEV_PHEV_Profile_kW (Weekday)'!$C$302:$AY$302</c:f>
              <c:numCache>
                <c:formatCode>0.00</c:formatCode>
                <c:ptCount val="49"/>
                <c:pt idx="1">
                  <c:v>0.36688208</c:v>
                </c:pt>
                <c:pt idx="2">
                  <c:v>0.34450254499999999</c:v>
                </c:pt>
                <c:pt idx="3">
                  <c:v>0.3221230075</c:v>
                </c:pt>
                <c:pt idx="4">
                  <c:v>0.29431310500000002</c:v>
                </c:pt>
                <c:pt idx="5">
                  <c:v>0.26650320250000004</c:v>
                </c:pt>
                <c:pt idx="6">
                  <c:v>0.23727096750000001</c:v>
                </c:pt>
                <c:pt idx="7">
                  <c:v>0.20803873250000002</c:v>
                </c:pt>
                <c:pt idx="8">
                  <c:v>0.184202</c:v>
                </c:pt>
                <c:pt idx="9">
                  <c:v>0.16036526499999998</c:v>
                </c:pt>
                <c:pt idx="10">
                  <c:v>0.149061425</c:v>
                </c:pt>
                <c:pt idx="11">
                  <c:v>0.13775758500000002</c:v>
                </c:pt>
                <c:pt idx="12">
                  <c:v>0.1519874075</c:v>
                </c:pt>
                <c:pt idx="13">
                  <c:v>0.1662172375</c:v>
                </c:pt>
                <c:pt idx="14">
                  <c:v>0.215229685</c:v>
                </c:pt>
                <c:pt idx="15">
                  <c:v>0.2642421325</c:v>
                </c:pt>
                <c:pt idx="16">
                  <c:v>0.31704409750000001</c:v>
                </c:pt>
                <c:pt idx="17">
                  <c:v>0.36984605500000001</c:v>
                </c:pt>
                <c:pt idx="18">
                  <c:v>0.42474133999999997</c:v>
                </c:pt>
                <c:pt idx="19">
                  <c:v>0.47963662499999998</c:v>
                </c:pt>
                <c:pt idx="20">
                  <c:v>0.52129437249999999</c:v>
                </c:pt>
                <c:pt idx="21">
                  <c:v>0.56295211999999994</c:v>
                </c:pt>
                <c:pt idx="22">
                  <c:v>0.58833486749999997</c:v>
                </c:pt>
                <c:pt idx="23">
                  <c:v>0.61371762000000007</c:v>
                </c:pt>
                <c:pt idx="24">
                  <c:v>0.61876287750000003</c:v>
                </c:pt>
                <c:pt idx="25">
                  <c:v>0.6238081325</c:v>
                </c:pt>
                <c:pt idx="26">
                  <c:v>0.61453167750000004</c:v>
                </c:pt>
                <c:pt idx="27">
                  <c:v>0.60525522500000006</c:v>
                </c:pt>
                <c:pt idx="28">
                  <c:v>0.5929879575</c:v>
                </c:pt>
                <c:pt idx="29">
                  <c:v>0.5807206949999999</c:v>
                </c:pt>
                <c:pt idx="30">
                  <c:v>0.56596508500000009</c:v>
                </c:pt>
                <c:pt idx="31">
                  <c:v>0.55120948000000003</c:v>
                </c:pt>
                <c:pt idx="32">
                  <c:v>0.5219053025</c:v>
                </c:pt>
                <c:pt idx="33">
                  <c:v>0.49260112500000003</c:v>
                </c:pt>
                <c:pt idx="34">
                  <c:v>0.44647106999999997</c:v>
                </c:pt>
                <c:pt idx="35">
                  <c:v>0.40034101499999997</c:v>
                </c:pt>
                <c:pt idx="36">
                  <c:v>0.37405302500000004</c:v>
                </c:pt>
                <c:pt idx="37">
                  <c:v>0.34776503000000003</c:v>
                </c:pt>
                <c:pt idx="38">
                  <c:v>0.33575356000000001</c:v>
                </c:pt>
                <c:pt idx="39">
                  <c:v>0.32374209000000004</c:v>
                </c:pt>
                <c:pt idx="40">
                  <c:v>0.33640856499999999</c:v>
                </c:pt>
                <c:pt idx="41">
                  <c:v>0.34907503499999998</c:v>
                </c:pt>
                <c:pt idx="42">
                  <c:v>0.35753095749999997</c:v>
                </c:pt>
                <c:pt idx="43">
                  <c:v>0.3659868825</c:v>
                </c:pt>
                <c:pt idx="44">
                  <c:v>0.37920728500000001</c:v>
                </c:pt>
                <c:pt idx="45">
                  <c:v>0.39242769499999997</c:v>
                </c:pt>
                <c:pt idx="46">
                  <c:v>0.39052267249999995</c:v>
                </c:pt>
                <c:pt idx="47">
                  <c:v>0.38861765250000002</c:v>
                </c:pt>
                <c:pt idx="48">
                  <c:v>0.37774986500000002</c:v>
                </c:pt>
              </c:numCache>
            </c:numRef>
          </c:val>
          <c:smooth val="0"/>
          <c:extLst>
            <c:ext xmlns:c16="http://schemas.microsoft.com/office/drawing/2014/chart" uri="{C3380CC4-5D6E-409C-BE32-E72D297353CC}">
              <c16:uniqueId val="{00000002-C6FD-294A-B221-0932E6D0C7E1}"/>
            </c:ext>
          </c:extLst>
        </c:ser>
        <c:ser>
          <c:idx val="3"/>
          <c:order val="3"/>
          <c:tx>
            <c:strRef>
              <c:f>'BEV_PHEV_Profile_kW (Weekday)'!$B$303</c:f>
              <c:strCache>
                <c:ptCount val="1"/>
                <c:pt idx="0">
                  <c:v>Large Residential</c:v>
                </c:pt>
              </c:strCache>
            </c:strRef>
          </c:tx>
          <c:spPr>
            <a:ln w="28575" cap="rnd">
              <a:solidFill>
                <a:schemeClr val="accent4"/>
              </a:solidFill>
              <a:round/>
            </a:ln>
            <a:effectLst/>
          </c:spPr>
          <c:marker>
            <c:symbol val="none"/>
          </c:marker>
          <c:cat>
            <c:numRef>
              <c:f>'BEV_PHEV_Profile_kW (Weekday)'!$C$299:$AY$299</c:f>
              <c:numCache>
                <c:formatCode>h:mm</c:formatCode>
                <c:ptCount val="49"/>
                <c:pt idx="1">
                  <c:v>0</c:v>
                </c:pt>
                <c:pt idx="2">
                  <c:v>2.0833333333333332E-2</c:v>
                </c:pt>
                <c:pt idx="3">
                  <c:v>4.1666666666666699E-2</c:v>
                </c:pt>
                <c:pt idx="4">
                  <c:v>6.25E-2</c:v>
                </c:pt>
                <c:pt idx="5">
                  <c:v>8.3333333333333301E-2</c:v>
                </c:pt>
                <c:pt idx="6">
                  <c:v>0.104166666666667</c:v>
                </c:pt>
                <c:pt idx="7">
                  <c:v>0.125</c:v>
                </c:pt>
                <c:pt idx="8">
                  <c:v>0.14583333333333301</c:v>
                </c:pt>
                <c:pt idx="9">
                  <c:v>0.16666666666666699</c:v>
                </c:pt>
                <c:pt idx="10">
                  <c:v>0.1875</c:v>
                </c:pt>
                <c:pt idx="11">
                  <c:v>0.20833333333333301</c:v>
                </c:pt>
                <c:pt idx="12">
                  <c:v>0.22916666666666699</c:v>
                </c:pt>
                <c:pt idx="13">
                  <c:v>0.25</c:v>
                </c:pt>
                <c:pt idx="14">
                  <c:v>0.27083333333333298</c:v>
                </c:pt>
                <c:pt idx="15">
                  <c:v>0.29166666666666702</c:v>
                </c:pt>
                <c:pt idx="16">
                  <c:v>0.3125</c:v>
                </c:pt>
                <c:pt idx="17">
                  <c:v>0.33333333333333298</c:v>
                </c:pt>
                <c:pt idx="18">
                  <c:v>0.35416666666666702</c:v>
                </c:pt>
                <c:pt idx="19">
                  <c:v>0.375</c:v>
                </c:pt>
                <c:pt idx="20">
                  <c:v>0.39583333333333298</c:v>
                </c:pt>
                <c:pt idx="21">
                  <c:v>0.41666666666666702</c:v>
                </c:pt>
                <c:pt idx="22">
                  <c:v>0.4375</c:v>
                </c:pt>
                <c:pt idx="23">
                  <c:v>0.45833333333333298</c:v>
                </c:pt>
                <c:pt idx="24">
                  <c:v>0.47916666666666702</c:v>
                </c:pt>
                <c:pt idx="25">
                  <c:v>0.5</c:v>
                </c:pt>
                <c:pt idx="26">
                  <c:v>0.52083333333333304</c:v>
                </c:pt>
                <c:pt idx="27">
                  <c:v>0.54166666666666696</c:v>
                </c:pt>
                <c:pt idx="28">
                  <c:v>0.5625</c:v>
                </c:pt>
                <c:pt idx="29">
                  <c:v>0.58333333333333304</c:v>
                </c:pt>
                <c:pt idx="30">
                  <c:v>0.60416666666666696</c:v>
                </c:pt>
                <c:pt idx="31">
                  <c:v>0.625</c:v>
                </c:pt>
                <c:pt idx="32">
                  <c:v>0.64583333333333304</c:v>
                </c:pt>
                <c:pt idx="33">
                  <c:v>0.66666666666666696</c:v>
                </c:pt>
                <c:pt idx="34">
                  <c:v>0.6875</c:v>
                </c:pt>
                <c:pt idx="35">
                  <c:v>0.70833333333333304</c:v>
                </c:pt>
                <c:pt idx="36">
                  <c:v>0.72916666666666696</c:v>
                </c:pt>
                <c:pt idx="37">
                  <c:v>0.75</c:v>
                </c:pt>
                <c:pt idx="38">
                  <c:v>0.77083333333333304</c:v>
                </c:pt>
                <c:pt idx="39">
                  <c:v>0.79166666666666696</c:v>
                </c:pt>
                <c:pt idx="40">
                  <c:v>0.8125</c:v>
                </c:pt>
                <c:pt idx="41">
                  <c:v>0.83333333333333304</c:v>
                </c:pt>
                <c:pt idx="42">
                  <c:v>0.85416666666666696</c:v>
                </c:pt>
                <c:pt idx="43">
                  <c:v>0.875</c:v>
                </c:pt>
                <c:pt idx="44">
                  <c:v>0.89583333333333304</c:v>
                </c:pt>
                <c:pt idx="45">
                  <c:v>0.91666666666666696</c:v>
                </c:pt>
                <c:pt idx="46">
                  <c:v>0.9375</c:v>
                </c:pt>
                <c:pt idx="47">
                  <c:v>0.95833333333333304</c:v>
                </c:pt>
                <c:pt idx="48">
                  <c:v>0.97916666666666696</c:v>
                </c:pt>
              </c:numCache>
            </c:numRef>
          </c:cat>
          <c:val>
            <c:numRef>
              <c:f>'BEV_PHEV_Profile_kW (Weekday)'!$C$303:$AY$303</c:f>
              <c:numCache>
                <c:formatCode>0.00</c:formatCode>
                <c:ptCount val="49"/>
                <c:pt idx="1">
                  <c:v>0.27866212833333331</c:v>
                </c:pt>
                <c:pt idx="2">
                  <c:v>0.26218521</c:v>
                </c:pt>
                <c:pt idx="3">
                  <c:v>0.24570828833333336</c:v>
                </c:pt>
                <c:pt idx="4">
                  <c:v>0.22286486166666664</c:v>
                </c:pt>
                <c:pt idx="5">
                  <c:v>0.20002143333333333</c:v>
                </c:pt>
                <c:pt idx="6">
                  <c:v>0.17591479833333334</c:v>
                </c:pt>
                <c:pt idx="7">
                  <c:v>0.15180816666666666</c:v>
                </c:pt>
                <c:pt idx="8">
                  <c:v>0.13100973333333332</c:v>
                </c:pt>
                <c:pt idx="9">
                  <c:v>0.11021129833333333</c:v>
                </c:pt>
                <c:pt idx="10">
                  <c:v>9.7930436666666676E-2</c:v>
                </c:pt>
                <c:pt idx="11">
                  <c:v>8.5649566666666663E-2</c:v>
                </c:pt>
                <c:pt idx="12">
                  <c:v>8.9971335E-2</c:v>
                </c:pt>
                <c:pt idx="13">
                  <c:v>9.4293098333333339E-2</c:v>
                </c:pt>
                <c:pt idx="14">
                  <c:v>0.13255458666666667</c:v>
                </c:pt>
                <c:pt idx="15">
                  <c:v>0.17081607499999998</c:v>
                </c:pt>
                <c:pt idx="16">
                  <c:v>0.20422115333333335</c:v>
                </c:pt>
                <c:pt idx="17">
                  <c:v>0.23762622999999997</c:v>
                </c:pt>
                <c:pt idx="18">
                  <c:v>0.27631236666666664</c:v>
                </c:pt>
                <c:pt idx="19">
                  <c:v>0.31499850333333335</c:v>
                </c:pt>
                <c:pt idx="20">
                  <c:v>0.34872557166666668</c:v>
                </c:pt>
                <c:pt idx="21">
                  <c:v>0.38245263499999999</c:v>
                </c:pt>
                <c:pt idx="22">
                  <c:v>0.40384843999999998</c:v>
                </c:pt>
                <c:pt idx="23">
                  <c:v>0.42524424333333338</c:v>
                </c:pt>
                <c:pt idx="24">
                  <c:v>0.42858690166666663</c:v>
                </c:pt>
                <c:pt idx="25">
                  <c:v>0.43192955999999999</c:v>
                </c:pt>
                <c:pt idx="26">
                  <c:v>0.42214992666666662</c:v>
                </c:pt>
                <c:pt idx="27">
                  <c:v>0.4123702933333333</c:v>
                </c:pt>
                <c:pt idx="28">
                  <c:v>0.39687647000000004</c:v>
                </c:pt>
                <c:pt idx="29">
                  <c:v>0.38138264999999999</c:v>
                </c:pt>
                <c:pt idx="30">
                  <c:v>0.36610167333333338</c:v>
                </c:pt>
                <c:pt idx="31">
                  <c:v>0.35082070166666668</c:v>
                </c:pt>
                <c:pt idx="32">
                  <c:v>0.31999362166666673</c:v>
                </c:pt>
                <c:pt idx="33">
                  <c:v>0.28916654000000003</c:v>
                </c:pt>
                <c:pt idx="34">
                  <c:v>0.2492552166666667</c:v>
                </c:pt>
                <c:pt idx="35">
                  <c:v>0.20934389500000003</c:v>
                </c:pt>
                <c:pt idx="36">
                  <c:v>0.20088242499999995</c:v>
                </c:pt>
                <c:pt idx="37">
                  <c:v>0.192420955</c:v>
                </c:pt>
                <c:pt idx="38">
                  <c:v>0.19223968166666669</c:v>
                </c:pt>
                <c:pt idx="39">
                  <c:v>0.19205841333333337</c:v>
                </c:pt>
                <c:pt idx="40">
                  <c:v>0.21239369333333333</c:v>
                </c:pt>
                <c:pt idx="41">
                  <c:v>0.23272896666666665</c:v>
                </c:pt>
                <c:pt idx="42">
                  <c:v>0.2477104916666667</c:v>
                </c:pt>
                <c:pt idx="43">
                  <c:v>0.262692015</c:v>
                </c:pt>
                <c:pt idx="44">
                  <c:v>0.27715398666666663</c:v>
                </c:pt>
                <c:pt idx="45">
                  <c:v>0.29161595166666671</c:v>
                </c:pt>
                <c:pt idx="46">
                  <c:v>0.29295620500000003</c:v>
                </c:pt>
                <c:pt idx="47">
                  <c:v>0.29429645333333332</c:v>
                </c:pt>
                <c:pt idx="48">
                  <c:v>0.28647929500000002</c:v>
                </c:pt>
              </c:numCache>
            </c:numRef>
          </c:val>
          <c:smooth val="0"/>
          <c:extLst>
            <c:ext xmlns:c16="http://schemas.microsoft.com/office/drawing/2014/chart" uri="{C3380CC4-5D6E-409C-BE32-E72D297353CC}">
              <c16:uniqueId val="{00000003-C6FD-294A-B221-0932E6D0C7E1}"/>
            </c:ext>
          </c:extLst>
        </c:ser>
        <c:ser>
          <c:idx val="4"/>
          <c:order val="4"/>
          <c:tx>
            <c:strRef>
              <c:f>'BEV_PHEV_Profile_kW (Weekday)'!$B$304</c:f>
              <c:strCache>
                <c:ptCount val="1"/>
                <c:pt idx="0">
                  <c:v>Medium Light Commercial</c:v>
                </c:pt>
              </c:strCache>
            </c:strRef>
          </c:tx>
          <c:spPr>
            <a:ln w="28575" cap="rnd">
              <a:solidFill>
                <a:schemeClr val="accent5"/>
              </a:solidFill>
              <a:round/>
            </a:ln>
            <a:effectLst/>
          </c:spPr>
          <c:marker>
            <c:symbol val="none"/>
          </c:marker>
          <c:cat>
            <c:numRef>
              <c:f>'BEV_PHEV_Profile_kW (Weekday)'!$C$299:$AY$299</c:f>
              <c:numCache>
                <c:formatCode>h:mm</c:formatCode>
                <c:ptCount val="49"/>
                <c:pt idx="1">
                  <c:v>0</c:v>
                </c:pt>
                <c:pt idx="2">
                  <c:v>2.0833333333333332E-2</c:v>
                </c:pt>
                <c:pt idx="3">
                  <c:v>4.1666666666666699E-2</c:v>
                </c:pt>
                <c:pt idx="4">
                  <c:v>6.25E-2</c:v>
                </c:pt>
                <c:pt idx="5">
                  <c:v>8.3333333333333301E-2</c:v>
                </c:pt>
                <c:pt idx="6">
                  <c:v>0.104166666666667</c:v>
                </c:pt>
                <c:pt idx="7">
                  <c:v>0.125</c:v>
                </c:pt>
                <c:pt idx="8">
                  <c:v>0.14583333333333301</c:v>
                </c:pt>
                <c:pt idx="9">
                  <c:v>0.16666666666666699</c:v>
                </c:pt>
                <c:pt idx="10">
                  <c:v>0.1875</c:v>
                </c:pt>
                <c:pt idx="11">
                  <c:v>0.20833333333333301</c:v>
                </c:pt>
                <c:pt idx="12">
                  <c:v>0.22916666666666699</c:v>
                </c:pt>
                <c:pt idx="13">
                  <c:v>0.25</c:v>
                </c:pt>
                <c:pt idx="14">
                  <c:v>0.27083333333333298</c:v>
                </c:pt>
                <c:pt idx="15">
                  <c:v>0.29166666666666702</c:v>
                </c:pt>
                <c:pt idx="16">
                  <c:v>0.3125</c:v>
                </c:pt>
                <c:pt idx="17">
                  <c:v>0.33333333333333298</c:v>
                </c:pt>
                <c:pt idx="18">
                  <c:v>0.35416666666666702</c:v>
                </c:pt>
                <c:pt idx="19">
                  <c:v>0.375</c:v>
                </c:pt>
                <c:pt idx="20">
                  <c:v>0.39583333333333298</c:v>
                </c:pt>
                <c:pt idx="21">
                  <c:v>0.41666666666666702</c:v>
                </c:pt>
                <c:pt idx="22">
                  <c:v>0.4375</c:v>
                </c:pt>
                <c:pt idx="23">
                  <c:v>0.45833333333333298</c:v>
                </c:pt>
                <c:pt idx="24">
                  <c:v>0.47916666666666702</c:v>
                </c:pt>
                <c:pt idx="25">
                  <c:v>0.5</c:v>
                </c:pt>
                <c:pt idx="26">
                  <c:v>0.52083333333333304</c:v>
                </c:pt>
                <c:pt idx="27">
                  <c:v>0.54166666666666696</c:v>
                </c:pt>
                <c:pt idx="28">
                  <c:v>0.5625</c:v>
                </c:pt>
                <c:pt idx="29">
                  <c:v>0.58333333333333304</c:v>
                </c:pt>
                <c:pt idx="30">
                  <c:v>0.60416666666666696</c:v>
                </c:pt>
                <c:pt idx="31">
                  <c:v>0.625</c:v>
                </c:pt>
                <c:pt idx="32">
                  <c:v>0.64583333333333304</c:v>
                </c:pt>
                <c:pt idx="33">
                  <c:v>0.66666666666666696</c:v>
                </c:pt>
                <c:pt idx="34">
                  <c:v>0.6875</c:v>
                </c:pt>
                <c:pt idx="35">
                  <c:v>0.70833333333333304</c:v>
                </c:pt>
                <c:pt idx="36">
                  <c:v>0.72916666666666696</c:v>
                </c:pt>
                <c:pt idx="37">
                  <c:v>0.75</c:v>
                </c:pt>
                <c:pt idx="38">
                  <c:v>0.77083333333333304</c:v>
                </c:pt>
                <c:pt idx="39">
                  <c:v>0.79166666666666696</c:v>
                </c:pt>
                <c:pt idx="40">
                  <c:v>0.8125</c:v>
                </c:pt>
                <c:pt idx="41">
                  <c:v>0.83333333333333304</c:v>
                </c:pt>
                <c:pt idx="42">
                  <c:v>0.85416666666666696</c:v>
                </c:pt>
                <c:pt idx="43">
                  <c:v>0.875</c:v>
                </c:pt>
                <c:pt idx="44">
                  <c:v>0.89583333333333304</c:v>
                </c:pt>
                <c:pt idx="45">
                  <c:v>0.91666666666666696</c:v>
                </c:pt>
                <c:pt idx="46">
                  <c:v>0.9375</c:v>
                </c:pt>
                <c:pt idx="47">
                  <c:v>0.95833333333333304</c:v>
                </c:pt>
                <c:pt idx="48">
                  <c:v>0.97916666666666696</c:v>
                </c:pt>
              </c:numCache>
            </c:numRef>
          </c:cat>
          <c:val>
            <c:numRef>
              <c:f>'BEV_PHEV_Profile_kW (Weekday)'!$C$304:$AY$304</c:f>
              <c:numCache>
                <c:formatCode>0.00</c:formatCode>
                <c:ptCount val="49"/>
                <c:pt idx="1">
                  <c:v>0.277230425</c:v>
                </c:pt>
                <c:pt idx="2">
                  <c:v>0.26031957250000004</c:v>
                </c:pt>
                <c:pt idx="3">
                  <c:v>0.24340872250000001</c:v>
                </c:pt>
                <c:pt idx="4">
                  <c:v>0.22239447249999997</c:v>
                </c:pt>
                <c:pt idx="5">
                  <c:v>0.20138022500000002</c:v>
                </c:pt>
                <c:pt idx="6">
                  <c:v>0.17929120499999998</c:v>
                </c:pt>
                <c:pt idx="7">
                  <c:v>0.15720218750000001</c:v>
                </c:pt>
                <c:pt idx="8">
                  <c:v>0.13919022</c:v>
                </c:pt>
                <c:pt idx="9">
                  <c:v>0.121178255</c:v>
                </c:pt>
                <c:pt idx="10">
                  <c:v>0.11263663250000001</c:v>
                </c:pt>
                <c:pt idx="11">
                  <c:v>0.10409500999999999</c:v>
                </c:pt>
                <c:pt idx="12">
                  <c:v>0.11484762</c:v>
                </c:pt>
                <c:pt idx="13">
                  <c:v>0.125600235</c:v>
                </c:pt>
                <c:pt idx="14">
                  <c:v>0.16263595250000001</c:v>
                </c:pt>
                <c:pt idx="15">
                  <c:v>0.19967167499999999</c:v>
                </c:pt>
                <c:pt idx="16">
                  <c:v>0.2395709</c:v>
                </c:pt>
                <c:pt idx="17">
                  <c:v>0.27947012000000004</c:v>
                </c:pt>
                <c:pt idx="18">
                  <c:v>0.32095114000000002</c:v>
                </c:pt>
                <c:pt idx="19">
                  <c:v>0.36243216</c:v>
                </c:pt>
                <c:pt idx="20">
                  <c:v>0.39391038250000004</c:v>
                </c:pt>
                <c:pt idx="21">
                  <c:v>0.42538860000000001</c:v>
                </c:pt>
                <c:pt idx="22">
                  <c:v>0.44456879999999999</c:v>
                </c:pt>
                <c:pt idx="23">
                  <c:v>0.463748995</c:v>
                </c:pt>
                <c:pt idx="24">
                  <c:v>0.46756138750000004</c:v>
                </c:pt>
                <c:pt idx="25">
                  <c:v>0.47137378000000002</c:v>
                </c:pt>
                <c:pt idx="26">
                  <c:v>0.4643641275</c:v>
                </c:pt>
                <c:pt idx="27">
                  <c:v>0.45735448000000001</c:v>
                </c:pt>
                <c:pt idx="28">
                  <c:v>0.448084855</c:v>
                </c:pt>
                <c:pt idx="29">
                  <c:v>0.43881523</c:v>
                </c:pt>
                <c:pt idx="30">
                  <c:v>0.42766531749999998</c:v>
                </c:pt>
                <c:pt idx="31">
                  <c:v>0.41651540500000001</c:v>
                </c:pt>
                <c:pt idx="32">
                  <c:v>0.39437202500000001</c:v>
                </c:pt>
                <c:pt idx="33">
                  <c:v>0.37222864249999998</c:v>
                </c:pt>
                <c:pt idx="34">
                  <c:v>0.33737097249999998</c:v>
                </c:pt>
                <c:pt idx="35">
                  <c:v>0.30251330499999995</c:v>
                </c:pt>
                <c:pt idx="36">
                  <c:v>0.28264906999999995</c:v>
                </c:pt>
                <c:pt idx="37">
                  <c:v>0.26278483499999999</c:v>
                </c:pt>
                <c:pt idx="38">
                  <c:v>0.2537085</c:v>
                </c:pt>
                <c:pt idx="39">
                  <c:v>0.24463216500000001</c:v>
                </c:pt>
                <c:pt idx="40">
                  <c:v>0.25420344500000003</c:v>
                </c:pt>
                <c:pt idx="41">
                  <c:v>0.26377472750000003</c:v>
                </c:pt>
                <c:pt idx="42">
                  <c:v>0.27016435</c:v>
                </c:pt>
                <c:pt idx="43">
                  <c:v>0.27655397500000001</c:v>
                </c:pt>
                <c:pt idx="44">
                  <c:v>0.28654383249999998</c:v>
                </c:pt>
                <c:pt idx="45">
                  <c:v>0.29653368499999999</c:v>
                </c:pt>
                <c:pt idx="46">
                  <c:v>0.29509417500000001</c:v>
                </c:pt>
                <c:pt idx="47">
                  <c:v>0.29365467000000001</c:v>
                </c:pt>
                <c:pt idx="48">
                  <c:v>0.28544254749999998</c:v>
                </c:pt>
              </c:numCache>
            </c:numRef>
          </c:val>
          <c:smooth val="0"/>
          <c:extLst>
            <c:ext xmlns:c16="http://schemas.microsoft.com/office/drawing/2014/chart" uri="{C3380CC4-5D6E-409C-BE32-E72D297353CC}">
              <c16:uniqueId val="{00000004-C6FD-294A-B221-0932E6D0C7E1}"/>
            </c:ext>
          </c:extLst>
        </c:ser>
        <c:ser>
          <c:idx val="5"/>
          <c:order val="5"/>
          <c:tx>
            <c:strRef>
              <c:f>'BEV_PHEV_Profile_kW (Weekday)'!$B$305</c:f>
              <c:strCache>
                <c:ptCount val="1"/>
                <c:pt idx="0">
                  <c:v>Medium Residential</c:v>
                </c:pt>
              </c:strCache>
            </c:strRef>
          </c:tx>
          <c:spPr>
            <a:ln w="28575" cap="rnd">
              <a:solidFill>
                <a:schemeClr val="accent6"/>
              </a:solidFill>
              <a:round/>
            </a:ln>
            <a:effectLst/>
          </c:spPr>
          <c:marker>
            <c:symbol val="none"/>
          </c:marker>
          <c:cat>
            <c:numRef>
              <c:f>'BEV_PHEV_Profile_kW (Weekday)'!$C$299:$AY$299</c:f>
              <c:numCache>
                <c:formatCode>h:mm</c:formatCode>
                <c:ptCount val="49"/>
                <c:pt idx="1">
                  <c:v>0</c:v>
                </c:pt>
                <c:pt idx="2">
                  <c:v>2.0833333333333332E-2</c:v>
                </c:pt>
                <c:pt idx="3">
                  <c:v>4.1666666666666699E-2</c:v>
                </c:pt>
                <c:pt idx="4">
                  <c:v>6.25E-2</c:v>
                </c:pt>
                <c:pt idx="5">
                  <c:v>8.3333333333333301E-2</c:v>
                </c:pt>
                <c:pt idx="6">
                  <c:v>0.104166666666667</c:v>
                </c:pt>
                <c:pt idx="7">
                  <c:v>0.125</c:v>
                </c:pt>
                <c:pt idx="8">
                  <c:v>0.14583333333333301</c:v>
                </c:pt>
                <c:pt idx="9">
                  <c:v>0.16666666666666699</c:v>
                </c:pt>
                <c:pt idx="10">
                  <c:v>0.1875</c:v>
                </c:pt>
                <c:pt idx="11">
                  <c:v>0.20833333333333301</c:v>
                </c:pt>
                <c:pt idx="12">
                  <c:v>0.22916666666666699</c:v>
                </c:pt>
                <c:pt idx="13">
                  <c:v>0.25</c:v>
                </c:pt>
                <c:pt idx="14">
                  <c:v>0.27083333333333298</c:v>
                </c:pt>
                <c:pt idx="15">
                  <c:v>0.29166666666666702</c:v>
                </c:pt>
                <c:pt idx="16">
                  <c:v>0.3125</c:v>
                </c:pt>
                <c:pt idx="17">
                  <c:v>0.33333333333333298</c:v>
                </c:pt>
                <c:pt idx="18">
                  <c:v>0.35416666666666702</c:v>
                </c:pt>
                <c:pt idx="19">
                  <c:v>0.375</c:v>
                </c:pt>
                <c:pt idx="20">
                  <c:v>0.39583333333333298</c:v>
                </c:pt>
                <c:pt idx="21">
                  <c:v>0.41666666666666702</c:v>
                </c:pt>
                <c:pt idx="22">
                  <c:v>0.4375</c:v>
                </c:pt>
                <c:pt idx="23">
                  <c:v>0.45833333333333298</c:v>
                </c:pt>
                <c:pt idx="24">
                  <c:v>0.47916666666666702</c:v>
                </c:pt>
                <c:pt idx="25">
                  <c:v>0.5</c:v>
                </c:pt>
                <c:pt idx="26">
                  <c:v>0.52083333333333304</c:v>
                </c:pt>
                <c:pt idx="27">
                  <c:v>0.54166666666666696</c:v>
                </c:pt>
                <c:pt idx="28">
                  <c:v>0.5625</c:v>
                </c:pt>
                <c:pt idx="29">
                  <c:v>0.58333333333333304</c:v>
                </c:pt>
                <c:pt idx="30">
                  <c:v>0.60416666666666696</c:v>
                </c:pt>
                <c:pt idx="31">
                  <c:v>0.625</c:v>
                </c:pt>
                <c:pt idx="32">
                  <c:v>0.64583333333333304</c:v>
                </c:pt>
                <c:pt idx="33">
                  <c:v>0.66666666666666696</c:v>
                </c:pt>
                <c:pt idx="34">
                  <c:v>0.6875</c:v>
                </c:pt>
                <c:pt idx="35">
                  <c:v>0.70833333333333304</c:v>
                </c:pt>
                <c:pt idx="36">
                  <c:v>0.72916666666666696</c:v>
                </c:pt>
                <c:pt idx="37">
                  <c:v>0.75</c:v>
                </c:pt>
                <c:pt idx="38">
                  <c:v>0.77083333333333304</c:v>
                </c:pt>
                <c:pt idx="39">
                  <c:v>0.79166666666666696</c:v>
                </c:pt>
                <c:pt idx="40">
                  <c:v>0.8125</c:v>
                </c:pt>
                <c:pt idx="41">
                  <c:v>0.83333333333333304</c:v>
                </c:pt>
                <c:pt idx="42">
                  <c:v>0.85416666666666696</c:v>
                </c:pt>
                <c:pt idx="43">
                  <c:v>0.875</c:v>
                </c:pt>
                <c:pt idx="44">
                  <c:v>0.89583333333333304</c:v>
                </c:pt>
                <c:pt idx="45">
                  <c:v>0.91666666666666696</c:v>
                </c:pt>
                <c:pt idx="46">
                  <c:v>0.9375</c:v>
                </c:pt>
                <c:pt idx="47">
                  <c:v>0.95833333333333304</c:v>
                </c:pt>
                <c:pt idx="48">
                  <c:v>0.97916666666666696</c:v>
                </c:pt>
              </c:numCache>
            </c:numRef>
          </c:cat>
          <c:val>
            <c:numRef>
              <c:f>'BEV_PHEV_Profile_kW (Weekday)'!$C$305:$AY$305</c:f>
              <c:numCache>
                <c:formatCode>0.00</c:formatCode>
                <c:ptCount val="49"/>
                <c:pt idx="1">
                  <c:v>0.23141270666666669</c:v>
                </c:pt>
                <c:pt idx="2">
                  <c:v>0.21763669166666663</c:v>
                </c:pt>
                <c:pt idx="3">
                  <c:v>0.20414256166666664</c:v>
                </c:pt>
                <c:pt idx="4">
                  <c:v>0.18515621833333332</c:v>
                </c:pt>
                <c:pt idx="5">
                  <c:v>0.16627853500000001</c:v>
                </c:pt>
                <c:pt idx="6">
                  <c:v>0.14596558999999998</c:v>
                </c:pt>
                <c:pt idx="7">
                  <c:v>0.12613018500000001</c:v>
                </c:pt>
                <c:pt idx="8">
                  <c:v>0.10848684166666667</c:v>
                </c:pt>
                <c:pt idx="9">
                  <c:v>9.112387999999999E-2</c:v>
                </c:pt>
                <c:pt idx="10">
                  <c:v>7.9902106666666653E-2</c:v>
                </c:pt>
                <c:pt idx="11">
                  <c:v>6.8840176666666655E-2</c:v>
                </c:pt>
                <c:pt idx="12">
                  <c:v>6.990465333333333E-2</c:v>
                </c:pt>
                <c:pt idx="13">
                  <c:v>7.3992763333333336E-2</c:v>
                </c:pt>
                <c:pt idx="14">
                  <c:v>0.104818335</c:v>
                </c:pt>
                <c:pt idx="15">
                  <c:v>0.13814040166666666</c:v>
                </c:pt>
                <c:pt idx="16">
                  <c:v>0.16321287166666668</c:v>
                </c:pt>
                <c:pt idx="17">
                  <c:v>0.19034440999999999</c:v>
                </c:pt>
                <c:pt idx="18">
                  <c:v>0.22517691500000001</c:v>
                </c:pt>
                <c:pt idx="19">
                  <c:v>0.25856593499999997</c:v>
                </c:pt>
                <c:pt idx="20">
                  <c:v>0.28835315833333336</c:v>
                </c:pt>
                <c:pt idx="21">
                  <c:v>0.31674296666666663</c:v>
                </c:pt>
                <c:pt idx="22">
                  <c:v>0.33454651000000002</c:v>
                </c:pt>
                <c:pt idx="23">
                  <c:v>0.35245096666666664</c:v>
                </c:pt>
                <c:pt idx="24">
                  <c:v>0.35553283333333335</c:v>
                </c:pt>
                <c:pt idx="25">
                  <c:v>0.35851198833333336</c:v>
                </c:pt>
                <c:pt idx="26">
                  <c:v>0.35090406166666671</c:v>
                </c:pt>
                <c:pt idx="27">
                  <c:v>0.34295699666666662</c:v>
                </c:pt>
                <c:pt idx="28">
                  <c:v>0.33024648333333334</c:v>
                </c:pt>
                <c:pt idx="29">
                  <c:v>0.31722951000000005</c:v>
                </c:pt>
                <c:pt idx="30">
                  <c:v>0.30488285500000001</c:v>
                </c:pt>
                <c:pt idx="31">
                  <c:v>0.29241316499999997</c:v>
                </c:pt>
                <c:pt idx="32">
                  <c:v>0.26726418666666663</c:v>
                </c:pt>
                <c:pt idx="33">
                  <c:v>0.242006885</c:v>
                </c:pt>
                <c:pt idx="34">
                  <c:v>0.21081961999999999</c:v>
                </c:pt>
                <c:pt idx="35">
                  <c:v>0.17933290333333332</c:v>
                </c:pt>
                <c:pt idx="36">
                  <c:v>0.17288095000000001</c:v>
                </c:pt>
                <c:pt idx="37">
                  <c:v>0.16353088666666668</c:v>
                </c:pt>
                <c:pt idx="38">
                  <c:v>0.16195969500000001</c:v>
                </c:pt>
                <c:pt idx="39">
                  <c:v>0.16120600500000001</c:v>
                </c:pt>
                <c:pt idx="40">
                  <c:v>0.17810054833333333</c:v>
                </c:pt>
                <c:pt idx="41">
                  <c:v>0.19488260166666668</c:v>
                </c:pt>
                <c:pt idx="42">
                  <c:v>0.20970827333333333</c:v>
                </c:pt>
                <c:pt idx="43">
                  <c:v>0.22220263333333334</c:v>
                </c:pt>
                <c:pt idx="44">
                  <c:v>0.23210491833333333</c:v>
                </c:pt>
                <c:pt idx="45">
                  <c:v>0.24368739333333334</c:v>
                </c:pt>
                <c:pt idx="46">
                  <c:v>0.24443969666666665</c:v>
                </c:pt>
                <c:pt idx="47">
                  <c:v>0.24488411500000004</c:v>
                </c:pt>
                <c:pt idx="48">
                  <c:v>0.23810658666666665</c:v>
                </c:pt>
              </c:numCache>
            </c:numRef>
          </c:val>
          <c:smooth val="0"/>
          <c:extLst>
            <c:ext xmlns:c16="http://schemas.microsoft.com/office/drawing/2014/chart" uri="{C3380CC4-5D6E-409C-BE32-E72D297353CC}">
              <c16:uniqueId val="{00000005-C6FD-294A-B221-0932E6D0C7E1}"/>
            </c:ext>
          </c:extLst>
        </c:ser>
        <c:ser>
          <c:idx val="6"/>
          <c:order val="6"/>
          <c:tx>
            <c:strRef>
              <c:f>'BEV_PHEV_Profile_kW (Weekday)'!$B$306</c:f>
              <c:strCache>
                <c:ptCount val="1"/>
                <c:pt idx="0">
                  <c:v>Motorcycle</c:v>
                </c:pt>
              </c:strCache>
            </c:strRef>
          </c:tx>
          <c:spPr>
            <a:ln w="28575" cap="rnd">
              <a:solidFill>
                <a:schemeClr val="accent1">
                  <a:lumMod val="60000"/>
                </a:schemeClr>
              </a:solidFill>
              <a:round/>
            </a:ln>
            <a:effectLst/>
          </c:spPr>
          <c:marker>
            <c:symbol val="none"/>
          </c:marker>
          <c:cat>
            <c:numRef>
              <c:f>'BEV_PHEV_Profile_kW (Weekday)'!$C$299:$AY$299</c:f>
              <c:numCache>
                <c:formatCode>h:mm</c:formatCode>
                <c:ptCount val="49"/>
                <c:pt idx="1">
                  <c:v>0</c:v>
                </c:pt>
                <c:pt idx="2">
                  <c:v>2.0833333333333332E-2</c:v>
                </c:pt>
                <c:pt idx="3">
                  <c:v>4.1666666666666699E-2</c:v>
                </c:pt>
                <c:pt idx="4">
                  <c:v>6.25E-2</c:v>
                </c:pt>
                <c:pt idx="5">
                  <c:v>8.3333333333333301E-2</c:v>
                </c:pt>
                <c:pt idx="6">
                  <c:v>0.104166666666667</c:v>
                </c:pt>
                <c:pt idx="7">
                  <c:v>0.125</c:v>
                </c:pt>
                <c:pt idx="8">
                  <c:v>0.14583333333333301</c:v>
                </c:pt>
                <c:pt idx="9">
                  <c:v>0.16666666666666699</c:v>
                </c:pt>
                <c:pt idx="10">
                  <c:v>0.1875</c:v>
                </c:pt>
                <c:pt idx="11">
                  <c:v>0.20833333333333301</c:v>
                </c:pt>
                <c:pt idx="12">
                  <c:v>0.22916666666666699</c:v>
                </c:pt>
                <c:pt idx="13">
                  <c:v>0.25</c:v>
                </c:pt>
                <c:pt idx="14">
                  <c:v>0.27083333333333298</c:v>
                </c:pt>
                <c:pt idx="15">
                  <c:v>0.29166666666666702</c:v>
                </c:pt>
                <c:pt idx="16">
                  <c:v>0.3125</c:v>
                </c:pt>
                <c:pt idx="17">
                  <c:v>0.33333333333333298</c:v>
                </c:pt>
                <c:pt idx="18">
                  <c:v>0.35416666666666702</c:v>
                </c:pt>
                <c:pt idx="19">
                  <c:v>0.375</c:v>
                </c:pt>
                <c:pt idx="20">
                  <c:v>0.39583333333333298</c:v>
                </c:pt>
                <c:pt idx="21">
                  <c:v>0.41666666666666702</c:v>
                </c:pt>
                <c:pt idx="22">
                  <c:v>0.4375</c:v>
                </c:pt>
                <c:pt idx="23">
                  <c:v>0.45833333333333298</c:v>
                </c:pt>
                <c:pt idx="24">
                  <c:v>0.47916666666666702</c:v>
                </c:pt>
                <c:pt idx="25">
                  <c:v>0.5</c:v>
                </c:pt>
                <c:pt idx="26">
                  <c:v>0.52083333333333304</c:v>
                </c:pt>
                <c:pt idx="27">
                  <c:v>0.54166666666666696</c:v>
                </c:pt>
                <c:pt idx="28">
                  <c:v>0.5625</c:v>
                </c:pt>
                <c:pt idx="29">
                  <c:v>0.58333333333333304</c:v>
                </c:pt>
                <c:pt idx="30">
                  <c:v>0.60416666666666696</c:v>
                </c:pt>
                <c:pt idx="31">
                  <c:v>0.625</c:v>
                </c:pt>
                <c:pt idx="32">
                  <c:v>0.64583333333333304</c:v>
                </c:pt>
                <c:pt idx="33">
                  <c:v>0.66666666666666696</c:v>
                </c:pt>
                <c:pt idx="34">
                  <c:v>0.6875</c:v>
                </c:pt>
                <c:pt idx="35">
                  <c:v>0.70833333333333304</c:v>
                </c:pt>
                <c:pt idx="36">
                  <c:v>0.72916666666666696</c:v>
                </c:pt>
                <c:pt idx="37">
                  <c:v>0.75</c:v>
                </c:pt>
                <c:pt idx="38">
                  <c:v>0.77083333333333304</c:v>
                </c:pt>
                <c:pt idx="39">
                  <c:v>0.79166666666666696</c:v>
                </c:pt>
                <c:pt idx="40">
                  <c:v>0.8125</c:v>
                </c:pt>
                <c:pt idx="41">
                  <c:v>0.83333333333333304</c:v>
                </c:pt>
                <c:pt idx="42">
                  <c:v>0.85416666666666696</c:v>
                </c:pt>
                <c:pt idx="43">
                  <c:v>0.875</c:v>
                </c:pt>
                <c:pt idx="44">
                  <c:v>0.89583333333333304</c:v>
                </c:pt>
                <c:pt idx="45">
                  <c:v>0.91666666666666696</c:v>
                </c:pt>
                <c:pt idx="46">
                  <c:v>0.9375</c:v>
                </c:pt>
                <c:pt idx="47">
                  <c:v>0.95833333333333304</c:v>
                </c:pt>
                <c:pt idx="48">
                  <c:v>0.97916666666666696</c:v>
                </c:pt>
              </c:numCache>
            </c:numRef>
          </c:cat>
          <c:val>
            <c:numRef>
              <c:f>'BEV_PHEV_Profile_kW (Weekday)'!$C$306:$AY$306</c:f>
              <c:numCache>
                <c:formatCode>0.00</c:formatCode>
                <c:ptCount val="49"/>
                <c:pt idx="1">
                  <c:v>2.2640126666666666E-2</c:v>
                </c:pt>
                <c:pt idx="2">
                  <c:v>2.1301445000000002E-2</c:v>
                </c:pt>
                <c:pt idx="3">
                  <c:v>1.9962763333333331E-2</c:v>
                </c:pt>
                <c:pt idx="4">
                  <c:v>1.8106833333333332E-2</c:v>
                </c:pt>
                <c:pt idx="5">
                  <c:v>1.6250901666666668E-2</c:v>
                </c:pt>
                <c:pt idx="6">
                  <c:v>1.4292338333333333E-2</c:v>
                </c:pt>
                <c:pt idx="7">
                  <c:v>1.2333773333333334E-2</c:v>
                </c:pt>
                <c:pt idx="8">
                  <c:v>1.0643990000000001E-2</c:v>
                </c:pt>
                <c:pt idx="9">
                  <c:v>8.9542049999999998E-3</c:v>
                </c:pt>
                <c:pt idx="10">
                  <c:v>7.9564366666666688E-3</c:v>
                </c:pt>
                <c:pt idx="11">
                  <c:v>6.9586683333333343E-3</c:v>
                </c:pt>
                <c:pt idx="12">
                  <c:v>7.3097933333333325E-3</c:v>
                </c:pt>
                <c:pt idx="13">
                  <c:v>7.6609166666666657E-3</c:v>
                </c:pt>
                <c:pt idx="14">
                  <c:v>1.0769505E-2</c:v>
                </c:pt>
                <c:pt idx="15">
                  <c:v>1.3878088333333332E-2</c:v>
                </c:pt>
                <c:pt idx="16">
                  <c:v>1.6592111666666669E-2</c:v>
                </c:pt>
                <c:pt idx="17">
                  <c:v>1.9306128333333335E-2</c:v>
                </c:pt>
                <c:pt idx="18">
                  <c:v>2.2449218333333337E-2</c:v>
                </c:pt>
                <c:pt idx="19">
                  <c:v>2.5592304999999999E-2</c:v>
                </c:pt>
                <c:pt idx="20">
                  <c:v>2.8332486666666667E-2</c:v>
                </c:pt>
                <c:pt idx="21">
                  <c:v>3.107267E-2</c:v>
                </c:pt>
                <c:pt idx="22">
                  <c:v>3.2810989999999998E-2</c:v>
                </c:pt>
                <c:pt idx="23">
                  <c:v>3.4549308333333334E-2</c:v>
                </c:pt>
                <c:pt idx="24">
                  <c:v>3.4820881666666671E-2</c:v>
                </c:pt>
                <c:pt idx="25">
                  <c:v>3.5092458333333333E-2</c:v>
                </c:pt>
                <c:pt idx="26">
                  <c:v>3.4297906666666662E-2</c:v>
                </c:pt>
                <c:pt idx="27">
                  <c:v>3.350335333333334E-2</c:v>
                </c:pt>
                <c:pt idx="28">
                  <c:v>3.2244543333333327E-2</c:v>
                </c:pt>
                <c:pt idx="29">
                  <c:v>3.0985734999999997E-2</c:v>
                </c:pt>
                <c:pt idx="30">
                  <c:v>2.9744223333333333E-2</c:v>
                </c:pt>
                <c:pt idx="31">
                  <c:v>2.8502705000000003E-2</c:v>
                </c:pt>
                <c:pt idx="32">
                  <c:v>2.5998138333333334E-2</c:v>
                </c:pt>
                <c:pt idx="33">
                  <c:v>2.3493565000000004E-2</c:v>
                </c:pt>
                <c:pt idx="34">
                  <c:v>2.0250936666666663E-2</c:v>
                </c:pt>
                <c:pt idx="35">
                  <c:v>1.7008311666666668E-2</c:v>
                </c:pt>
                <c:pt idx="36">
                  <c:v>1.6320849999999998E-2</c:v>
                </c:pt>
                <c:pt idx="37">
                  <c:v>1.5633394999999998E-2</c:v>
                </c:pt>
                <c:pt idx="38">
                  <c:v>1.5618663333333333E-2</c:v>
                </c:pt>
                <c:pt idx="39">
                  <c:v>1.5603934999999999E-2</c:v>
                </c:pt>
                <c:pt idx="40">
                  <c:v>1.7256095000000003E-2</c:v>
                </c:pt>
                <c:pt idx="41">
                  <c:v>1.8908249999999998E-2</c:v>
                </c:pt>
                <c:pt idx="42">
                  <c:v>2.0125434999999997E-2</c:v>
                </c:pt>
                <c:pt idx="43">
                  <c:v>2.1342621666666669E-2</c:v>
                </c:pt>
                <c:pt idx="44">
                  <c:v>2.2517598333333333E-2</c:v>
                </c:pt>
                <c:pt idx="45">
                  <c:v>2.369256833333333E-2</c:v>
                </c:pt>
                <c:pt idx="46">
                  <c:v>2.3801458333333331E-2</c:v>
                </c:pt>
                <c:pt idx="47">
                  <c:v>2.391035E-2</c:v>
                </c:pt>
                <c:pt idx="48">
                  <c:v>2.3275239999999999E-2</c:v>
                </c:pt>
              </c:numCache>
            </c:numRef>
          </c:val>
          <c:smooth val="0"/>
          <c:extLst>
            <c:ext xmlns:c16="http://schemas.microsoft.com/office/drawing/2014/chart" uri="{C3380CC4-5D6E-409C-BE32-E72D297353CC}">
              <c16:uniqueId val="{00000006-C6FD-294A-B221-0932E6D0C7E1}"/>
            </c:ext>
          </c:extLst>
        </c:ser>
        <c:ser>
          <c:idx val="7"/>
          <c:order val="7"/>
          <c:tx>
            <c:strRef>
              <c:f>'BEV_PHEV_Profile_kW (Weekday)'!$B$307</c:f>
              <c:strCache>
                <c:ptCount val="1"/>
                <c:pt idx="0">
                  <c:v>Rigid Truck</c:v>
                </c:pt>
              </c:strCache>
            </c:strRef>
          </c:tx>
          <c:spPr>
            <a:ln w="28575" cap="rnd">
              <a:solidFill>
                <a:schemeClr val="accent2">
                  <a:lumMod val="60000"/>
                </a:schemeClr>
              </a:solidFill>
              <a:round/>
            </a:ln>
            <a:effectLst/>
          </c:spPr>
          <c:marker>
            <c:symbol val="none"/>
          </c:marker>
          <c:cat>
            <c:numRef>
              <c:f>'BEV_PHEV_Profile_kW (Weekday)'!$C$299:$AY$299</c:f>
              <c:numCache>
                <c:formatCode>h:mm</c:formatCode>
                <c:ptCount val="49"/>
                <c:pt idx="1">
                  <c:v>0</c:v>
                </c:pt>
                <c:pt idx="2">
                  <c:v>2.0833333333333332E-2</c:v>
                </c:pt>
                <c:pt idx="3">
                  <c:v>4.1666666666666699E-2</c:v>
                </c:pt>
                <c:pt idx="4">
                  <c:v>6.25E-2</c:v>
                </c:pt>
                <c:pt idx="5">
                  <c:v>8.3333333333333301E-2</c:v>
                </c:pt>
                <c:pt idx="6">
                  <c:v>0.104166666666667</c:v>
                </c:pt>
                <c:pt idx="7">
                  <c:v>0.125</c:v>
                </c:pt>
                <c:pt idx="8">
                  <c:v>0.14583333333333301</c:v>
                </c:pt>
                <c:pt idx="9">
                  <c:v>0.16666666666666699</c:v>
                </c:pt>
                <c:pt idx="10">
                  <c:v>0.1875</c:v>
                </c:pt>
                <c:pt idx="11">
                  <c:v>0.20833333333333301</c:v>
                </c:pt>
                <c:pt idx="12">
                  <c:v>0.22916666666666699</c:v>
                </c:pt>
                <c:pt idx="13">
                  <c:v>0.25</c:v>
                </c:pt>
                <c:pt idx="14">
                  <c:v>0.27083333333333298</c:v>
                </c:pt>
                <c:pt idx="15">
                  <c:v>0.29166666666666702</c:v>
                </c:pt>
                <c:pt idx="16">
                  <c:v>0.3125</c:v>
                </c:pt>
                <c:pt idx="17">
                  <c:v>0.33333333333333298</c:v>
                </c:pt>
                <c:pt idx="18">
                  <c:v>0.35416666666666702</c:v>
                </c:pt>
                <c:pt idx="19">
                  <c:v>0.375</c:v>
                </c:pt>
                <c:pt idx="20">
                  <c:v>0.39583333333333298</c:v>
                </c:pt>
                <c:pt idx="21">
                  <c:v>0.41666666666666702</c:v>
                </c:pt>
                <c:pt idx="22">
                  <c:v>0.4375</c:v>
                </c:pt>
                <c:pt idx="23">
                  <c:v>0.45833333333333298</c:v>
                </c:pt>
                <c:pt idx="24">
                  <c:v>0.47916666666666702</c:v>
                </c:pt>
                <c:pt idx="25">
                  <c:v>0.5</c:v>
                </c:pt>
                <c:pt idx="26">
                  <c:v>0.52083333333333304</c:v>
                </c:pt>
                <c:pt idx="27">
                  <c:v>0.54166666666666696</c:v>
                </c:pt>
                <c:pt idx="28">
                  <c:v>0.5625</c:v>
                </c:pt>
                <c:pt idx="29">
                  <c:v>0.58333333333333304</c:v>
                </c:pt>
                <c:pt idx="30">
                  <c:v>0.60416666666666696</c:v>
                </c:pt>
                <c:pt idx="31">
                  <c:v>0.625</c:v>
                </c:pt>
                <c:pt idx="32">
                  <c:v>0.64583333333333304</c:v>
                </c:pt>
                <c:pt idx="33">
                  <c:v>0.66666666666666696</c:v>
                </c:pt>
                <c:pt idx="34">
                  <c:v>0.6875</c:v>
                </c:pt>
                <c:pt idx="35">
                  <c:v>0.70833333333333304</c:v>
                </c:pt>
                <c:pt idx="36">
                  <c:v>0.72916666666666696</c:v>
                </c:pt>
                <c:pt idx="37">
                  <c:v>0.75</c:v>
                </c:pt>
                <c:pt idx="38">
                  <c:v>0.77083333333333304</c:v>
                </c:pt>
                <c:pt idx="39">
                  <c:v>0.79166666666666696</c:v>
                </c:pt>
                <c:pt idx="40">
                  <c:v>0.8125</c:v>
                </c:pt>
                <c:pt idx="41">
                  <c:v>0.83333333333333304</c:v>
                </c:pt>
                <c:pt idx="42">
                  <c:v>0.85416666666666696</c:v>
                </c:pt>
                <c:pt idx="43">
                  <c:v>0.875</c:v>
                </c:pt>
                <c:pt idx="44">
                  <c:v>0.89583333333333304</c:v>
                </c:pt>
                <c:pt idx="45">
                  <c:v>0.91666666666666696</c:v>
                </c:pt>
                <c:pt idx="46">
                  <c:v>0.9375</c:v>
                </c:pt>
                <c:pt idx="47">
                  <c:v>0.95833333333333304</c:v>
                </c:pt>
                <c:pt idx="48">
                  <c:v>0.97916666666666696</c:v>
                </c:pt>
              </c:numCache>
            </c:numRef>
          </c:cat>
          <c:val>
            <c:numRef>
              <c:f>'BEV_PHEV_Profile_kW (Weekday)'!$C$307:$AY$307</c:f>
              <c:numCache>
                <c:formatCode>0.00</c:formatCode>
                <c:ptCount val="49"/>
                <c:pt idx="1">
                  <c:v>2.4628701966666666</c:v>
                </c:pt>
                <c:pt idx="2">
                  <c:v>2.2719296199999999</c:v>
                </c:pt>
                <c:pt idx="3">
                  <c:v>2.0809890366666668</c:v>
                </c:pt>
                <c:pt idx="4">
                  <c:v>1.8439013133333333</c:v>
                </c:pt>
                <c:pt idx="5">
                  <c:v>1.6068135833333332</c:v>
                </c:pt>
                <c:pt idx="6">
                  <c:v>1.3900004033333335</c:v>
                </c:pt>
                <c:pt idx="7">
                  <c:v>1.1731872266666667</c:v>
                </c:pt>
                <c:pt idx="8">
                  <c:v>1.0547075866666666</c:v>
                </c:pt>
                <c:pt idx="9">
                  <c:v>0.93622795000000003</c:v>
                </c:pt>
                <c:pt idx="10">
                  <c:v>0.88720112666666662</c:v>
                </c:pt>
                <c:pt idx="11">
                  <c:v>0.83817430999999998</c:v>
                </c:pt>
                <c:pt idx="12">
                  <c:v>0.88764287333333325</c:v>
                </c:pt>
                <c:pt idx="13">
                  <c:v>0.93711143999999991</c:v>
                </c:pt>
                <c:pt idx="14">
                  <c:v>1.2151134566666666</c:v>
                </c:pt>
                <c:pt idx="15">
                  <c:v>1.4931154733333336</c:v>
                </c:pt>
                <c:pt idx="16">
                  <c:v>1.74535489</c:v>
                </c:pt>
                <c:pt idx="17">
                  <c:v>1.9975943100000002</c:v>
                </c:pt>
                <c:pt idx="18">
                  <c:v>2.2414915200000003</c:v>
                </c:pt>
                <c:pt idx="19">
                  <c:v>2.4853887299999999</c:v>
                </c:pt>
                <c:pt idx="20">
                  <c:v>2.6403998333333334</c:v>
                </c:pt>
                <c:pt idx="21">
                  <c:v>2.7954109333333332</c:v>
                </c:pt>
                <c:pt idx="22">
                  <c:v>2.8773469466666666</c:v>
                </c:pt>
                <c:pt idx="23">
                  <c:v>2.9592829599999999</c:v>
                </c:pt>
                <c:pt idx="24">
                  <c:v>2.9424285366666667</c:v>
                </c:pt>
                <c:pt idx="25">
                  <c:v>2.9255741099999999</c:v>
                </c:pt>
                <c:pt idx="26">
                  <c:v>2.8300571533333332</c:v>
                </c:pt>
                <c:pt idx="27">
                  <c:v>2.7345401933333329</c:v>
                </c:pt>
                <c:pt idx="28">
                  <c:v>2.60336597</c:v>
                </c:pt>
                <c:pt idx="29">
                  <c:v>2.4721917499999999</c:v>
                </c:pt>
                <c:pt idx="30">
                  <c:v>2.3526575133333334</c:v>
                </c:pt>
                <c:pt idx="31">
                  <c:v>2.2331232866666664</c:v>
                </c:pt>
                <c:pt idx="32">
                  <c:v>2.02603373</c:v>
                </c:pt>
                <c:pt idx="33">
                  <c:v>1.8189441666666666</c:v>
                </c:pt>
                <c:pt idx="34">
                  <c:v>1.5661775500000001</c:v>
                </c:pt>
                <c:pt idx="35">
                  <c:v>1.3134109266666667</c:v>
                </c:pt>
                <c:pt idx="36">
                  <c:v>1.2756358466666666</c:v>
                </c:pt>
                <c:pt idx="37">
                  <c:v>1.2378607666666668</c:v>
                </c:pt>
                <c:pt idx="38">
                  <c:v>1.5456747633333334</c:v>
                </c:pt>
                <c:pt idx="39">
                  <c:v>1.8534887666666666</c:v>
                </c:pt>
                <c:pt idx="40">
                  <c:v>2.2317478766666667</c:v>
                </c:pt>
                <c:pt idx="41">
                  <c:v>2.6100069833333337</c:v>
                </c:pt>
                <c:pt idx="42">
                  <c:v>2.762327093333333</c:v>
                </c:pt>
                <c:pt idx="43">
                  <c:v>2.9146472066666664</c:v>
                </c:pt>
                <c:pt idx="44">
                  <c:v>2.9174712299999999</c:v>
                </c:pt>
                <c:pt idx="45">
                  <c:v>2.9202952500000001</c:v>
                </c:pt>
                <c:pt idx="46">
                  <c:v>2.7615433766666668</c:v>
                </c:pt>
                <c:pt idx="47">
                  <c:v>2.6027915033333335</c:v>
                </c:pt>
                <c:pt idx="48">
                  <c:v>2.5328308533333335</c:v>
                </c:pt>
              </c:numCache>
            </c:numRef>
          </c:val>
          <c:smooth val="0"/>
          <c:extLst>
            <c:ext xmlns:c16="http://schemas.microsoft.com/office/drawing/2014/chart" uri="{C3380CC4-5D6E-409C-BE32-E72D297353CC}">
              <c16:uniqueId val="{00000007-C6FD-294A-B221-0932E6D0C7E1}"/>
            </c:ext>
          </c:extLst>
        </c:ser>
        <c:ser>
          <c:idx val="8"/>
          <c:order val="8"/>
          <c:tx>
            <c:strRef>
              <c:f>'BEV_PHEV_Profile_kW (Weekday)'!$B$308</c:f>
              <c:strCache>
                <c:ptCount val="1"/>
                <c:pt idx="0">
                  <c:v>Small Light Commercial</c:v>
                </c:pt>
              </c:strCache>
            </c:strRef>
          </c:tx>
          <c:spPr>
            <a:ln w="28575" cap="rnd">
              <a:solidFill>
                <a:schemeClr val="accent3">
                  <a:lumMod val="60000"/>
                </a:schemeClr>
              </a:solidFill>
              <a:round/>
            </a:ln>
            <a:effectLst/>
          </c:spPr>
          <c:marker>
            <c:symbol val="none"/>
          </c:marker>
          <c:cat>
            <c:numRef>
              <c:f>'BEV_PHEV_Profile_kW (Weekday)'!$C$299:$AY$299</c:f>
              <c:numCache>
                <c:formatCode>h:mm</c:formatCode>
                <c:ptCount val="49"/>
                <c:pt idx="1">
                  <c:v>0</c:v>
                </c:pt>
                <c:pt idx="2">
                  <c:v>2.0833333333333332E-2</c:v>
                </c:pt>
                <c:pt idx="3">
                  <c:v>4.1666666666666699E-2</c:v>
                </c:pt>
                <c:pt idx="4">
                  <c:v>6.25E-2</c:v>
                </c:pt>
                <c:pt idx="5">
                  <c:v>8.3333333333333301E-2</c:v>
                </c:pt>
                <c:pt idx="6">
                  <c:v>0.104166666666667</c:v>
                </c:pt>
                <c:pt idx="7">
                  <c:v>0.125</c:v>
                </c:pt>
                <c:pt idx="8">
                  <c:v>0.14583333333333301</c:v>
                </c:pt>
                <c:pt idx="9">
                  <c:v>0.16666666666666699</c:v>
                </c:pt>
                <c:pt idx="10">
                  <c:v>0.1875</c:v>
                </c:pt>
                <c:pt idx="11">
                  <c:v>0.20833333333333301</c:v>
                </c:pt>
                <c:pt idx="12">
                  <c:v>0.22916666666666699</c:v>
                </c:pt>
                <c:pt idx="13">
                  <c:v>0.25</c:v>
                </c:pt>
                <c:pt idx="14">
                  <c:v>0.27083333333333298</c:v>
                </c:pt>
                <c:pt idx="15">
                  <c:v>0.29166666666666702</c:v>
                </c:pt>
                <c:pt idx="16">
                  <c:v>0.3125</c:v>
                </c:pt>
                <c:pt idx="17">
                  <c:v>0.33333333333333298</c:v>
                </c:pt>
                <c:pt idx="18">
                  <c:v>0.35416666666666702</c:v>
                </c:pt>
                <c:pt idx="19">
                  <c:v>0.375</c:v>
                </c:pt>
                <c:pt idx="20">
                  <c:v>0.39583333333333298</c:v>
                </c:pt>
                <c:pt idx="21">
                  <c:v>0.41666666666666702</c:v>
                </c:pt>
                <c:pt idx="22">
                  <c:v>0.4375</c:v>
                </c:pt>
                <c:pt idx="23">
                  <c:v>0.45833333333333298</c:v>
                </c:pt>
                <c:pt idx="24">
                  <c:v>0.47916666666666702</c:v>
                </c:pt>
                <c:pt idx="25">
                  <c:v>0.5</c:v>
                </c:pt>
                <c:pt idx="26">
                  <c:v>0.52083333333333304</c:v>
                </c:pt>
                <c:pt idx="27">
                  <c:v>0.54166666666666696</c:v>
                </c:pt>
                <c:pt idx="28">
                  <c:v>0.5625</c:v>
                </c:pt>
                <c:pt idx="29">
                  <c:v>0.58333333333333304</c:v>
                </c:pt>
                <c:pt idx="30">
                  <c:v>0.60416666666666696</c:v>
                </c:pt>
                <c:pt idx="31">
                  <c:v>0.625</c:v>
                </c:pt>
                <c:pt idx="32">
                  <c:v>0.64583333333333304</c:v>
                </c:pt>
                <c:pt idx="33">
                  <c:v>0.66666666666666696</c:v>
                </c:pt>
                <c:pt idx="34">
                  <c:v>0.6875</c:v>
                </c:pt>
                <c:pt idx="35">
                  <c:v>0.70833333333333304</c:v>
                </c:pt>
                <c:pt idx="36">
                  <c:v>0.72916666666666696</c:v>
                </c:pt>
                <c:pt idx="37">
                  <c:v>0.75</c:v>
                </c:pt>
                <c:pt idx="38">
                  <c:v>0.77083333333333304</c:v>
                </c:pt>
                <c:pt idx="39">
                  <c:v>0.79166666666666696</c:v>
                </c:pt>
                <c:pt idx="40">
                  <c:v>0.8125</c:v>
                </c:pt>
                <c:pt idx="41">
                  <c:v>0.83333333333333304</c:v>
                </c:pt>
                <c:pt idx="42">
                  <c:v>0.85416666666666696</c:v>
                </c:pt>
                <c:pt idx="43">
                  <c:v>0.875</c:v>
                </c:pt>
                <c:pt idx="44">
                  <c:v>0.89583333333333304</c:v>
                </c:pt>
                <c:pt idx="45">
                  <c:v>0.91666666666666696</c:v>
                </c:pt>
                <c:pt idx="46">
                  <c:v>0.9375</c:v>
                </c:pt>
                <c:pt idx="47">
                  <c:v>0.95833333333333304</c:v>
                </c:pt>
                <c:pt idx="48">
                  <c:v>0.97916666666666696</c:v>
                </c:pt>
              </c:numCache>
            </c:numRef>
          </c:cat>
          <c:val>
            <c:numRef>
              <c:f>'BEV_PHEV_Profile_kW (Weekday)'!$C$308:$AY$308</c:f>
              <c:numCache>
                <c:formatCode>0.00</c:formatCode>
                <c:ptCount val="49"/>
                <c:pt idx="1">
                  <c:v>0.24396185500000001</c:v>
                </c:pt>
                <c:pt idx="2">
                  <c:v>0.2290803625</c:v>
                </c:pt>
                <c:pt idx="3">
                  <c:v>0.21419886999999999</c:v>
                </c:pt>
                <c:pt idx="4">
                  <c:v>0.19570639999999997</c:v>
                </c:pt>
                <c:pt idx="5">
                  <c:v>0.17721393000000002</c:v>
                </c:pt>
                <c:pt idx="6">
                  <c:v>0.15777566749999999</c:v>
                </c:pt>
                <c:pt idx="7">
                  <c:v>0.13833740750000001</c:v>
                </c:pt>
                <c:pt idx="8">
                  <c:v>0.12248693500000002</c:v>
                </c:pt>
                <c:pt idx="9">
                  <c:v>0.1066364625</c:v>
                </c:pt>
                <c:pt idx="10">
                  <c:v>9.9119862500000017E-2</c:v>
                </c:pt>
                <c:pt idx="11">
                  <c:v>9.1603265000000003E-2</c:v>
                </c:pt>
                <c:pt idx="12">
                  <c:v>0.10106552500000002</c:v>
                </c:pt>
                <c:pt idx="13">
                  <c:v>0.11052779</c:v>
                </c:pt>
                <c:pt idx="14">
                  <c:v>0.1431191</c:v>
                </c:pt>
                <c:pt idx="15">
                  <c:v>0.17571041250000002</c:v>
                </c:pt>
                <c:pt idx="16">
                  <c:v>0.21082159750000001</c:v>
                </c:pt>
                <c:pt idx="17">
                  <c:v>0.24593278000000002</c:v>
                </c:pt>
                <c:pt idx="18">
                  <c:v>0.28243594</c:v>
                </c:pt>
                <c:pt idx="19">
                  <c:v>0.31893910250000002</c:v>
                </c:pt>
                <c:pt idx="20">
                  <c:v>0.34663983250000002</c:v>
                </c:pt>
                <c:pt idx="21">
                  <c:v>0.37434056249999997</c:v>
                </c:pt>
                <c:pt idx="22">
                  <c:v>0.39121907</c:v>
                </c:pt>
                <c:pt idx="23">
                  <c:v>0.4080975825</c:v>
                </c:pt>
                <c:pt idx="24">
                  <c:v>0.41145247500000004</c:v>
                </c:pt>
                <c:pt idx="25">
                  <c:v>0.41480736499999998</c:v>
                </c:pt>
                <c:pt idx="26">
                  <c:v>0.40863890000000003</c:v>
                </c:pt>
                <c:pt idx="27">
                  <c:v>0.40247042750000001</c:v>
                </c:pt>
                <c:pt idx="28">
                  <c:v>0.39431319000000004</c:v>
                </c:pt>
                <c:pt idx="29">
                  <c:v>0.38615594999999997</c:v>
                </c:pt>
                <c:pt idx="30">
                  <c:v>0.37634406249999997</c:v>
                </c:pt>
                <c:pt idx="31">
                  <c:v>0.3665321775</c:v>
                </c:pt>
                <c:pt idx="32">
                  <c:v>0.34704607249999997</c:v>
                </c:pt>
                <c:pt idx="33">
                  <c:v>0.32755997250000002</c:v>
                </c:pt>
                <c:pt idx="34">
                  <c:v>0.29688533500000003</c:v>
                </c:pt>
                <c:pt idx="35">
                  <c:v>0.26621070749999998</c:v>
                </c:pt>
                <c:pt idx="36">
                  <c:v>0.24873024500000002</c:v>
                </c:pt>
                <c:pt idx="37">
                  <c:v>0.23124978499999999</c:v>
                </c:pt>
                <c:pt idx="38">
                  <c:v>0.22326264000000001</c:v>
                </c:pt>
                <c:pt idx="39">
                  <c:v>0.21527549500000001</c:v>
                </c:pt>
                <c:pt idx="40">
                  <c:v>0.22369818999999999</c:v>
                </c:pt>
                <c:pt idx="41">
                  <c:v>0.23212088750000001</c:v>
                </c:pt>
                <c:pt idx="42">
                  <c:v>0.23774373499999998</c:v>
                </c:pt>
                <c:pt idx="43">
                  <c:v>0.243366585</c:v>
                </c:pt>
                <c:pt idx="44">
                  <c:v>0.252157625</c:v>
                </c:pt>
                <c:pt idx="45">
                  <c:v>0.26094866249999998</c:v>
                </c:pt>
                <c:pt idx="46">
                  <c:v>0.25968190250000001</c:v>
                </c:pt>
                <c:pt idx="47">
                  <c:v>0.2584151375</c:v>
                </c:pt>
                <c:pt idx="48">
                  <c:v>0.2511884975</c:v>
                </c:pt>
              </c:numCache>
            </c:numRef>
          </c:val>
          <c:smooth val="0"/>
          <c:extLst>
            <c:ext xmlns:c16="http://schemas.microsoft.com/office/drawing/2014/chart" uri="{C3380CC4-5D6E-409C-BE32-E72D297353CC}">
              <c16:uniqueId val="{00000008-C6FD-294A-B221-0932E6D0C7E1}"/>
            </c:ext>
          </c:extLst>
        </c:ser>
        <c:ser>
          <c:idx val="9"/>
          <c:order val="9"/>
          <c:tx>
            <c:strRef>
              <c:f>'BEV_PHEV_Profile_kW (Weekday)'!$B$309</c:f>
              <c:strCache>
                <c:ptCount val="1"/>
                <c:pt idx="0">
                  <c:v>Small Residential</c:v>
                </c:pt>
              </c:strCache>
            </c:strRef>
          </c:tx>
          <c:spPr>
            <a:ln w="28575" cap="rnd">
              <a:solidFill>
                <a:schemeClr val="accent4">
                  <a:lumMod val="60000"/>
                </a:schemeClr>
              </a:solidFill>
              <a:round/>
            </a:ln>
            <a:effectLst/>
          </c:spPr>
          <c:marker>
            <c:symbol val="none"/>
          </c:marker>
          <c:cat>
            <c:numRef>
              <c:f>'BEV_PHEV_Profile_kW (Weekday)'!$C$299:$AY$299</c:f>
              <c:numCache>
                <c:formatCode>h:mm</c:formatCode>
                <c:ptCount val="49"/>
                <c:pt idx="1">
                  <c:v>0</c:v>
                </c:pt>
                <c:pt idx="2">
                  <c:v>2.0833333333333332E-2</c:v>
                </c:pt>
                <c:pt idx="3">
                  <c:v>4.1666666666666699E-2</c:v>
                </c:pt>
                <c:pt idx="4">
                  <c:v>6.25E-2</c:v>
                </c:pt>
                <c:pt idx="5">
                  <c:v>8.3333333333333301E-2</c:v>
                </c:pt>
                <c:pt idx="6">
                  <c:v>0.104166666666667</c:v>
                </c:pt>
                <c:pt idx="7">
                  <c:v>0.125</c:v>
                </c:pt>
                <c:pt idx="8">
                  <c:v>0.14583333333333301</c:v>
                </c:pt>
                <c:pt idx="9">
                  <c:v>0.16666666666666699</c:v>
                </c:pt>
                <c:pt idx="10">
                  <c:v>0.1875</c:v>
                </c:pt>
                <c:pt idx="11">
                  <c:v>0.20833333333333301</c:v>
                </c:pt>
                <c:pt idx="12">
                  <c:v>0.22916666666666699</c:v>
                </c:pt>
                <c:pt idx="13">
                  <c:v>0.25</c:v>
                </c:pt>
                <c:pt idx="14">
                  <c:v>0.27083333333333298</c:v>
                </c:pt>
                <c:pt idx="15">
                  <c:v>0.29166666666666702</c:v>
                </c:pt>
                <c:pt idx="16">
                  <c:v>0.3125</c:v>
                </c:pt>
                <c:pt idx="17">
                  <c:v>0.33333333333333298</c:v>
                </c:pt>
                <c:pt idx="18">
                  <c:v>0.35416666666666702</c:v>
                </c:pt>
                <c:pt idx="19">
                  <c:v>0.375</c:v>
                </c:pt>
                <c:pt idx="20">
                  <c:v>0.39583333333333298</c:v>
                </c:pt>
                <c:pt idx="21">
                  <c:v>0.41666666666666702</c:v>
                </c:pt>
                <c:pt idx="22">
                  <c:v>0.4375</c:v>
                </c:pt>
                <c:pt idx="23">
                  <c:v>0.45833333333333298</c:v>
                </c:pt>
                <c:pt idx="24">
                  <c:v>0.47916666666666702</c:v>
                </c:pt>
                <c:pt idx="25">
                  <c:v>0.5</c:v>
                </c:pt>
                <c:pt idx="26">
                  <c:v>0.52083333333333304</c:v>
                </c:pt>
                <c:pt idx="27">
                  <c:v>0.54166666666666696</c:v>
                </c:pt>
                <c:pt idx="28">
                  <c:v>0.5625</c:v>
                </c:pt>
                <c:pt idx="29">
                  <c:v>0.58333333333333304</c:v>
                </c:pt>
                <c:pt idx="30">
                  <c:v>0.60416666666666696</c:v>
                </c:pt>
                <c:pt idx="31">
                  <c:v>0.625</c:v>
                </c:pt>
                <c:pt idx="32">
                  <c:v>0.64583333333333304</c:v>
                </c:pt>
                <c:pt idx="33">
                  <c:v>0.66666666666666696</c:v>
                </c:pt>
                <c:pt idx="34">
                  <c:v>0.6875</c:v>
                </c:pt>
                <c:pt idx="35">
                  <c:v>0.70833333333333304</c:v>
                </c:pt>
                <c:pt idx="36">
                  <c:v>0.72916666666666696</c:v>
                </c:pt>
                <c:pt idx="37">
                  <c:v>0.75</c:v>
                </c:pt>
                <c:pt idx="38">
                  <c:v>0.77083333333333304</c:v>
                </c:pt>
                <c:pt idx="39">
                  <c:v>0.79166666666666696</c:v>
                </c:pt>
                <c:pt idx="40">
                  <c:v>0.8125</c:v>
                </c:pt>
                <c:pt idx="41">
                  <c:v>0.83333333333333304</c:v>
                </c:pt>
                <c:pt idx="42">
                  <c:v>0.85416666666666696</c:v>
                </c:pt>
                <c:pt idx="43">
                  <c:v>0.875</c:v>
                </c:pt>
                <c:pt idx="44">
                  <c:v>0.89583333333333304</c:v>
                </c:pt>
                <c:pt idx="45">
                  <c:v>0.91666666666666696</c:v>
                </c:pt>
                <c:pt idx="46">
                  <c:v>0.9375</c:v>
                </c:pt>
                <c:pt idx="47">
                  <c:v>0.95833333333333304</c:v>
                </c:pt>
                <c:pt idx="48">
                  <c:v>0.97916666666666696</c:v>
                </c:pt>
              </c:numCache>
            </c:numRef>
          </c:cat>
          <c:val>
            <c:numRef>
              <c:f>'BEV_PHEV_Profile_kW (Weekday)'!$C$309:$AY$309</c:f>
              <c:numCache>
                <c:formatCode>0.00</c:formatCode>
                <c:ptCount val="49"/>
                <c:pt idx="1">
                  <c:v>0.19052784333333331</c:v>
                </c:pt>
                <c:pt idx="2">
                  <c:v>0.17926218500000002</c:v>
                </c:pt>
                <c:pt idx="3">
                  <c:v>0.16799652499999998</c:v>
                </c:pt>
                <c:pt idx="4">
                  <c:v>0.15237793499999999</c:v>
                </c:pt>
                <c:pt idx="5">
                  <c:v>0.13675935166666667</c:v>
                </c:pt>
                <c:pt idx="6">
                  <c:v>0.12027708000000002</c:v>
                </c:pt>
                <c:pt idx="7">
                  <c:v>0.10379480833333332</c:v>
                </c:pt>
                <c:pt idx="8">
                  <c:v>8.9574431666666662E-2</c:v>
                </c:pt>
                <c:pt idx="9">
                  <c:v>7.5354056666666669E-2</c:v>
                </c:pt>
                <c:pt idx="10">
                  <c:v>6.6957336666666672E-2</c:v>
                </c:pt>
                <c:pt idx="11">
                  <c:v>5.8560618333333335E-2</c:v>
                </c:pt>
                <c:pt idx="12">
                  <c:v>6.1515516666666659E-2</c:v>
                </c:pt>
                <c:pt idx="13">
                  <c:v>6.4470408333333326E-2</c:v>
                </c:pt>
                <c:pt idx="14">
                  <c:v>9.0630683333333337E-2</c:v>
                </c:pt>
                <c:pt idx="15">
                  <c:v>0.11679096</c:v>
                </c:pt>
                <c:pt idx="16">
                  <c:v>0.13963080000000003</c:v>
                </c:pt>
                <c:pt idx="17">
                  <c:v>0.16247063333333334</c:v>
                </c:pt>
                <c:pt idx="18">
                  <c:v>0.18892125833333337</c:v>
                </c:pt>
                <c:pt idx="19">
                  <c:v>0.21537187666666666</c:v>
                </c:pt>
                <c:pt idx="20">
                  <c:v>0.23843186000000002</c:v>
                </c:pt>
                <c:pt idx="21">
                  <c:v>0.26149184833333328</c:v>
                </c:pt>
                <c:pt idx="22">
                  <c:v>0.27612066000000007</c:v>
                </c:pt>
                <c:pt idx="23">
                  <c:v>0.29074947833333331</c:v>
                </c:pt>
                <c:pt idx="24">
                  <c:v>0.29303493166666666</c:v>
                </c:pt>
                <c:pt idx="25">
                  <c:v>0.29532038499999996</c:v>
                </c:pt>
                <c:pt idx="26">
                  <c:v>0.28863381833333329</c:v>
                </c:pt>
                <c:pt idx="27">
                  <c:v>0.28194725833333328</c:v>
                </c:pt>
                <c:pt idx="28">
                  <c:v>0.27135376666666666</c:v>
                </c:pt>
                <c:pt idx="29">
                  <c:v>0.26076027333333335</c:v>
                </c:pt>
                <c:pt idx="30">
                  <c:v>0.25031231500000001</c:v>
                </c:pt>
                <c:pt idx="31">
                  <c:v>0.23986435333333334</c:v>
                </c:pt>
                <c:pt idx="32">
                  <c:v>0.21878715666666668</c:v>
                </c:pt>
                <c:pt idx="33">
                  <c:v>0.1977099533333333</c:v>
                </c:pt>
                <c:pt idx="34">
                  <c:v>0.17042164666666668</c:v>
                </c:pt>
                <c:pt idx="35">
                  <c:v>0.14313334000000003</c:v>
                </c:pt>
                <c:pt idx="36">
                  <c:v>0.13734803166666668</c:v>
                </c:pt>
                <c:pt idx="37">
                  <c:v>0.13156272666666669</c:v>
                </c:pt>
                <c:pt idx="38">
                  <c:v>0.13143878833333333</c:v>
                </c:pt>
                <c:pt idx="39">
                  <c:v>0.13131485000000001</c:v>
                </c:pt>
                <c:pt idx="40">
                  <c:v>0.14521855166666667</c:v>
                </c:pt>
                <c:pt idx="41">
                  <c:v>0.15912226000000002</c:v>
                </c:pt>
                <c:pt idx="42">
                  <c:v>0.16936547666666665</c:v>
                </c:pt>
                <c:pt idx="43">
                  <c:v>0.17960869999999998</c:v>
                </c:pt>
                <c:pt idx="44">
                  <c:v>0.18949669</c:v>
                </c:pt>
                <c:pt idx="45">
                  <c:v>0.19938467499999998</c:v>
                </c:pt>
                <c:pt idx="46">
                  <c:v>0.20030103833333335</c:v>
                </c:pt>
                <c:pt idx="47">
                  <c:v>0.20121739666666669</c:v>
                </c:pt>
                <c:pt idx="48">
                  <c:v>0.19587261833333333</c:v>
                </c:pt>
              </c:numCache>
            </c:numRef>
          </c:val>
          <c:smooth val="0"/>
          <c:extLst>
            <c:ext xmlns:c16="http://schemas.microsoft.com/office/drawing/2014/chart" uri="{C3380CC4-5D6E-409C-BE32-E72D297353CC}">
              <c16:uniqueId val="{00000009-C6FD-294A-B221-0932E6D0C7E1}"/>
            </c:ext>
          </c:extLst>
        </c:ser>
        <c:dLbls>
          <c:showLegendKey val="0"/>
          <c:showVal val="0"/>
          <c:showCatName val="0"/>
          <c:showSerName val="0"/>
          <c:showPercent val="0"/>
          <c:showBubbleSize val="0"/>
        </c:dLbls>
        <c:smooth val="0"/>
        <c:axId val="1606704575"/>
        <c:axId val="1703910847"/>
      </c:lineChart>
      <c:catAx>
        <c:axId val="1606704575"/>
        <c:scaling>
          <c:orientation val="minMax"/>
        </c:scaling>
        <c:delete val="0"/>
        <c:axPos val="b"/>
        <c:title>
          <c:tx>
            <c:rich>
              <a:bodyPr rot="0" spcFirstLastPara="1" vertOverflow="ellipsis" vert="horz" wrap="square" anchor="ctr" anchorCtr="1"/>
              <a:lstStyle/>
              <a:p>
                <a:pPr>
                  <a:defRPr sz="800" b="0" i="0" u="none" strike="noStrike" kern="1200" baseline="0">
                    <a:solidFill>
                      <a:schemeClr val="tx1">
                        <a:lumMod val="65000"/>
                        <a:lumOff val="35000"/>
                      </a:schemeClr>
                    </a:solidFill>
                    <a:latin typeface="Montserrat" pitchFamily="2" charset="77"/>
                    <a:ea typeface="+mn-ea"/>
                    <a:cs typeface="+mn-cs"/>
                  </a:defRPr>
                </a:pPr>
                <a:r>
                  <a:rPr lang="en-GB"/>
                  <a:t>Time of Day</a:t>
                </a:r>
              </a:p>
            </c:rich>
          </c:tx>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Montserrat" pitchFamily="2" charset="77"/>
                  <a:ea typeface="+mn-ea"/>
                  <a:cs typeface="+mn-cs"/>
                </a:defRPr>
              </a:pPr>
              <a:endParaRPr lang="en-US"/>
            </a:p>
          </c:txPr>
        </c:title>
        <c:numFmt formatCode="h: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ontserrat" pitchFamily="2" charset="77"/>
                <a:ea typeface="+mn-ea"/>
                <a:cs typeface="+mn-cs"/>
              </a:defRPr>
            </a:pPr>
            <a:endParaRPr lang="en-US"/>
          </a:p>
        </c:txPr>
        <c:crossAx val="1703910847"/>
        <c:crosses val="autoZero"/>
        <c:auto val="1"/>
        <c:lblAlgn val="ctr"/>
        <c:lblOffset val="100"/>
        <c:noMultiLvlLbl val="0"/>
      </c:catAx>
      <c:valAx>
        <c:axId val="1703910847"/>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lumMod val="65000"/>
                        <a:lumOff val="35000"/>
                      </a:schemeClr>
                    </a:solidFill>
                    <a:latin typeface="Montserrat" pitchFamily="2" charset="77"/>
                    <a:ea typeface="+mn-ea"/>
                    <a:cs typeface="+mn-cs"/>
                  </a:defRPr>
                </a:pPr>
                <a:r>
                  <a:rPr lang="en-GB"/>
                  <a:t>Average kW</a:t>
                </a:r>
              </a:p>
            </c:rich>
          </c:tx>
          <c:overlay val="0"/>
          <c:spPr>
            <a:noFill/>
            <a:ln>
              <a:noFill/>
            </a:ln>
            <a:effectLst/>
          </c:spPr>
          <c:txPr>
            <a:bodyPr rot="-5400000" spcFirstLastPara="1" vertOverflow="ellipsis" vert="horz" wrap="square" anchor="ctr" anchorCtr="1"/>
            <a:lstStyle/>
            <a:p>
              <a:pPr>
                <a:defRPr sz="800" b="0" i="0" u="none" strike="noStrike" kern="1200" baseline="0">
                  <a:solidFill>
                    <a:schemeClr val="tx1">
                      <a:lumMod val="65000"/>
                      <a:lumOff val="35000"/>
                    </a:schemeClr>
                  </a:solidFill>
                  <a:latin typeface="Montserrat" pitchFamily="2" charset="77"/>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ontserrat" pitchFamily="2" charset="77"/>
                <a:ea typeface="+mn-ea"/>
                <a:cs typeface="+mn-cs"/>
              </a:defRPr>
            </a:pPr>
            <a:endParaRPr lang="en-US"/>
          </a:p>
        </c:txPr>
        <c:crossAx val="160670457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ontserrat"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800" b="0" i="0">
          <a:latin typeface="Montserrat" pitchFamily="2" charset="77"/>
        </a:defRPr>
      </a:pPr>
      <a:endParaRPr lang="en-US"/>
    </a:p>
  </c:txPr>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Open with the question in the title, and give the short answer straight away: no, electrifying transport will not crash the grid, but when vehicles charge matters far more than how many there are.</a:t>
            </a:r>
          </a:p>
          <a:p>
            <a:pPr marL="0" lvl="0" indent="0" algn="l" rtl="0">
              <a:lnSpc>
                <a:spcPct val="100000"/>
              </a:lnSpc>
              <a:spcBef>
                <a:spcPts val="600"/>
              </a:spcBef>
              <a:spcAft>
                <a:spcPts val="0"/>
              </a:spcAft>
              <a:buSzPts val="1400"/>
              <a:buNone/>
            </a:pPr>
            <a:r>
              <a:rPr lang="en-US"/>
              <a:t>Three questions structure the talk: (1) does EV uptake overwhelm the WA transition, (2) does it delay the coal exit or lock us into gas, (3) is V2H / V2G essential.</a:t>
            </a:r>
          </a:p>
          <a:p>
            <a:pPr marL="0" lvl="0" indent="0" algn="l" rtl="0">
              <a:lnSpc>
                <a:spcPct val="100000"/>
              </a:lnSpc>
              <a:spcBef>
                <a:spcPts val="600"/>
              </a:spcBef>
              <a:spcAft>
                <a:spcPts val="0"/>
              </a:spcAft>
              <a:buSzPts val="1400"/>
              <a:buNone/>
            </a:pPr>
            <a:r>
              <a:rPr lang="en-US"/>
              <a:t>Everything here is for the SWIS / WEM in Western Australia, not the NEM. Main sources: AEMO 2026 WEM ESOO for demand; the AEMO 2025 IASR EV workbook (WEM region, CSIRO 2025 trajectories developed for AEMO) for fleet, energy and charging shapes.</a:t>
            </a:r>
          </a:p>
          <a:p>
            <a:pPr marL="0" lvl="0" indent="0" algn="l" rtl="0">
              <a:lnSpc>
                <a:spcPct val="100000"/>
              </a:lnSpc>
              <a:spcBef>
                <a:spcPts val="600"/>
              </a:spcBef>
              <a:spcAft>
                <a:spcPts val="0"/>
              </a:spcAft>
              <a:buSzPts val="1400"/>
              <a:buNone/>
            </a:pPr>
            <a:r>
              <a:rPr lang="en-US"/>
              <a:t>Presenter heads-up: three [placeholder] items remain: the SIREN run on slide 11, and the Western Power feeder and Synergy EV tariff items on slide 13. Fill or cut them before presenting. Slide 21 also has a stray '[1' footnote marker to tidy.</a:t>
            </a:r>
          </a:p>
        </p:txBody>
      </p:sp>
      <p:sp>
        <p:nvSpPr>
          <p:cNvPr id="102" name="Google Shape;102;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Section 1. Question: will EV uptake overwhelm the WA transition?</a:t>
            </a:r>
          </a:p>
          <a:p>
            <a:pPr marL="0" lvl="0" indent="0" algn="l" rtl="0">
              <a:lnSpc>
                <a:spcPct val="100000"/>
              </a:lnSpc>
              <a:spcBef>
                <a:spcPts val="600"/>
              </a:spcBef>
              <a:spcAft>
                <a:spcPts val="0"/>
              </a:spcAft>
              <a:buSzPts val="1400"/>
              <a:buNone/>
            </a:pPr>
            <a:r>
              <a:rPr lang="en-US"/>
              <a:t>Approach: fleet, then energy, then compare with the SWIS. Slides 3 to 5 show the AEMO / CSIRO WEM trajectories. Slide 8 puts them in SWIS context. Slides 9 to 11 test the effect on the system peak in detail.</a:t>
            </a:r>
          </a:p>
        </p:txBody>
      </p:sp>
      <p:sp>
        <p:nvSpPr>
          <p:cNvPr id="109" name="Google Shape;109;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This is the Accelerated Transition trajectory for WEM battery EVs, by segment. The fleet grows about 68 times, from roughly 52,000 in 2025-26 to about 3.5 million in 2054-55: a compound growth rate of about 15.6% a year.</a:t>
            </a:r>
          </a:p>
          <a:p>
            <a:pPr marL="0" lvl="0" indent="0" algn="l" rtl="0">
              <a:lnSpc>
                <a:spcPct val="100000"/>
              </a:lnSpc>
              <a:spcBef>
                <a:spcPts val="600"/>
              </a:spcBef>
              <a:spcAft>
                <a:spcPts val="0"/>
              </a:spcAft>
              <a:buSzPts val="1400"/>
              <a:buNone/>
            </a:pPr>
            <a:r>
              <a:rPr lang="en-US"/>
              <a:t>The mix: Large Residential, Medium Residential, Large Light Commercial and Small Residential together are about 85% of the fleet by 2054-55. Trucks and buses stay under 5% of the fleet. Large Light Commercial's share climbs from about 3.9% to about 19.5%.</a:t>
            </a:r>
          </a:p>
          <a:p>
            <a:pPr marL="0" lvl="0" indent="0" algn="l" rtl="0">
              <a:lnSpc>
                <a:spcPct val="100000"/>
              </a:lnSpc>
              <a:spcBef>
                <a:spcPts val="600"/>
              </a:spcBef>
              <a:spcAft>
                <a:spcPts val="0"/>
              </a:spcAft>
              <a:buSzPts val="1400"/>
              <a:buNone/>
            </a:pPr>
            <a:r>
              <a:rPr lang="en-US"/>
              <a:t>Message: growth is fast, but it is a forecast that planners already carry in their models. It is not a surprise.</a:t>
            </a:r>
          </a:p>
          <a:p>
            <a:pPr marL="0" lvl="0" indent="0" algn="l" rtl="0">
              <a:lnSpc>
                <a:spcPct val="100000"/>
              </a:lnSpc>
              <a:spcBef>
                <a:spcPts val="600"/>
              </a:spcBef>
              <a:spcAft>
                <a:spcPts val="0"/>
              </a:spcAft>
              <a:buSzPts val="1400"/>
              <a:buNone/>
            </a:pPr>
            <a:r>
              <a:rPr lang="en-US"/>
              <a:t>Provenance: this is WEM-region data from AEMO's 2025 IASR Electric Vehicle workbook (CSIRO 2025 trajectories developed for AEMO). It is not the NEM 2026 ISP. Slides 4 and 5 use the Slower Growth trajectory, the low end; this slide is the high end. The ESOO's own EV forecast sits closest to the middle one, Step Change.</a:t>
            </a:r>
          </a:p>
          <a:p>
            <a:pPr marL="0" lvl="0" indent="0" algn="l" rtl="0">
              <a:lnSpc>
                <a:spcPct val="100000"/>
              </a:lnSpc>
              <a:spcBef>
                <a:spcPts val="600"/>
              </a:spcBef>
              <a:spcAft>
                <a:spcPts val="0"/>
              </a:spcAft>
              <a:buSzPts val="1400"/>
              <a:buNone/>
            </a:pPr>
            <a:r>
              <a:rPr lang="en-US"/>
              <a:t>If asked about today's fleet: WA Department of Transport licensing shows 63,241 light EVs at 30 June 2026 (2.8% of light vehicles). This slide counts battery EVs only; plug-in hybrids are in a separate sheet of the same workbook (about 10,000 to 11,000 in 2025-26).</a:t>
            </a:r>
          </a:p>
        </p:txBody>
      </p:sp>
      <p:sp>
        <p:nvSpPr>
          <p:cNvPr id="117" name="Google Shape;117;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dirty="0"/>
              <a:t>The low case. Even under Slower Growth the WEM battery EV fleet goes from about 47,800 in 2025-26 to about 2.2 million in 2054-55, roughly 46 times, or about 14% a year on average.</a:t>
            </a:r>
          </a:p>
          <a:p>
            <a:pPr marL="0" lvl="0" indent="0" algn="l" rtl="0">
              <a:lnSpc>
                <a:spcPct val="100000"/>
              </a:lnSpc>
              <a:spcBef>
                <a:spcPts val="600"/>
              </a:spcBef>
              <a:spcAft>
                <a:spcPts val="0"/>
              </a:spcAft>
              <a:buSzPts val="1400"/>
              <a:buNone/>
            </a:pPr>
            <a:r>
              <a:rPr lang="en-US" dirty="0"/>
              <a:t>Growth decelerates about 37% a year for the first five years, about 14% through the middle period, and about 6% a year in the final decade.</a:t>
            </a:r>
          </a:p>
          <a:p>
            <a:pPr marL="0" lvl="0" indent="0" algn="l" rtl="0">
              <a:lnSpc>
                <a:spcPct val="100000"/>
              </a:lnSpc>
              <a:spcBef>
                <a:spcPts val="600"/>
              </a:spcBef>
              <a:spcAft>
                <a:spcPts val="0"/>
              </a:spcAft>
              <a:buSzPts val="1400"/>
              <a:buNone/>
            </a:pPr>
            <a:r>
              <a:rPr lang="en-US" dirty="0"/>
              <a:t>Residential vehicles dominate but their share erodes, from about 95% of the fleet now to about 70% by 2054-55, as commercial and heavy-vehicle segments scale faster.</a:t>
            </a:r>
          </a:p>
          <a:p>
            <a:pPr marL="0" lvl="0" indent="0" algn="l" rtl="0">
              <a:lnSpc>
                <a:spcPct val="100000"/>
              </a:lnSpc>
              <a:spcBef>
                <a:spcPts val="600"/>
              </a:spcBef>
              <a:spcAft>
                <a:spcPts val="0"/>
              </a:spcAft>
              <a:buSzPts val="1400"/>
              <a:buNone/>
            </a:pPr>
            <a:r>
              <a:rPr lang="en-US" dirty="0"/>
              <a:t>By 2035-36 this case has about 494,000 battery EVs (about 526,000 including plug-in hybrids). The big multiples come from a small starting base.</a:t>
            </a:r>
          </a:p>
          <a:p>
            <a:pPr marL="0" lvl="0" indent="0" algn="l" rtl="0">
              <a:lnSpc>
                <a:spcPct val="100000"/>
              </a:lnSpc>
              <a:spcBef>
                <a:spcPts val="600"/>
              </a:spcBef>
              <a:spcAft>
                <a:spcPts val="0"/>
              </a:spcAft>
              <a:buSzPts val="1400"/>
              <a:buNone/>
            </a:pPr>
            <a:r>
              <a:rPr lang="en-US" dirty="0"/>
              <a:t>Source: AEMO 2025 IASR EV workbook, WEM region, Slower Growth scenario.</a:t>
            </a:r>
          </a:p>
        </p:txBody>
      </p:sp>
      <p:sp>
        <p:nvSpPr>
          <p:cNvPr id="128" name="Google Shape;128;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Now energy rather than vehicle counts, Slower Growth again. EV electricity use grows about 84 times, from about 103 GWh in 2025-26 to about 8,630 GWh by 2054-55. At the 10-year mark, 2035-36, it is about 1,300 GWh.</a:t>
            </a:r>
          </a:p>
          <a:p>
            <a:pPr marL="0" lvl="0" indent="0" algn="l" rtl="0">
              <a:lnSpc>
                <a:spcPct val="100000"/>
              </a:lnSpc>
              <a:spcBef>
                <a:spcPts val="600"/>
              </a:spcBef>
              <a:spcAft>
                <a:spcPts val="0"/>
              </a:spcAft>
              <a:buSzPts val="1400"/>
              <a:buNone/>
            </a:pPr>
            <a:r>
              <a:rPr lang="en-US"/>
              <a:t>Heavy vehicles are only about 1% of the fleet by count, but with buses they are about 40% of EV energy by 2054-55, because each one uses far more energy.</a:t>
            </a:r>
          </a:p>
          <a:p>
            <a:pPr marL="0" lvl="0" indent="0" algn="l" rtl="0">
              <a:lnSpc>
                <a:spcPct val="100000"/>
              </a:lnSpc>
              <a:spcBef>
                <a:spcPts val="600"/>
              </a:spcBef>
              <a:spcAft>
                <a:spcPts val="0"/>
              </a:spcAft>
              <a:buSzPts val="1400"/>
              <a:buNone/>
            </a:pPr>
            <a:r>
              <a:rPr lang="en-US"/>
              <a:t>Note the chart is battery EV plus plug-in hybrid consumption: the sheet is BEV_PHEV_Consumption, and the chart title now says so.</a:t>
            </a:r>
          </a:p>
          <a:p>
            <a:pPr marL="0" lvl="0" indent="0" algn="l" rtl="0">
              <a:lnSpc>
                <a:spcPct val="100000"/>
              </a:lnSpc>
              <a:spcBef>
                <a:spcPts val="600"/>
              </a:spcBef>
              <a:spcAft>
                <a:spcPts val="0"/>
              </a:spcAft>
              <a:buSzPts val="1400"/>
              <a:buNone/>
            </a:pPr>
            <a:r>
              <a:rPr lang="en-US"/>
              <a:t>Why 'small slice': 1.3 TWh is about 5% of the 26.0 TWh the ESOO forecasts for 2035-36 (operational basis). That is the low case. The high case (Accelerated Transition) is about 3.2 TWh, or 12%. Slide 8 shows the range.</a:t>
            </a:r>
          </a:p>
        </p:txBody>
      </p:sp>
      <p:sp>
        <p:nvSpPr>
          <p:cNvPr id="139" name="Google Shape;139;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Objectives:</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Data inputs:</a:t>
            </a:r>
            <a:endParaRPr/>
          </a:p>
          <a:p>
            <a:pPr marL="0" lvl="0" indent="0" algn="l" rtl="0">
              <a:lnSpc>
                <a:spcPct val="100000"/>
              </a:lnSpc>
              <a:spcBef>
                <a:spcPts val="0"/>
              </a:spcBef>
              <a:spcAft>
                <a:spcPts val="0"/>
              </a:spcAft>
              <a:buSzPts val="1400"/>
              <a:buNone/>
            </a:pPr>
            <a:r>
              <a:rPr lang="en-US"/>
              <a:t>CSIRO: EV fleet and energy by postcode, in Low, Medium and High scenarios, up to 2050.</a:t>
            </a:r>
            <a:endParaRPr/>
          </a:p>
          <a:p>
            <a:pPr marL="0" lvl="0" indent="0" algn="l" rtl="0">
              <a:lnSpc>
                <a:spcPct val="100000"/>
              </a:lnSpc>
              <a:spcBef>
                <a:spcPts val="0"/>
              </a:spcBef>
              <a:spcAft>
                <a:spcPts val="0"/>
              </a:spcAft>
              <a:buSzPts val="1400"/>
              <a:buNone/>
            </a:pPr>
            <a:r>
              <a:rPr lang="en-US"/>
              <a:t>AEMO IASR: when EVs charge. The 2025 edition includes a WA profile.</a:t>
            </a:r>
            <a:endParaRPr/>
          </a:p>
          <a:p>
            <a:pPr marL="0" lvl="0" indent="0" algn="l" rtl="0">
              <a:lnSpc>
                <a:spcPct val="100000"/>
              </a:lnSpc>
              <a:spcBef>
                <a:spcPts val="0"/>
              </a:spcBef>
              <a:spcAft>
                <a:spcPts val="0"/>
              </a:spcAft>
              <a:buSzPts val="1400"/>
              <a:buNone/>
            </a:pPr>
            <a:r>
              <a:rPr lang="en-US"/>
              <a:t>WA Department of Transport: actual registrations, to track actual against projections.</a:t>
            </a:r>
            <a:endParaRPr/>
          </a:p>
          <a:p>
            <a:pPr marL="0" lvl="0" indent="0" algn="l" rtl="0">
              <a:lnSpc>
                <a:spcPct val="100000"/>
              </a:lnSpc>
              <a:spcBef>
                <a:spcPts val="0"/>
              </a:spcBef>
              <a:spcAft>
                <a:spcPts val="0"/>
              </a:spcAft>
              <a:buSzPts val="1400"/>
              <a:buNone/>
            </a:pPr>
            <a:r>
              <a:rPr lang="en-US"/>
              <a:t>ABS postcode boundaries: to map which postcodes are inside the SWIS.</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Outputs:</a:t>
            </a:r>
            <a:endParaRPr/>
          </a:p>
          <a:p>
            <a:pPr marL="0" lvl="0" indent="0" algn="l" rtl="0">
              <a:lnSpc>
                <a:spcPct val="100000"/>
              </a:lnSpc>
              <a:spcBef>
                <a:spcPts val="0"/>
              </a:spcBef>
              <a:spcAft>
                <a:spcPts val="0"/>
              </a:spcAft>
              <a:buSzPts val="1400"/>
              <a:buNone/>
            </a:pPr>
            <a:endParaRPr/>
          </a:p>
        </p:txBody>
      </p:sp>
      <p:sp>
        <p:nvSpPr>
          <p:cNvPr id="111" name="Google Shape;1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how fast are EVs actually arriving?</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US"/>
              <a:t>Key points:</a:t>
            </a:r>
            <a:endParaRPr/>
          </a:p>
          <a:p>
            <a:pPr marL="171450" lvl="0" indent="-171450" algn="l" rtl="0">
              <a:lnSpc>
                <a:spcPct val="100000"/>
              </a:lnSpc>
              <a:spcBef>
                <a:spcPts val="0"/>
              </a:spcBef>
              <a:spcAft>
                <a:spcPts val="0"/>
              </a:spcAft>
              <a:buSzPts val="1400"/>
              <a:buFont typeface="Arial"/>
              <a:buChar char="•"/>
            </a:pPr>
            <a:r>
              <a:rPr lang="en-US"/>
              <a:t>In less thank 6 years EV adoption in WA has grown from less than </a:t>
            </a:r>
            <a:r>
              <a:rPr lang="en-US" sz="1200" b="0" i="0" u="none" strike="noStrike" cap="none">
                <a:solidFill>
                  <a:schemeClr val="dk1"/>
                </a:solidFill>
                <a:latin typeface="Calibri"/>
                <a:ea typeface="Calibri"/>
                <a:cs typeface="Calibri"/>
                <a:sym typeface="Calibri"/>
              </a:rPr>
              <a:t>1,400  to more than 63,000 June this year </a:t>
            </a:r>
            <a:endParaRPr/>
          </a:p>
          <a:p>
            <a:pPr marL="171450" marR="0" lvl="0" indent="-171450" algn="l" rtl="0">
              <a:lnSpc>
                <a:spcPct val="100000"/>
              </a:lnSpc>
              <a:spcBef>
                <a:spcPts val="0"/>
              </a:spcBef>
              <a:spcAft>
                <a:spcPts val="0"/>
              </a:spcAft>
              <a:buClr>
                <a:srgbClr val="000000"/>
              </a:buClr>
              <a:buSzPts val="1400"/>
              <a:buFont typeface="Arial"/>
              <a:buChar char="•"/>
            </a:pPr>
            <a:r>
              <a:rPr lang="en-US" sz="1200" b="0" i="0" u="none" strike="noStrike" cap="none">
                <a:solidFill>
                  <a:schemeClr val="dk1"/>
                </a:solidFill>
                <a:latin typeface="Calibri"/>
                <a:ea typeface="Calibri"/>
                <a:cs typeface="Calibri"/>
                <a:sym typeface="Calibri"/>
              </a:rPr>
              <a:t>Where nearly one in four new cars licensed in WA in the June quarter was electric - added about 16,000 EVs in the first six months of this year, nearly double the pace of the six months before.</a:t>
            </a:r>
            <a:endParaRPr/>
          </a:p>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a:t>Chart</a:t>
            </a:r>
            <a:endParaRPr/>
          </a:p>
          <a:p>
            <a:pPr marL="0" lvl="0" indent="0" algn="l" rtl="0">
              <a:lnSpc>
                <a:spcPct val="100000"/>
              </a:lnSpc>
              <a:spcBef>
                <a:spcPts val="0"/>
              </a:spcBef>
              <a:spcAft>
                <a:spcPts val="0"/>
              </a:spcAft>
              <a:buSzPts val="1400"/>
              <a:buNone/>
            </a:pPr>
            <a:r>
              <a:rPr lang="en-US" sz="1200" b="0" i="0" u="none" strike="noStrike" cap="none">
                <a:solidFill>
                  <a:schemeClr val="dk1"/>
                </a:solidFill>
                <a:latin typeface="Calibri"/>
                <a:ea typeface="Calibri"/>
                <a:cs typeface="Calibri"/>
                <a:sym typeface="Calibri"/>
              </a:rPr>
              <a:t>compares that growth with the official forecasts</a:t>
            </a:r>
            <a:endParaRPr/>
          </a:p>
          <a:p>
            <a:pPr marL="171450" marR="0" lvl="0" indent="-171450" algn="l" rtl="0">
              <a:lnSpc>
                <a:spcPct val="100000"/>
              </a:lnSpc>
              <a:spcBef>
                <a:spcPts val="0"/>
              </a:spcBef>
              <a:spcAft>
                <a:spcPts val="0"/>
              </a:spcAft>
              <a:buClr>
                <a:srgbClr val="000000"/>
              </a:buClr>
              <a:buSzPts val="1400"/>
              <a:buFont typeface="Arial"/>
              <a:buChar char="•"/>
            </a:pPr>
            <a:r>
              <a:rPr lang="en-US" sz="1200" b="0" i="0" u="none" strike="noStrike" cap="none">
                <a:solidFill>
                  <a:schemeClr val="dk1"/>
                </a:solidFill>
                <a:latin typeface="Calibri"/>
                <a:ea typeface="Calibri"/>
                <a:cs typeface="Calibri"/>
                <a:sym typeface="Calibri"/>
              </a:rPr>
              <a:t>dotted line = Actual (Transport WA's licensing data) </a:t>
            </a:r>
            <a:endParaRPr/>
          </a:p>
          <a:p>
            <a:pPr marL="171450" marR="0" lvl="0" indent="-171450" algn="l" rtl="0">
              <a:lnSpc>
                <a:spcPct val="100000"/>
              </a:lnSpc>
              <a:spcBef>
                <a:spcPts val="0"/>
              </a:spcBef>
              <a:spcAft>
                <a:spcPts val="0"/>
              </a:spcAft>
              <a:buClr>
                <a:srgbClr val="000000"/>
              </a:buClr>
              <a:buSzPts val="1400"/>
              <a:buFont typeface="Arial"/>
              <a:buChar char="•"/>
            </a:pPr>
            <a:r>
              <a:rPr lang="en-US" sz="1200" b="0" i="0" u="none" strike="noStrike" cap="none">
                <a:solidFill>
                  <a:schemeClr val="dk1"/>
                </a:solidFill>
                <a:latin typeface="Calibri"/>
                <a:ea typeface="Calibri"/>
                <a:cs typeface="Calibri"/>
                <a:sym typeface="Calibri"/>
              </a:rPr>
              <a:t>other lines = forecast released by the CSIRO , for AEMO: a slow, expected, and accelerated path.</a:t>
            </a:r>
            <a:endParaRPr/>
          </a:p>
          <a:p>
            <a:pPr marL="0" lvl="0" indent="0" algn="l" rtl="0">
              <a:lnSpc>
                <a:spcPct val="100000"/>
              </a:lnSpc>
              <a:spcBef>
                <a:spcPts val="0"/>
              </a:spcBef>
              <a:spcAft>
                <a:spcPts val="0"/>
              </a:spcAft>
              <a:buSzPts val="1400"/>
              <a:buNone/>
            </a:pPr>
            <a:endParaRPr/>
          </a:p>
          <a:p>
            <a:pPr marL="0" marR="0" lvl="0" indent="0" algn="l" rtl="0">
              <a:lnSpc>
                <a:spcPct val="100000"/>
              </a:lnSpc>
              <a:spcBef>
                <a:spcPts val="0"/>
              </a:spcBef>
              <a:spcAft>
                <a:spcPts val="0"/>
              </a:spcAft>
              <a:buClr>
                <a:srgbClr val="000000"/>
              </a:buClr>
              <a:buSzPts val="1400"/>
              <a:buFont typeface="Arial"/>
              <a:buNone/>
            </a:pPr>
            <a:r>
              <a:rPr lang="en-US" sz="1200" b="0" i="0" u="none" strike="noStrike" cap="none">
                <a:solidFill>
                  <a:schemeClr val="dk1"/>
                </a:solidFill>
                <a:latin typeface="Calibri"/>
                <a:ea typeface="Calibri"/>
                <a:cs typeface="Calibri"/>
                <a:sym typeface="Calibri"/>
              </a:rPr>
              <a:t>In all three, eventually nearly every new car sold is electric. </a:t>
            </a:r>
            <a:endParaRPr/>
          </a:p>
          <a:p>
            <a:pPr marL="0" marR="0" lvl="0" indent="0" algn="l" rtl="0">
              <a:lnSpc>
                <a:spcPct val="100000"/>
              </a:lnSpc>
              <a:spcBef>
                <a:spcPts val="0"/>
              </a:spcBef>
              <a:spcAft>
                <a:spcPts val="0"/>
              </a:spcAft>
              <a:buClr>
                <a:srgbClr val="000000"/>
              </a:buClr>
              <a:buSzPts val="1400"/>
              <a:buFont typeface="Arial"/>
              <a:buNone/>
            </a:pPr>
            <a:r>
              <a:rPr lang="en-US" sz="1200" b="0" i="0" u="none" strike="noStrike" cap="none">
                <a:solidFill>
                  <a:schemeClr val="dk1"/>
                </a:solidFill>
                <a:latin typeface="Calibri"/>
                <a:ea typeface="Calibri"/>
                <a:cs typeface="Calibri"/>
                <a:sym typeface="Calibri"/>
              </a:rPr>
              <a:t>What they disagree on is when, anywhere from the mid-2030s to 2050. And that speed decides how soon the grid has to be ready.</a:t>
            </a:r>
            <a:endParaRPr/>
          </a:p>
          <a:p>
            <a:pPr marL="0" lvl="0" indent="0" algn="l" rtl="0">
              <a:lnSpc>
                <a:spcPct val="100000"/>
              </a:lnSpc>
              <a:spcBef>
                <a:spcPts val="0"/>
              </a:spcBef>
              <a:spcAft>
                <a:spcPts val="0"/>
              </a:spcAft>
              <a:buSzPts val="1400"/>
              <a:buNone/>
            </a:pPr>
            <a:endParaRPr/>
          </a:p>
        </p:txBody>
      </p:sp>
      <p:sp>
        <p:nvSpPr>
          <p:cNvPr id="130" name="Google Shape;130;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dirty="0"/>
              <a:t>Three numbers put EV load in SWIS context, all for 2035.</a:t>
            </a:r>
          </a:p>
          <a:p>
            <a:pPr marL="0" lvl="0" indent="0" algn="l" rtl="0">
              <a:lnSpc>
                <a:spcPct val="100000"/>
              </a:lnSpc>
              <a:spcBef>
                <a:spcPts val="600"/>
              </a:spcBef>
              <a:spcAft>
                <a:spcPts val="0"/>
              </a:spcAft>
              <a:buSzPts val="1400"/>
              <a:buNone/>
            </a:pPr>
            <a:r>
              <a:rPr lang="en-US" dirty="0"/>
              <a:t>26.0 TWh: SWIS annual consumption in the AEMO 2026 WEM ESOO, Expected scenario (operational basis, 2035-36), up 48% from 17.5 TWh in 2025-26.</a:t>
            </a:r>
          </a:p>
          <a:p>
            <a:pPr marL="0" lvl="0" indent="0" algn="l" rtl="0">
              <a:lnSpc>
                <a:spcPct val="100000"/>
              </a:lnSpc>
              <a:spcBef>
                <a:spcPts val="600"/>
              </a:spcBef>
              <a:spcAft>
                <a:spcPts val="0"/>
              </a:spcAft>
              <a:buSzPts val="1400"/>
              <a:buNone/>
            </a:pPr>
            <a:r>
              <a:rPr lang="en-US" dirty="0"/>
              <a:t>5 to 12%: EV charging energy as a share of that, across the three AEMO / CSIRO trajectories: Slower Growth 1.3 TWh (5.0%), Step Change 2.0 TWh (7.7%), Accelerated Transition 3.2 TWh (12.4%).</a:t>
            </a:r>
          </a:p>
          <a:p>
            <a:pPr marL="0" lvl="0" indent="0" algn="l" rtl="0">
              <a:lnSpc>
                <a:spcPct val="100000"/>
              </a:lnSpc>
              <a:spcBef>
                <a:spcPts val="600"/>
              </a:spcBef>
              <a:spcAft>
                <a:spcPts val="0"/>
              </a:spcAft>
              <a:buSzPts val="1400"/>
              <a:buNone/>
            </a:pPr>
            <a:r>
              <a:rPr lang="en-US" dirty="0"/>
              <a:t>0.2 to 0.4 GW: the EV load at the time of the system peak (about 6:30 pm) if all charging is unmanaged: 168 MW, 257 MW and 416 MW. Managed charging is about 60% lower (70 to 174 MW). The system peak is about 6.0 GW, the ESOO's 1-in-10 summer peak for 2035-36.</a:t>
            </a:r>
          </a:p>
          <a:p>
            <a:pPr marL="0" lvl="0" indent="0" algn="l" rtl="0">
              <a:lnSpc>
                <a:spcPct val="100000"/>
              </a:lnSpc>
              <a:spcBef>
                <a:spcPts val="600"/>
              </a:spcBef>
              <a:spcAft>
                <a:spcPts val="0"/>
              </a:spcAft>
              <a:buSzPts val="1400"/>
              <a:buNone/>
            </a:pPr>
            <a:r>
              <a:rPr lang="en-US" dirty="0"/>
              <a:t>Verdict: no. But read the last sentence: the ESOO already includes about 2 TWh of EV load (its fleet goes from about 68,000 to about 717,000 by 2035-36; households use about 1 TWh), so what a different EV scenario changes is only about minus 2% to plus 3% of the peak. Slide 7 has the workings.</a:t>
            </a:r>
          </a:p>
          <a:p>
            <a:pPr marL="0" lvl="0" indent="0" algn="l" rtl="0">
              <a:lnSpc>
                <a:spcPct val="100000"/>
              </a:lnSpc>
              <a:spcBef>
                <a:spcPts val="600"/>
              </a:spcBef>
              <a:spcAft>
                <a:spcPts val="0"/>
              </a:spcAft>
              <a:buSzPts val="1400"/>
              <a:buNone/>
            </a:pPr>
            <a:r>
              <a:rPr lang="en-US" dirty="0"/>
              <a:t>If asked: 'Why not just add EVs to the ESOO?' Because the ESOO forecast already has EVs in it, so that would count EV growth twice.</a:t>
            </a:r>
          </a:p>
        </p:txBody>
      </p:sp>
      <p:sp>
        <p:nvSpPr>
          <p:cNvPr id="149" name="Google Shape;149;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How to read the table. The top row is the ESOO 2026 Expected forecast as published: peak 6,016 MW at about 6:30 pm. It already contains about 1,994 GWh of EV charging, which is about 213 MW at the peak.</a:t>
            </a:r>
          </a:p>
          <a:p>
            <a:pPr marL="0" lvl="0" indent="0" algn="l" rtl="0">
              <a:lnSpc>
                <a:spcPct val="100000"/>
              </a:lnSpc>
              <a:spcBef>
                <a:spcPts val="600"/>
              </a:spcBef>
              <a:spcAft>
                <a:spcPts val="0"/>
              </a:spcAft>
              <a:buSzPts val="1400"/>
              <a:buNone/>
            </a:pPr>
            <a:r>
              <a:rPr lang="en-US"/>
              <a:t>Each other row removes that built-in EV load and adds the scenario's instead, so nothing is counted twice. Net system peak is the result. Peak vs ESOO is the change from the published peak.</a:t>
            </a:r>
          </a:p>
          <a:p>
            <a:pPr marL="0" lvl="0" indent="0" algn="l" rtl="0">
              <a:lnSpc>
                <a:spcPct val="100000"/>
              </a:lnSpc>
              <a:spcBef>
                <a:spcPts val="600"/>
              </a:spcBef>
              <a:spcAft>
                <a:spcPts val="0"/>
              </a:spcAft>
              <a:buSzPts val="1400"/>
              <a:buNone/>
            </a:pPr>
            <a:r>
              <a:rPr lang="en-US"/>
              <a:t>Results: unmanaged charging moves the peak by minus 0.7%, plus 0.7% and plus 3.4% (Slower Growth, Step Change, Accelerated Transition). Managed charging lowers it by 2.4%, 1.7% and 0.6%. The only case that lifts the peak materially is the high scenario with unmanaged charging, about plus 200 MW.</a:t>
            </a:r>
          </a:p>
          <a:p>
            <a:pPr marL="0" lvl="0" indent="0" algn="l" rtl="0">
              <a:lnSpc>
                <a:spcPct val="100000"/>
              </a:lnSpc>
              <a:spcBef>
                <a:spcPts val="600"/>
              </a:spcBef>
              <a:spcAft>
                <a:spcPts val="0"/>
              </a:spcAft>
              <a:buSzPts val="1400"/>
              <a:buNone/>
            </a:pPr>
            <a:r>
              <a:rPr lang="en-US"/>
              <a:t>Net minimum is the lowest demand in the year. The ESOO itself forecasts it going negative (minus 93 MW) as rooftop solar exceeds demand. Unmanaged charging fills the midday trough more than the managed mix, which moves load overnight, so managed rows sit a little lower.</a:t>
            </a:r>
          </a:p>
          <a:p>
            <a:pPr marL="0" lvl="0" indent="0" algn="l" rtl="0">
              <a:lnSpc>
                <a:spcPct val="100000"/>
              </a:lnSpc>
              <a:spcBef>
                <a:spcPts val="600"/>
              </a:spcBef>
              <a:spcAft>
                <a:spcPts val="0"/>
              </a:spcAft>
              <a:buSzPts val="1400"/>
              <a:buNone/>
            </a:pPr>
            <a:r>
              <a:rPr lang="en-US"/>
              <a:t>Assumptions to be upfront about: (1) mapping the ESOO Expected case to the IASR Step Change trajectory is our inference: fleet 717,000 vs 688,000, and households' 1 TWh vs 1.1 TWh; (2) the ESOO doesn't publish its charging mix, so we assume the IASR mix of about 70% unmanaged and 30% managed; (3) the 26.0 TWh operational energy is derived from the 32.1 TWh underlying figure, because AEMO publishes only underlying for 2026; (4) the peak day is synthetic (see slides 8 and 9).</a:t>
            </a:r>
          </a:p>
        </p:txBody>
      </p:sp>
      <p:sp>
        <p:nvSpPr>
          <p:cNvPr id="139" name="Google Shape;139;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The chart shows system demand on the peak day: the ESOO Expected forecast as published (dark line) and the same day with each EV scenario swapped in, charging unmanaged (plug in on arrival).</a:t>
            </a:r>
          </a:p>
          <a:p>
            <a:pPr marL="0" lvl="0" indent="0" algn="l" rtl="0">
              <a:lnSpc>
                <a:spcPct val="100000"/>
              </a:lnSpc>
              <a:spcBef>
                <a:spcPts val="600"/>
              </a:spcBef>
              <a:spcAft>
                <a:spcPts val="0"/>
              </a:spcAft>
              <a:buSzPts val="1400"/>
              <a:buNone/>
            </a:pPr>
            <a:r>
              <a:rPr lang="en-US"/>
              <a:t>The lines nearly overlap. At the 6.0 GW peak (about 6:30 pm), unmanaged EVs draw about 170 MW (Slower Growth), 260 MW (Step Change) and 420 MW (Accelerated Transition). The ESOO already includes about 210 MW, so the net peak moves by minus 0.7%, plus 0.7% and plus 3.4%. Only Accelerated Transition stands out, lifting the evening peak by about 200 MW.</a:t>
            </a:r>
          </a:p>
          <a:p>
            <a:pPr marL="0" lvl="0" indent="0" algn="l" rtl="0">
              <a:lnSpc>
                <a:spcPct val="100000"/>
              </a:lnSpc>
              <a:spcBef>
                <a:spcPts val="600"/>
              </a:spcBef>
              <a:spcAft>
                <a:spcPts val="0"/>
              </a:spcAft>
              <a:buSzPts val="1400"/>
              <a:buNone/>
            </a:pPr>
            <a:r>
              <a:rPr lang="en-US"/>
              <a:t>Unmanaged charging peaks mid-afternoon (Unscheduled charging around 3 pm), so it fills the midday trough and also leans into the evening ramp. The net peak stays at about 6:30 pm in all three.</a:t>
            </a:r>
          </a:p>
          <a:p>
            <a:pPr marL="0" lvl="0" indent="0" algn="l" rtl="0">
              <a:lnSpc>
                <a:spcPct val="100000"/>
              </a:lnSpc>
              <a:spcBef>
                <a:spcPts val="600"/>
              </a:spcBef>
              <a:spcAft>
                <a:spcPts val="0"/>
              </a:spcAft>
              <a:buSzPts val="1400"/>
              <a:buNone/>
            </a:pPr>
            <a:r>
              <a:rPr lang="en-US"/>
              <a:t>Peak day note: it is Monday 15 January 2035, the day the synthesised trace reaches the 1-in-10 summer peak. Its shape comes from the peak day in 2025's SCADA data, moved to the same weekday in 2035. It is illustrative, not a forecast of that date.</a:t>
            </a:r>
          </a:p>
          <a:p>
            <a:pPr marL="0" lvl="0" indent="0" algn="l" rtl="0">
              <a:lnSpc>
                <a:spcPct val="100000"/>
              </a:lnSpc>
              <a:spcBef>
                <a:spcPts val="600"/>
              </a:spcBef>
              <a:spcAft>
                <a:spcPts val="0"/>
              </a:spcAft>
              <a:buSzPts val="1400"/>
              <a:buNone/>
            </a:pPr>
            <a:r>
              <a:rPr lang="en-US"/>
              <a:t>The trace is on Perth (AWST) time, with the EV load already inside the ESOO removed first.</a:t>
            </a:r>
          </a:p>
        </p:txBody>
      </p:sp>
      <p:sp>
        <p:nvSpPr>
          <p:cNvPr id="139" name="Google Shape;139;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8" name="Google Shape;138;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Same chart, managed charging: time-of-use tariffs, off-peak and solar charging. Managed EVs draw only about 70, 110 and 170 MW at the system peak.</a:t>
            </a:r>
          </a:p>
          <a:p>
            <a:pPr marL="0" lvl="0" indent="0" algn="l" rtl="0">
              <a:lnSpc>
                <a:spcPct val="100000"/>
              </a:lnSpc>
              <a:spcBef>
                <a:spcPts val="600"/>
              </a:spcBef>
              <a:spcAft>
                <a:spcPts val="0"/>
              </a:spcAft>
              <a:buSzPts val="1400"/>
              <a:buNone/>
            </a:pPr>
            <a:r>
              <a:rPr lang="en-US"/>
              <a:t>Against the ESOO's built-in charging mix, the net peak falls by 2.4%, 1.7% and 0.6%. Even the extra energy in Accelerated Transition is charged away from 6:30 pm: load moves overnight (off-peak and solar charging peaks around 2 am) and to midday.</a:t>
            </a:r>
          </a:p>
          <a:p>
            <a:pPr marL="0" lvl="0" indent="0" algn="l" rtl="0">
              <a:lnSpc>
                <a:spcPct val="100000"/>
              </a:lnSpc>
              <a:spcBef>
                <a:spcPts val="600"/>
              </a:spcBef>
              <a:spcAft>
                <a:spcPts val="0"/>
              </a:spcAft>
              <a:buSzPts val="1400"/>
              <a:buNone/>
            </a:pPr>
            <a:r>
              <a:rPr lang="en-US"/>
              <a:t>In the High case the net peak slips a little later, to about 8 pm, as EV load builds in the evening.</a:t>
            </a:r>
          </a:p>
          <a:p>
            <a:pPr marL="0" lvl="0" indent="0" algn="l" rtl="0">
              <a:lnSpc>
                <a:spcPct val="100000"/>
              </a:lnSpc>
              <a:spcBef>
                <a:spcPts val="600"/>
              </a:spcBef>
              <a:spcAft>
                <a:spcPts val="0"/>
              </a:spcAft>
              <a:buSzPts val="1400"/>
              <a:buNone/>
            </a:pPr>
            <a:r>
              <a:rPr lang="en-US"/>
              <a:t>The point for the audience: the same vehicles cause a plus 3% or a minus 2% change to the peak depending only on when they charge. That is the case for tariffs and smart chargers (slide 13).</a:t>
            </a:r>
          </a:p>
          <a:p>
            <a:pPr marL="0" lvl="0" indent="0" algn="l" rtl="0">
              <a:lnSpc>
                <a:spcPct val="100000"/>
              </a:lnSpc>
              <a:spcBef>
                <a:spcPts val="600"/>
              </a:spcBef>
              <a:spcAft>
                <a:spcPts val="0"/>
              </a:spcAft>
              <a:buSzPts val="1400"/>
              <a:buNone/>
            </a:pPr>
            <a:r>
              <a:rPr lang="en-US"/>
              <a:t>Peak day note: Monday 15 January 2035, the day the synthesised trace hits its 1-in-10 summer peak. Shape taken from 2025's SCADA peak day, moved to the same weekday in 2035. Illustrative, not a forecast date.</a:t>
            </a:r>
          </a:p>
        </p:txBody>
      </p:sp>
      <p:sp>
        <p:nvSpPr>
          <p:cNvPr id="139" name="Google Shape;139;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en-US"/>
              <a:t>unmanaged charging </a:t>
            </a:r>
            <a:endParaRPr/>
          </a:p>
          <a:p>
            <a:pPr marL="457200" lvl="0" indent="-228600" algn="l" rtl="0">
              <a:lnSpc>
                <a:spcPct val="100000"/>
              </a:lnSpc>
              <a:spcBef>
                <a:spcPts val="0"/>
              </a:spcBef>
              <a:spcAft>
                <a:spcPts val="0"/>
              </a:spcAft>
              <a:buSzPts val="1400"/>
              <a:buFont typeface="Arial"/>
              <a:buChar char="•"/>
            </a:pPr>
            <a:r>
              <a:rPr lang="en-US"/>
              <a:t>Evening Peak Demand: Post-work charging (5:00 PM – 8:00 PM) superimposes directly on household energy use, placing stress on local distribution transformers and suburban feeders</a:t>
            </a:r>
            <a:endParaRPr/>
          </a:p>
          <a:p>
            <a:pPr marL="457200" lvl="0" indent="-228600" algn="l" rtl="0">
              <a:lnSpc>
                <a:spcPct val="100000"/>
              </a:lnSpc>
              <a:spcBef>
                <a:spcPts val="0"/>
              </a:spcBef>
              <a:spcAft>
                <a:spcPts val="0"/>
              </a:spcAft>
              <a:buSzPts val="1400"/>
              <a:buFont typeface="Arial"/>
              <a:buChar char="•"/>
            </a:pPr>
            <a:r>
              <a:rPr lang="en-US" sz="1200" b="0" i="0" u="none" strike="noStrike" cap="none">
                <a:solidFill>
                  <a:schemeClr val="dk1"/>
                </a:solidFill>
                <a:latin typeface="Calibri"/>
                <a:ea typeface="Calibri"/>
                <a:cs typeface="Calibri"/>
                <a:sym typeface="Calibri"/>
              </a:rPr>
              <a:t>Increases System Costs: Uncontrolled load spikes force grid operators to dispatch expensive gas peaking plants and accelerate network capacity upgrades (rising costs for EV and non-EV owners)</a:t>
            </a:r>
            <a:endParaRPr/>
          </a:p>
          <a:p>
            <a:pPr marL="457200" lvl="0" indent="-228600" algn="l" rtl="0">
              <a:lnSpc>
                <a:spcPct val="100000"/>
              </a:lnSpc>
              <a:spcBef>
                <a:spcPts val="0"/>
              </a:spcBef>
              <a:spcAft>
                <a:spcPts val="0"/>
              </a:spcAft>
              <a:buSzPts val="1400"/>
              <a:buFont typeface="Arial"/>
              <a:buChar char="•"/>
            </a:pPr>
            <a:r>
              <a:rPr lang="en-US"/>
              <a:t>Higher Emissions: Unmanaged charging draws power from fossil-fuel backup generators when solar output is no longer available.</a:t>
            </a:r>
            <a:endParaRPr/>
          </a:p>
          <a:p>
            <a:pPr marL="457200" marR="0" lvl="0" indent="-228600" algn="l" rtl="0">
              <a:lnSpc>
                <a:spcPct val="100000"/>
              </a:lnSpc>
              <a:spcBef>
                <a:spcPts val="0"/>
              </a:spcBef>
              <a:spcAft>
                <a:spcPts val="0"/>
              </a:spcAft>
              <a:buClr>
                <a:srgbClr val="000000"/>
              </a:buClr>
              <a:buSzPts val="1400"/>
              <a:buFont typeface="Arial"/>
              <a:buNone/>
            </a:pPr>
            <a:r>
              <a:rPr lang="en-US"/>
              <a:t>Managed charging</a:t>
            </a:r>
            <a:endParaRPr/>
          </a:p>
          <a:p>
            <a:pPr marL="457200" lvl="0" indent="-228600" algn="l" rtl="0">
              <a:lnSpc>
                <a:spcPct val="100000"/>
              </a:lnSpc>
              <a:spcBef>
                <a:spcPts val="0"/>
              </a:spcBef>
              <a:spcAft>
                <a:spcPts val="0"/>
              </a:spcAft>
              <a:buSzPts val="1400"/>
              <a:buFont typeface="Arial"/>
              <a:buChar char="•"/>
            </a:pPr>
            <a:r>
              <a:rPr lang="en-US"/>
              <a:t>Absorbs Midday Solar Surplus: </a:t>
            </a:r>
            <a:r>
              <a:rPr lang="en-US" sz="1200" b="0" i="0" u="none" strike="noStrike" cap="none">
                <a:solidFill>
                  <a:schemeClr val="dk1"/>
                </a:solidFill>
                <a:latin typeface="Calibri"/>
                <a:ea typeface="Calibri"/>
                <a:cs typeface="Calibri"/>
                <a:sym typeface="Calibri"/>
              </a:rPr>
              <a:t>Shifting charging to daytime hours (9:00 AM – 3:00 PM) absorbs low-cost rooftop solar generation during minimum demand periods.</a:t>
            </a:r>
            <a:endParaRPr/>
          </a:p>
          <a:p>
            <a:pPr marL="457200" lvl="0" indent="-228600" algn="l" rtl="0">
              <a:lnSpc>
                <a:spcPct val="100000"/>
              </a:lnSpc>
              <a:spcBef>
                <a:spcPts val="0"/>
              </a:spcBef>
              <a:spcAft>
                <a:spcPts val="0"/>
              </a:spcAft>
              <a:buSzPts val="1400"/>
              <a:buFont typeface="Arial"/>
              <a:buChar char="•"/>
            </a:pPr>
            <a:r>
              <a:rPr lang="en-US"/>
              <a:t>Off-Peak Overnight Recovery: Scheduling automated charging during quiet overnight hours uses base-load capacity efficiently. </a:t>
            </a:r>
            <a:endParaRPr/>
          </a:p>
          <a:p>
            <a:pPr marL="457200" lvl="0" indent="-228600" algn="l" rtl="0">
              <a:lnSpc>
                <a:spcPct val="100000"/>
              </a:lnSpc>
              <a:spcBef>
                <a:spcPts val="0"/>
              </a:spcBef>
              <a:spcAft>
                <a:spcPts val="0"/>
              </a:spcAft>
              <a:buSzPts val="1400"/>
              <a:buFont typeface="Arial"/>
              <a:buChar char="•"/>
            </a:pPr>
            <a:r>
              <a:rPr lang="en-US"/>
              <a:t>Reduced Peak Demand: Smart charging strategies (such as V1G smart charging) can </a:t>
            </a:r>
            <a:r>
              <a:rPr lang="en-US" sz="1200" b="0" i="0" u="none" strike="noStrike" cap="none">
                <a:solidFill>
                  <a:schemeClr val="dk1"/>
                </a:solidFill>
                <a:latin typeface="Calibri"/>
                <a:ea typeface="Calibri"/>
                <a:cs typeface="Calibri"/>
                <a:sym typeface="Calibri"/>
              </a:rPr>
              <a:t>help flattening system peak demand reduces the need for new peaking infrastructure and battery reserves, helping keep long-term electricity rates stable.</a:t>
            </a:r>
            <a:endParaRPr/>
          </a:p>
          <a:p>
            <a:pPr marL="457200" marR="0" lvl="0" indent="-228600" algn="l" rtl="0">
              <a:lnSpc>
                <a:spcPct val="100000"/>
              </a:lnSpc>
              <a:spcBef>
                <a:spcPts val="0"/>
              </a:spcBef>
              <a:spcAft>
                <a:spcPts val="0"/>
              </a:spcAft>
              <a:buClr>
                <a:srgbClr val="000000"/>
              </a:buClr>
              <a:buSzPts val="1400"/>
              <a:buFont typeface="Arial"/>
              <a:buNone/>
            </a:pPr>
            <a:endParaRPr/>
          </a:p>
          <a:p>
            <a:pPr marL="457200" marR="0" lvl="0" indent="-228600" algn="l" rtl="0">
              <a:lnSpc>
                <a:spcPct val="100000"/>
              </a:lnSpc>
              <a:spcBef>
                <a:spcPts val="0"/>
              </a:spcBef>
              <a:spcAft>
                <a:spcPts val="0"/>
              </a:spcAft>
              <a:buClr>
                <a:srgbClr val="000000"/>
              </a:buClr>
              <a:buSzPts val="1400"/>
              <a:buFont typeface="Arial"/>
              <a:buNone/>
            </a:pPr>
            <a:endParaRPr/>
          </a:p>
          <a:p>
            <a:pPr marL="457200" marR="0" lvl="0" indent="-228600" algn="l" rtl="0">
              <a:lnSpc>
                <a:spcPct val="100000"/>
              </a:lnSpc>
              <a:spcBef>
                <a:spcPts val="0"/>
              </a:spcBef>
              <a:spcAft>
                <a:spcPts val="0"/>
              </a:spcAft>
              <a:buClr>
                <a:srgbClr val="000000"/>
              </a:buClr>
              <a:buSzPts val="1400"/>
              <a:buFont typeface="Arial"/>
              <a:buNone/>
            </a:pPr>
            <a:r>
              <a:rPr lang="en-US" b="1"/>
              <a:t>EV energy (2030):</a:t>
            </a:r>
            <a:r>
              <a:rPr lang="en-US"/>
              <a:t> Low (Slower Growth) 501 GWh (2.4% of the 20,813 GWh operational base), Medium (Step Change) 670 GWh (3.2%), High (Accelerated Transition) 749 GWh (3.6%).</a:t>
            </a:r>
            <a:endParaRPr/>
          </a:p>
          <a:p>
            <a:pPr marL="457200" lvl="0" indent="-228600" algn="l" rtl="0">
              <a:lnSpc>
                <a:spcPct val="100000"/>
              </a:lnSpc>
              <a:spcBef>
                <a:spcPts val="0"/>
              </a:spcBef>
              <a:spcAft>
                <a:spcPts val="0"/>
              </a:spcAft>
              <a:buSzPts val="1400"/>
              <a:buNone/>
            </a:pPr>
            <a:r>
              <a:rPr lang="en-US" b="1"/>
              <a:t>Peak impact:</a:t>
            </a:r>
            <a:r>
              <a:rPr lang="en-US"/>
              <a:t> net of ESOO's own ~670 GWh of embedded EV, unmanaged charging moves the 5,224 MW base peak (6:30 pm) by −7, +15 or +25 MW (−0.1%, +0.3%, +0.5%). Managed charging instead lowers it by 44, 35 or 31 MW (−0.9%, −0.7%, −0.6%) in every scenario.</a:t>
            </a:r>
            <a:endParaRPr/>
          </a:p>
          <a:p>
            <a:pPr marL="457200" lvl="0" indent="-228600" algn="l" rtl="0">
              <a:lnSpc>
                <a:spcPct val="100000"/>
              </a:lnSpc>
              <a:spcBef>
                <a:spcPts val="0"/>
              </a:spcBef>
              <a:spcAft>
                <a:spcPts val="0"/>
              </a:spcAft>
              <a:buSzPts val="1400"/>
              <a:buNone/>
            </a:pPr>
            <a:r>
              <a:rPr lang="en-US" b="1"/>
              <a:t>Coincidence:</a:t>
            </a:r>
            <a:r>
              <a:rPr lang="en-US"/>
              <a:t> the change in net peak matches the EV load, net of ESOO's embedded EV, at the base-peak time in every scenario, because the peak interval doesn't shift. That's the headline for unmanaged charging.</a:t>
            </a:r>
            <a:endParaRPr/>
          </a:p>
          <a:p>
            <a:pPr marL="457200" lvl="0" indent="-228600" algn="l" rtl="0">
              <a:lnSpc>
                <a:spcPct val="100000"/>
              </a:lnSpc>
              <a:spcBef>
                <a:spcPts val="0"/>
              </a:spcBef>
              <a:spcAft>
                <a:spcPts val="0"/>
              </a:spcAft>
              <a:buSzPts val="1400"/>
              <a:buNone/>
            </a:pPr>
            <a:r>
              <a:rPr lang="en-US" b="1"/>
              <a:t>The peak doesn't move:</a:t>
            </a:r>
            <a:r>
              <a:rPr lang="en-US"/>
              <a:t> it stays at 6:30 pm on 14 January 2030 in all three scenarios (this base scenario has been rebuilt; an earlier version put the peak at 10:30 am on 20 January, from a time-zone bug in the trace since fixed).</a:t>
            </a:r>
            <a:endParaRPr/>
          </a:p>
          <a:p>
            <a:pPr marL="457200" lvl="0" indent="-228600" algn="l" rtl="0">
              <a:lnSpc>
                <a:spcPct val="100000"/>
              </a:lnSpc>
              <a:spcBef>
                <a:spcPts val="0"/>
              </a:spcBef>
              <a:spcAft>
                <a:spcPts val="0"/>
              </a:spcAft>
              <a:buSzPts val="1400"/>
              <a:buNone/>
            </a:pPr>
            <a:r>
              <a:rPr lang="en-US" b="1"/>
              <a:t>Minimum demand:</a:t>
            </a:r>
            <a:r>
              <a:rPr lang="en-US"/>
              <a:t> net of ESOO's embedded EV, unmanaged charging moves it by −16, +12 or +25 MW (Low lowers it slightly; Medium and High raise it, easing the minimum-demand and curtailment problem). Managed charging lowers it further in every scenario (−45, −27 or −19 MW).</a:t>
            </a:r>
            <a:endParaRPr/>
          </a:p>
          <a:p>
            <a:pPr marL="457200" lvl="0" indent="-228600" algn="l" rtl="0">
              <a:lnSpc>
                <a:spcPct val="100000"/>
              </a:lnSpc>
              <a:spcBef>
                <a:spcPts val="0"/>
              </a:spcBef>
              <a:spcAft>
                <a:spcPts val="0"/>
              </a:spcAft>
              <a:buSzPts val="1400"/>
              <a:buNone/>
            </a:pPr>
            <a:r>
              <a:rPr lang="en-US" b="1"/>
              <a:t>Integral check is 0.0000%</a:t>
            </a:r>
            <a:r>
              <a:rPr lang="en-US"/>
              <a:t>, so the traces conserve energy and the numbers are trustworthy.</a:t>
            </a:r>
            <a:endParaRPr/>
          </a:p>
          <a:p>
            <a:pPr marL="457200" marR="0" lvl="0" indent="-228600" algn="l" rtl="0">
              <a:lnSpc>
                <a:spcPct val="100000"/>
              </a:lnSpc>
              <a:spcBef>
                <a:spcPts val="0"/>
              </a:spcBef>
              <a:spcAft>
                <a:spcPts val="0"/>
              </a:spcAft>
              <a:buClr>
                <a:srgbClr val="000000"/>
              </a:buClr>
              <a:buSzPts val="1400"/>
              <a:buFont typeface="Arial"/>
              <a:buNone/>
            </a:pPr>
            <a:endParaRPr/>
          </a:p>
        </p:txBody>
      </p:sp>
      <p:sp>
        <p:nvSpPr>
          <p:cNvPr id="184" name="Google Shape;18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12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dirty="0"/>
              <a:t>Section 2. Question: will EVs delay the coal exit or lock us into gas?</a:t>
            </a:r>
          </a:p>
          <a:p>
            <a:pPr marL="0" lvl="0" indent="0" algn="l" rtl="0">
              <a:lnSpc>
                <a:spcPct val="100000"/>
              </a:lnSpc>
              <a:spcBef>
                <a:spcPts val="600"/>
              </a:spcBef>
              <a:spcAft>
                <a:spcPts val="0"/>
              </a:spcAft>
              <a:buSzPts val="1400"/>
              <a:buNone/>
            </a:pPr>
            <a:r>
              <a:rPr lang="en-US" dirty="0"/>
              <a:t>The framing: the coal retirement date (2029-30 on this slide) is a policy and economics decision. EVs can change how hard the remaining firming has to work, and at which hours, but they don't set the exit date.</a:t>
            </a:r>
          </a:p>
        </p:txBody>
      </p:sp>
      <p:sp>
        <p:nvSpPr>
          <p:cNvPr id="162" name="Google Shape;162;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The argument: the coal exit date is set by policy and economics, not by EV demand.</a:t>
            </a:r>
          </a:p>
          <a:p>
            <a:pPr marL="0" lvl="0" indent="0" algn="l" rtl="0">
              <a:lnSpc>
                <a:spcPct val="100000"/>
              </a:lnSpc>
              <a:spcBef>
                <a:spcPts val="600"/>
              </a:spcBef>
              <a:spcAft>
                <a:spcPts val="0"/>
              </a:spcAft>
              <a:buSzPts val="1400"/>
              <a:buNone/>
            </a:pPr>
            <a:r>
              <a:rPr lang="en-US"/>
              <a:t>Timetable: the WA Government's June 2022 statement 'State-owned coal power stations to be retired by 2030' gives Collie closing in late 2027 and Muja D in late 2029 (Muja C unit 5 closed in 2022 and unit 6 closes in 2024). The 2026 ESOO models the same dates as 'announced': Collie (317 MW) on 1 October 2027 and Muja D units 7 and 8 (422 MW) on 1 October 2029. The ESOO also assumes Bluewaters (434 MW, privately owned) is unavailable from 1 October 2031. The 2022 statement is old, so cite it alongside the ESOO.</a:t>
            </a:r>
          </a:p>
          <a:p>
            <a:pPr marL="0" lvl="0" indent="0" algn="l" rtl="0">
              <a:lnSpc>
                <a:spcPct val="100000"/>
              </a:lnSpc>
              <a:spcBef>
                <a:spcPts val="600"/>
              </a:spcBef>
              <a:spcAft>
                <a:spcPts val="0"/>
              </a:spcAft>
              <a:buSzPts val="1400"/>
              <a:buNone/>
            </a:pPr>
            <a:r>
              <a:rPr lang="en-US"/>
              <a:t>Replacement: the 2022 announcement committed about $3.8 billion of new renewable infrastructure across the SWIS. The ESOO 2026 counts 1,666 MW of existing and committed large-scale batteries by 2028-29 and a further 1,119 MW of committed generation and storage by 2030-31. Coal units are ageing and increasingly uneconomic in a solar-heavy midday market.</a:t>
            </a:r>
          </a:p>
          <a:p>
            <a:pPr marL="0" lvl="0" indent="0" algn="l" rtl="0">
              <a:lnSpc>
                <a:spcPct val="100000"/>
              </a:lnSpc>
              <a:spcBef>
                <a:spcPts val="600"/>
              </a:spcBef>
              <a:spcAft>
                <a:spcPts val="0"/>
              </a:spcAft>
              <a:buSzPts val="1400"/>
              <a:buNone/>
            </a:pPr>
            <a:r>
              <a:rPr lang="en-US"/>
              <a:t>What EVs add: EV charging energy in 2029-30 is 395 GWh (Slower Growth), 491 GWh (Step Change) or 542 GWh (Accelerated Transition), against about 19,900 GWh of SWIS consumption (operational basis) in the ESOO Expected case: roughly 2.0% to 2.7%.</a:t>
            </a:r>
          </a:p>
          <a:p>
            <a:pPr marL="0" lvl="0" indent="0" algn="l" rtl="0">
              <a:lnSpc>
                <a:spcPct val="100000"/>
              </a:lnSpc>
              <a:spcBef>
                <a:spcPts val="600"/>
              </a:spcBef>
              <a:spcAft>
                <a:spcPts val="0"/>
              </a:spcAft>
              <a:buSzPts val="1400"/>
              <a:buNone/>
            </a:pPr>
            <a:r>
              <a:rPr lang="en-US"/>
              <a:t>Daytime EV charging soaks up solar that currently forces coal to cycle or curtail. Evening charging adds to the firming task: slides 8 and 9 size it at about 170 to 420 MW at the 2035 peak if unmanaged, and 70 to 170 MW if managed. The ESOO's committed supply includes 3,127 MW of gas-fired generators and 1,666 MW of large-scale batteries.</a:t>
            </a:r>
          </a:p>
          <a:p>
            <a:pPr marL="0" lvl="0" indent="0" algn="l" rtl="0">
              <a:lnSpc>
                <a:spcPct val="100000"/>
              </a:lnSpc>
              <a:spcBef>
                <a:spcPts val="600"/>
              </a:spcBef>
              <a:spcAft>
                <a:spcPts val="0"/>
              </a:spcAft>
              <a:buSzPts val="1400"/>
              <a:buNone/>
            </a:pPr>
            <a:r>
              <a:rPr lang="en-US"/>
              <a:t>One placeholder remains on this slide: '[placeholder: SIREN run]', which needs an actual run to back the claim that EVs shift the hours gas runs, not the need for it. Say that plainly, or cut the line, until there is a run.</a:t>
            </a:r>
          </a:p>
        </p:txBody>
      </p:sp>
      <p:sp>
        <p:nvSpPr>
          <p:cNvPr id="169" name="Google Shape;169;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When EVs charge matters more than how much they use. This chart is the average charging power per vehicle across the day, by vehicle type, from the IASR WEM workbook.</a:t>
            </a:r>
          </a:p>
          <a:p>
            <a:pPr marL="0" lvl="0" indent="0" algn="l" rtl="0">
              <a:lnSpc>
                <a:spcPct val="100000"/>
              </a:lnSpc>
              <a:spcBef>
                <a:spcPts val="600"/>
              </a:spcBef>
              <a:spcAft>
                <a:spcPts val="0"/>
              </a:spcAft>
              <a:buSzPts val="1400"/>
              <a:buNone/>
            </a:pPr>
            <a:r>
              <a:rPr lang="en-US"/>
              <a:t>Articulated trucks dominate: about 12 to 17 kW on average, against under 3 kW for every other type, because of far larger batteries. Their swing is the widest, from about 7 kW at 7 pm to about 17 kW at 11 am.</a:t>
            </a:r>
          </a:p>
          <a:p>
            <a:pPr marL="0" lvl="0" indent="0" algn="l" rtl="0">
              <a:lnSpc>
                <a:spcPct val="100000"/>
              </a:lnSpc>
              <a:spcBef>
                <a:spcPts val="600"/>
              </a:spcBef>
              <a:spcAft>
                <a:spcPts val="0"/>
              </a:spcAft>
              <a:buSzPts val="1400"/>
              <a:buNone/>
            </a:pPr>
            <a:r>
              <a:rPr lang="en-US"/>
              <a:t>All segments share the same daily shape: a trough around 5 am, a peak around 11 am to 12:30 pm, a gradual decline into the evening, then a rise again. That reflects a blend of overnight off-peak and midday solar charging rather than a single overnight profile.</a:t>
            </a:r>
          </a:p>
          <a:p>
            <a:pPr marL="0" lvl="0" indent="0" algn="l" rtl="0">
              <a:lnSpc>
                <a:spcPct val="100000"/>
              </a:lnSpc>
              <a:spcBef>
                <a:spcPts val="600"/>
              </a:spcBef>
              <a:spcAft>
                <a:spcPts val="0"/>
              </a:spcAft>
              <a:buSzPts val="1400"/>
              <a:buNone/>
            </a:pPr>
            <a:r>
              <a:rPr lang="en-US"/>
              <a:t>Caution: this is a blend of charging types, including managed ones, which is why it peaks at midday. Unmanaged charging alone is more of an afternoon shape (slides 16 and 19).</a:t>
            </a:r>
          </a:p>
        </p:txBody>
      </p:sp>
      <p:sp>
        <p:nvSpPr>
          <p:cNvPr id="180" name="Google Shape;180;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Transmission versus distribution. The bulk system copes (slides 6 to 9); the constraint is local.</a:t>
            </a:r>
          </a:p>
          <a:p>
            <a:pPr marL="0" lvl="0" indent="0" algn="l" rtl="0">
              <a:lnSpc>
                <a:spcPct val="100000"/>
              </a:lnSpc>
              <a:spcBef>
                <a:spcPts val="600"/>
              </a:spcBef>
              <a:spcAft>
                <a:spcPts val="0"/>
              </a:spcAft>
              <a:buSzPts val="1400"/>
              <a:buNone/>
            </a:pPr>
            <a:r>
              <a:rPr lang="en-US"/>
              <a:t>Headroom, from the ESOO 2026 Table 1 (Expected scenario): the surplus is small and then turns into a shortfall. Peak Reserve Capacity Target against existing and committed peak capacity: 5,720 vs 5,987 MW in 2026-27 (+267), 6,323 vs 6,670 MW in 2028-29 (+347), then 6,475 vs 6,310 MW in 2029-30 (minus 166), widening to 7,454 vs 5,293 MW in 2035-36 (minus 2,161 MW). Counting anticipated projects, the 2035-36 shortfall is 1,565 MW. Unscheduled operational peak demand is 6,016 MW in 2035-36.</a:t>
            </a:r>
          </a:p>
          <a:p>
            <a:pPr marL="0" lvl="0" indent="0" algn="l" rtl="0">
              <a:lnSpc>
                <a:spcPct val="100000"/>
              </a:lnSpc>
              <a:spcBef>
                <a:spcPts val="600"/>
              </a:spcBef>
              <a:spcAft>
                <a:spcPts val="0"/>
              </a:spcAft>
              <a:buSzPts val="1400"/>
              <a:buNone/>
            </a:pPr>
            <a:r>
              <a:rPr lang="en-US"/>
              <a:t>How that fits with EVs: the EV effect on the peak is about minus 145 to plus 200 MW (minus 2.4% to plus 3.4%), well inside a shortfall of 1.6 to 2.2 GW. EVs don't cause the shortfall. But the gap between unmanaged and managed charging in the high scenario is about 240 MW, which is not trivial against 596 MW of anticipated capacity. So charging behaviour matters most where headroom is thin.</a:t>
            </a:r>
          </a:p>
          <a:p>
            <a:pPr marL="0" lvl="0" indent="0" algn="l" rtl="0">
              <a:lnSpc>
                <a:spcPct val="100000"/>
              </a:lnSpc>
              <a:spcBef>
                <a:spcPts val="600"/>
              </a:spcBef>
              <a:spcAft>
                <a:spcPts val="0"/>
              </a:spcAft>
              <a:buSzPts val="1400"/>
              <a:buNone/>
            </a:pPr>
            <a:r>
              <a:rPr lang="en-US"/>
              <a:t>Distribution is where it bites: a street of 7 kW chargers all starting at 6 pm can exceed a pole-top transformer's rating even when the SWIS as a whole has plenty of headroom. System-level numbers can't show that.</a:t>
            </a:r>
          </a:p>
          <a:p>
            <a:pPr marL="0" lvl="0" indent="0" algn="l" rtl="0">
              <a:lnSpc>
                <a:spcPct val="100000"/>
              </a:lnSpc>
              <a:spcBef>
                <a:spcPts val="600"/>
              </a:spcBef>
              <a:spcAft>
                <a:spcPts val="0"/>
              </a:spcAft>
              <a:buSzPts val="1400"/>
              <a:buNone/>
            </a:pPr>
            <a:r>
              <a:rPr lang="en-US"/>
              <a:t>Levers: time-of-use tariffs, managed charging and smart chargers. Slide 9 shows what they are worth at system level. The ESOO 2026 adds a related point: it models Synergy's VPP for the first time, with about 640 MW of distributed batteries coordinated in 2028-29 (at a 50% availability assumption) reducing the peak by about 200 MW.</a:t>
            </a:r>
          </a:p>
          <a:p>
            <a:pPr marL="0" lvl="0" indent="0" algn="l" rtl="0">
              <a:lnSpc>
                <a:spcPct val="100000"/>
              </a:lnSpc>
              <a:spcBef>
                <a:spcPts val="600"/>
              </a:spcBef>
              <a:spcAft>
                <a:spcPts val="0"/>
              </a:spcAft>
              <a:buSzPts val="1400"/>
              <a:buNone/>
            </a:pPr>
            <a:r>
              <a:rPr lang="en-US"/>
              <a:t>Two placeholders remain and are not in the ESOO: the share of Western Power feeders with evening headroom (needs Western Power EV / DER data) and Synergy EV tariff uptake. Fill them from those sources or cut them.</a:t>
            </a:r>
          </a:p>
        </p:txBody>
      </p:sp>
      <p:sp>
        <p:nvSpPr>
          <p:cNvPr id="190" name="Google Shape;190;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Section 3. Question: is V2H / V2G essential, or a techno-utopia?</a:t>
            </a:r>
          </a:p>
          <a:p>
            <a:pPr marL="0" lvl="0" indent="0" algn="l" rtl="0">
              <a:lnSpc>
                <a:spcPct val="100000"/>
              </a:lnSpc>
              <a:spcBef>
                <a:spcPts val="600"/>
              </a:spcBef>
              <a:spcAft>
                <a:spcPts val="0"/>
              </a:spcAft>
              <a:buSzPts val="1400"/>
              <a:buNone/>
            </a:pPr>
            <a:r>
              <a:rPr lang="en-US"/>
              <a:t>Framing: before asking for bidirectional charging, look at what smart one-way charging can already do. Slides 8 and 9 showed it cuts the peak impact by about 60%. The next slides define the charging types, then weigh V2G's proven benefits against its promises.</a:t>
            </a:r>
          </a:p>
        </p:txBody>
      </p:sp>
      <p:sp>
        <p:nvSpPr>
          <p:cNvPr id="200" name="Google Shape;200;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409fc138a83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409fc138a83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Definitions used in the modelling. These are AEMO's IASR charging-type categories, grouped into three modes.</a:t>
            </a:r>
          </a:p>
          <a:p>
            <a:pPr marL="0" lvl="0" indent="0" algn="l" rtl="0">
              <a:lnSpc>
                <a:spcPct val="100000"/>
              </a:lnSpc>
              <a:spcBef>
                <a:spcPts val="600"/>
              </a:spcBef>
              <a:spcAft>
                <a:spcPts val="0"/>
              </a:spcAft>
              <a:buSzPts val="1400"/>
              <a:buNone/>
            </a:pPr>
            <a:r>
              <a:rPr lang="en-US"/>
              <a:t>Unmanaged: arrival-based charging (Unscheduled and Public). It peaks in the afternoon and evening as people get home or park, so it is the worst case for the system peak.</a:t>
            </a:r>
          </a:p>
          <a:p>
            <a:pPr marL="0" lvl="0" indent="0" algn="l" rtl="0">
              <a:lnSpc>
                <a:spcPct val="100000"/>
              </a:lnSpc>
              <a:spcBef>
                <a:spcPts val="600"/>
              </a:spcBef>
              <a:spcAft>
                <a:spcPts val="0"/>
              </a:spcAft>
              <a:buSzPts val="1400"/>
              <a:buNone/>
            </a:pPr>
            <a:r>
              <a:rPr lang="en-US"/>
              <a:t>Managed: time-of-use, off-peak or coordinated charging (Off-peak and Solar, TOU Grid Solar). It shifts load to the middle of the day or to overnight.</a:t>
            </a:r>
          </a:p>
          <a:p>
            <a:pPr marL="0" lvl="0" indent="0" algn="l" rtl="0">
              <a:lnSpc>
                <a:spcPct val="100000"/>
              </a:lnSpc>
              <a:spcBef>
                <a:spcPts val="600"/>
              </a:spcBef>
              <a:spcAft>
                <a:spcPts val="0"/>
              </a:spcAft>
              <a:buSzPts val="1400"/>
              <a:buNone/>
            </a:pPr>
            <a:r>
              <a:rPr lang="en-US"/>
              <a:t>V2X: vehicle-to-home and vehicle-to-grid, including bidirectional charging.</a:t>
            </a:r>
          </a:p>
          <a:p>
            <a:pPr marL="0" lvl="0" indent="0" algn="l" rtl="0">
              <a:lnSpc>
                <a:spcPct val="100000"/>
              </a:lnSpc>
              <a:spcBef>
                <a:spcPts val="600"/>
              </a:spcBef>
              <a:spcAft>
                <a:spcPts val="0"/>
              </a:spcAft>
              <a:buSzPts val="1400"/>
              <a:buNone/>
            </a:pPr>
            <a:r>
              <a:rPr lang="en-US"/>
              <a:t>Slides 7 to 9 use the unmanaged and managed modes; V2X is not modelled yet.</a:t>
            </a:r>
          </a:p>
        </p:txBody>
      </p:sp>
      <p:sp>
        <p:nvSpPr>
          <p:cNvPr id="208" name="Google Shape;208;g409fc138a83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a:extLst>
            <a:ext uri="{FF2B5EF4-FFF2-40B4-BE49-F238E27FC236}">
              <a16:creationId xmlns:a16="http://schemas.microsoft.com/office/drawing/2014/main" id="{D721C8D3-DBEC-FE2D-5E8D-6D5FFEA2D03D}"/>
            </a:ext>
          </a:extLst>
        </p:cNvPr>
        <p:cNvGrpSpPr/>
        <p:nvPr/>
      </p:nvGrpSpPr>
      <p:grpSpPr>
        <a:xfrm>
          <a:off x="0" y="0"/>
          <a:ext cx="0" cy="0"/>
          <a:chOff x="0" y="0"/>
          <a:chExt cx="0" cy="0"/>
        </a:xfrm>
      </p:grpSpPr>
      <p:sp>
        <p:nvSpPr>
          <p:cNvPr id="206" name="Google Shape;206;g409fc138a83_1_0:notes">
            <a:extLst>
              <a:ext uri="{FF2B5EF4-FFF2-40B4-BE49-F238E27FC236}">
                <a16:creationId xmlns:a16="http://schemas.microsoft.com/office/drawing/2014/main" id="{7C4E2A8F-9F98-94F1-D18B-FA54ECB0DE1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409fc138a83_1_0:notes">
            <a:extLst>
              <a:ext uri="{FF2B5EF4-FFF2-40B4-BE49-F238E27FC236}">
                <a16:creationId xmlns:a16="http://schemas.microsoft.com/office/drawing/2014/main" id="{AA385E20-A8C3-D193-7B65-2BBADFA63AF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AEMO's assumed mix of charging types for the WEM, from the 2040 snapshot in the IASR workbook: Unscheduled 36.4% (peaks 3 pm), Public 11.2% (peaks midday), Off-peak and Solar 15.2% (peaks 2 am), TOU Grid Solar 5.2% (peaks midday), and V2G and V2H at 6.3% each (peak around midday).</a:t>
            </a:r>
          </a:p>
          <a:p>
            <a:pPr marL="0" lvl="0" indent="0" algn="l" rtl="0">
              <a:lnSpc>
                <a:spcPct val="100000"/>
              </a:lnSpc>
              <a:spcBef>
                <a:spcPts val="600"/>
              </a:spcBef>
              <a:spcAft>
                <a:spcPts val="0"/>
              </a:spcAft>
              <a:buSzPts val="1400"/>
              <a:buNone/>
            </a:pPr>
            <a:r>
              <a:rPr lang="en-US"/>
              <a:t>The shares shown add up to about 81%. The remainder is charging types without a static time-of-day profile, such as dynamic time-of-use, so it is not on this table.</a:t>
            </a:r>
          </a:p>
          <a:p>
            <a:pPr marL="0" lvl="0" indent="0" algn="l" rtl="0">
              <a:lnSpc>
                <a:spcPct val="100000"/>
              </a:lnSpc>
              <a:spcBef>
                <a:spcPts val="600"/>
              </a:spcBef>
              <a:spcAft>
                <a:spcPts val="0"/>
              </a:spcAft>
              <a:buSzPts val="1400"/>
              <a:buNone/>
            </a:pPr>
            <a:r>
              <a:rPr lang="en-US"/>
              <a:t>In our modelling, unmanaged is Unscheduled plus Public (47.6% of all charging) and managed is Off-peak and Solar plus TOU Grid Solar (20.4%). That is about 70% and 30% once normalised, which is the mix we assume for the EV load already inside the ESOO.</a:t>
            </a:r>
          </a:p>
          <a:p>
            <a:pPr marL="0" lvl="0" indent="0" algn="l" rtl="0">
              <a:lnSpc>
                <a:spcPct val="100000"/>
              </a:lnSpc>
              <a:spcBef>
                <a:spcPts val="600"/>
              </a:spcBef>
              <a:spcAft>
                <a:spcPts val="0"/>
              </a:spcAft>
              <a:buSzPts val="1400"/>
              <a:buNone/>
            </a:pPr>
            <a:r>
              <a:rPr lang="en-US"/>
              <a:t>Source: BEV_PHEV_Charge_Type (%) and BEV_PHEV_Profile_kW sheets, WEM region.</a:t>
            </a:r>
          </a:p>
        </p:txBody>
      </p:sp>
      <p:sp>
        <p:nvSpPr>
          <p:cNvPr id="208" name="Google Shape;208;g409fc138a83_1_0:notes">
            <a:extLst>
              <a:ext uri="{FF2B5EF4-FFF2-40B4-BE49-F238E27FC236}">
                <a16:creationId xmlns:a16="http://schemas.microsoft.com/office/drawing/2014/main" id="{438E1FA3-252D-6F07-5214-FA68A95CF8AF}"/>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20</a:t>
            </a:fld>
            <a:endParaRPr/>
          </a:p>
        </p:txBody>
      </p:sp>
    </p:spTree>
    <p:extLst>
      <p:ext uri="{BB962C8B-B14F-4D97-AF65-F5344CB8AC3E}">
        <p14:creationId xmlns:p14="http://schemas.microsoft.com/office/powerpoint/2010/main" val="35648568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a:extLst>
            <a:ext uri="{FF2B5EF4-FFF2-40B4-BE49-F238E27FC236}">
              <a16:creationId xmlns:a16="http://schemas.microsoft.com/office/drawing/2014/main" id="{F65BFDB0-2139-D664-D75B-410F24AE3C29}"/>
            </a:ext>
          </a:extLst>
        </p:cNvPr>
        <p:cNvGrpSpPr/>
        <p:nvPr/>
      </p:nvGrpSpPr>
      <p:grpSpPr>
        <a:xfrm>
          <a:off x="0" y="0"/>
          <a:ext cx="0" cy="0"/>
          <a:chOff x="0" y="0"/>
          <a:chExt cx="0" cy="0"/>
        </a:xfrm>
      </p:grpSpPr>
      <p:sp>
        <p:nvSpPr>
          <p:cNvPr id="206" name="Google Shape;206;g409fc138a83_1_0:notes">
            <a:extLst>
              <a:ext uri="{FF2B5EF4-FFF2-40B4-BE49-F238E27FC236}">
                <a16:creationId xmlns:a16="http://schemas.microsoft.com/office/drawing/2014/main" id="{3C0E404E-E1FA-19EC-950B-8D4DB4ED91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409fc138a83_1_0:notes">
            <a:extLst>
              <a:ext uri="{FF2B5EF4-FFF2-40B4-BE49-F238E27FC236}">
                <a16:creationId xmlns:a16="http://schemas.microsoft.com/office/drawing/2014/main" id="{BDF75D98-C716-8E5E-79CB-1D41D6F8758C}"/>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Weekday charging shape by charging type: the share of a day's charging energy in each half-hour.</a:t>
            </a:r>
          </a:p>
          <a:p>
            <a:pPr marL="0" lvl="0" indent="0" algn="l" rtl="0">
              <a:lnSpc>
                <a:spcPct val="100000"/>
              </a:lnSpc>
              <a:spcBef>
                <a:spcPts val="600"/>
              </a:spcBef>
              <a:spcAft>
                <a:spcPts val="0"/>
              </a:spcAft>
              <a:buSzPts val="1400"/>
              <a:buNone/>
            </a:pPr>
            <a:r>
              <a:rPr lang="en-US"/>
              <a:t>Unscheduled charging (red) is broad from about 9 am to 4 pm and still elevated through the evening. Public charging peaks around midday. Off-peak and Solar (green dotted) is highest overnight, around 2 am. TOU Grid Solar peaks at midday.</a:t>
            </a:r>
          </a:p>
          <a:p>
            <a:pPr marL="0" lvl="0" indent="0" algn="l" rtl="0">
              <a:lnSpc>
                <a:spcPct val="100000"/>
              </a:lnSpc>
              <a:spcBef>
                <a:spcPts val="600"/>
              </a:spcBef>
              <a:spcAft>
                <a:spcPts val="0"/>
              </a:spcAft>
              <a:buSzPts val="1400"/>
              <a:buNone/>
            </a:pPr>
            <a:r>
              <a:rPr lang="en-US"/>
              <a:t>The V2G and V2H lines (purple) peak between 11 am and noon, fall from mid-afternoon and are down to about a quarter of their peak by 5 pm, so they stay off the evening peak.</a:t>
            </a:r>
          </a:p>
          <a:p>
            <a:pPr marL="0" lvl="0" indent="0" algn="l" rtl="0">
              <a:lnSpc>
                <a:spcPct val="100000"/>
              </a:lnSpc>
              <a:spcBef>
                <a:spcPts val="600"/>
              </a:spcBef>
              <a:spcAft>
                <a:spcPts val="0"/>
              </a:spcAft>
              <a:buSzPts val="1400"/>
              <a:buNone/>
            </a:pPr>
            <a:r>
              <a:rPr lang="en-US"/>
              <a:t>The point: only the unmanaged types keep charging through the 5 to 7 pm window.</a:t>
            </a:r>
          </a:p>
        </p:txBody>
      </p:sp>
      <p:sp>
        <p:nvSpPr>
          <p:cNvPr id="208" name="Google Shape;208;g409fc138a83_1_0:notes">
            <a:extLst>
              <a:ext uri="{FF2B5EF4-FFF2-40B4-BE49-F238E27FC236}">
                <a16:creationId xmlns:a16="http://schemas.microsoft.com/office/drawing/2014/main" id="{62812693-B141-DB3B-1967-5DABACF686D6}"/>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21</a:t>
            </a:fld>
            <a:endParaRPr/>
          </a:p>
        </p:txBody>
      </p:sp>
    </p:spTree>
    <p:extLst>
      <p:ext uri="{BB962C8B-B14F-4D97-AF65-F5344CB8AC3E}">
        <p14:creationId xmlns:p14="http://schemas.microsoft.com/office/powerpoint/2010/main" val="20812214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a:extLst>
            <a:ext uri="{FF2B5EF4-FFF2-40B4-BE49-F238E27FC236}">
              <a16:creationId xmlns:a16="http://schemas.microsoft.com/office/drawing/2014/main" id="{5DCC82CB-1991-A180-675D-4C6D40073A17}"/>
            </a:ext>
          </a:extLst>
        </p:cNvPr>
        <p:cNvGrpSpPr/>
        <p:nvPr/>
      </p:nvGrpSpPr>
      <p:grpSpPr>
        <a:xfrm>
          <a:off x="0" y="0"/>
          <a:ext cx="0" cy="0"/>
          <a:chOff x="0" y="0"/>
          <a:chExt cx="0" cy="0"/>
        </a:xfrm>
      </p:grpSpPr>
      <p:sp>
        <p:nvSpPr>
          <p:cNvPr id="206" name="Google Shape;206;g409fc138a83_1_0:notes">
            <a:extLst>
              <a:ext uri="{FF2B5EF4-FFF2-40B4-BE49-F238E27FC236}">
                <a16:creationId xmlns:a16="http://schemas.microsoft.com/office/drawing/2014/main" id="{2C43ACCF-B4D6-08F7-A853-0FE0A5580B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409fc138a83_1_0:notes">
            <a:extLst>
              <a:ext uri="{FF2B5EF4-FFF2-40B4-BE49-F238E27FC236}">
                <a16:creationId xmlns:a16="http://schemas.microsoft.com/office/drawing/2014/main" id="{60484B2A-E9F2-0D55-5BC1-7C49D357CC11}"/>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Weekend charging shapes. Very similar timing to weekdays.</a:t>
            </a:r>
          </a:p>
          <a:p>
            <a:pPr marL="0" lvl="0" indent="0" algn="l" rtl="0">
              <a:lnSpc>
                <a:spcPct val="100000"/>
              </a:lnSpc>
              <a:spcBef>
                <a:spcPts val="600"/>
              </a:spcBef>
              <a:spcAft>
                <a:spcPts val="0"/>
              </a:spcAft>
              <a:buSzPts val="1400"/>
              <a:buNone/>
            </a:pPr>
            <a:r>
              <a:rPr lang="en-US"/>
              <a:t>The V2G and V2H shapes stay high for longer, from about 11 am to 3 pm, then fall away sharply from about 3 pm to 5 pm. Unscheduled charging peaks in the mid to late afternoon.</a:t>
            </a:r>
          </a:p>
          <a:p>
            <a:pPr marL="0" lvl="0" indent="0" algn="l" rtl="0">
              <a:lnSpc>
                <a:spcPct val="100000"/>
              </a:lnSpc>
              <a:spcBef>
                <a:spcPts val="600"/>
              </a:spcBef>
              <a:spcAft>
                <a:spcPts val="0"/>
              </a:spcAft>
              <a:buSzPts val="1400"/>
              <a:buNone/>
            </a:pPr>
            <a:r>
              <a:rPr lang="en-US"/>
              <a:t>Weekends matter less for the system peak, which is a summer weekday evening, but the shapes show the same principle: managed and V2X charging avoid the early evening.</a:t>
            </a:r>
          </a:p>
        </p:txBody>
      </p:sp>
      <p:sp>
        <p:nvSpPr>
          <p:cNvPr id="208" name="Google Shape;208;g409fc138a83_1_0:notes">
            <a:extLst>
              <a:ext uri="{FF2B5EF4-FFF2-40B4-BE49-F238E27FC236}">
                <a16:creationId xmlns:a16="http://schemas.microsoft.com/office/drawing/2014/main" id="{C29859C4-5A85-C0ED-9E04-1371ED37BBD0}"/>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22</a:t>
            </a:fld>
            <a:endParaRPr/>
          </a:p>
        </p:txBody>
      </p:sp>
    </p:spTree>
    <p:extLst>
      <p:ext uri="{BB962C8B-B14F-4D97-AF65-F5344CB8AC3E}">
        <p14:creationId xmlns:p14="http://schemas.microsoft.com/office/powerpoint/2010/main" val="25997258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a:extLst>
            <a:ext uri="{FF2B5EF4-FFF2-40B4-BE49-F238E27FC236}">
              <a16:creationId xmlns:a16="http://schemas.microsoft.com/office/drawing/2014/main" id="{86E7309B-82E6-E7E3-10E2-5FBADE935184}"/>
            </a:ext>
          </a:extLst>
        </p:cNvPr>
        <p:cNvGrpSpPr/>
        <p:nvPr/>
      </p:nvGrpSpPr>
      <p:grpSpPr>
        <a:xfrm>
          <a:off x="0" y="0"/>
          <a:ext cx="0" cy="0"/>
          <a:chOff x="0" y="0"/>
          <a:chExt cx="0" cy="0"/>
        </a:xfrm>
      </p:grpSpPr>
      <p:sp>
        <p:nvSpPr>
          <p:cNvPr id="206" name="Google Shape;206;g409fc138a83_1_0:notes">
            <a:extLst>
              <a:ext uri="{FF2B5EF4-FFF2-40B4-BE49-F238E27FC236}">
                <a16:creationId xmlns:a16="http://schemas.microsoft.com/office/drawing/2014/main" id="{A1D37528-D409-520E-DFA3-FB5865FCE41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409fc138a83_1_0:notes">
            <a:extLst>
              <a:ext uri="{FF2B5EF4-FFF2-40B4-BE49-F238E27FC236}">
                <a16:creationId xmlns:a16="http://schemas.microsoft.com/office/drawing/2014/main" id="{CC0BE502-28F5-4E27-4817-1CC47C92342B}"/>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The composite shapes, weighted by each charging type's share, are what feed the EV load model in slides 7 to 9.</a:t>
            </a:r>
          </a:p>
          <a:p>
            <a:pPr marL="0" lvl="0" indent="0" algn="l" rtl="0">
              <a:lnSpc>
                <a:spcPct val="100000"/>
              </a:lnSpc>
              <a:spcBef>
                <a:spcPts val="600"/>
              </a:spcBef>
              <a:spcAft>
                <a:spcPts val="0"/>
              </a:spcAft>
              <a:buSzPts val="1400"/>
              <a:buNone/>
            </a:pPr>
            <a:r>
              <a:rPr lang="en-US"/>
              <a:t>Unmanaged (red): a trough around 5 am, rising through the morning to a plateau from about 11 am to 4 pm, then easing through the evening. It is still well above its trough at 6 pm.</a:t>
            </a:r>
          </a:p>
          <a:p>
            <a:pPr marL="0" lvl="0" indent="0" algn="l" rtl="0">
              <a:lnSpc>
                <a:spcPct val="100000"/>
              </a:lnSpc>
              <a:spcBef>
                <a:spcPts val="600"/>
              </a:spcBef>
              <a:spcAft>
                <a:spcPts val="0"/>
              </a:spcAft>
              <a:buSzPts val="1400"/>
              <a:buNone/>
            </a:pPr>
            <a:r>
              <a:rPr lang="en-US"/>
              <a:t>Managed (green): highest overnight, declining through the day to a trough between about 5 and 6 pm, then climbing again after 8 pm. That evening trough is why managed charging cuts the coincident peak load by about 60% compared with unmanaged.</a:t>
            </a:r>
          </a:p>
          <a:p>
            <a:pPr marL="0" lvl="0" indent="0" algn="l" rtl="0">
              <a:lnSpc>
                <a:spcPct val="100000"/>
              </a:lnSpc>
              <a:spcBef>
                <a:spcPts val="600"/>
              </a:spcBef>
              <a:spcAft>
                <a:spcPts val="0"/>
              </a:spcAft>
              <a:buSzPts val="1400"/>
              <a:buNone/>
            </a:pPr>
            <a:r>
              <a:rPr lang="en-US"/>
              <a:t>This is the visual answer to 'when, not how much'.</a:t>
            </a:r>
          </a:p>
        </p:txBody>
      </p:sp>
      <p:sp>
        <p:nvSpPr>
          <p:cNvPr id="208" name="Google Shape;208;g409fc138a83_1_0:notes">
            <a:extLst>
              <a:ext uri="{FF2B5EF4-FFF2-40B4-BE49-F238E27FC236}">
                <a16:creationId xmlns:a16="http://schemas.microsoft.com/office/drawing/2014/main" id="{A4939F5B-BF45-985F-7FAF-9FBD13164A32}"/>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23</a:t>
            </a:fld>
            <a:endParaRPr/>
          </a:p>
        </p:txBody>
      </p:sp>
    </p:spTree>
    <p:extLst>
      <p:ext uri="{BB962C8B-B14F-4D97-AF65-F5344CB8AC3E}">
        <p14:creationId xmlns:p14="http://schemas.microsoft.com/office/powerpoint/2010/main" val="42135381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a:extLst>
            <a:ext uri="{FF2B5EF4-FFF2-40B4-BE49-F238E27FC236}">
              <a16:creationId xmlns:a16="http://schemas.microsoft.com/office/drawing/2014/main" id="{19F7E407-E728-2DCA-8E91-A71250576A4C}"/>
            </a:ext>
          </a:extLst>
        </p:cNvPr>
        <p:cNvGrpSpPr/>
        <p:nvPr/>
      </p:nvGrpSpPr>
      <p:grpSpPr>
        <a:xfrm>
          <a:off x="0" y="0"/>
          <a:ext cx="0" cy="0"/>
          <a:chOff x="0" y="0"/>
          <a:chExt cx="0" cy="0"/>
        </a:xfrm>
      </p:grpSpPr>
      <p:sp>
        <p:nvSpPr>
          <p:cNvPr id="213" name="Google Shape;213;p35:notes">
            <a:extLst>
              <a:ext uri="{FF2B5EF4-FFF2-40B4-BE49-F238E27FC236}">
                <a16:creationId xmlns:a16="http://schemas.microsoft.com/office/drawing/2014/main" id="{9CDFB0DA-8361-5B93-ED3A-4702DD10FAB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Q3 is split over three slides: what is proven, what is promised, and what it costs. This one is what is proven.</a:t>
            </a:r>
          </a:p>
          <a:p>
            <a:pPr marL="0" lvl="0" indent="0" algn="l" rtl="0">
              <a:lnSpc>
                <a:spcPct val="100000"/>
              </a:lnSpc>
              <a:spcBef>
                <a:spcPts val="600"/>
              </a:spcBef>
              <a:spcAft>
                <a:spcPts val="0"/>
              </a:spcAft>
              <a:buSzPts val="1400"/>
              <a:buNone/>
            </a:pPr>
            <a:r>
              <a:rPr lang="en-US"/>
              <a:t>Cars are parked about 95% of the time, mostly at home or work, so the energy is there to use. V2H gives households outage resilience without a separate battery.</a:t>
            </a:r>
          </a:p>
          <a:p>
            <a:pPr marL="0" lvl="0" indent="0" algn="l" rtl="0">
              <a:lnSpc>
                <a:spcPct val="100000"/>
              </a:lnSpc>
              <a:spcBef>
                <a:spcPts val="600"/>
              </a:spcBef>
              <a:spcAft>
                <a:spcPts val="0"/>
              </a:spcAft>
              <a:buSzPts val="1400"/>
              <a:buNone/>
            </a:pPr>
            <a:r>
              <a:rPr lang="en-US"/>
              <a:t>Scale: the IASR WEM workbook has about 494,000 (Slower Growth), 650,000 (Step Change) and 991,000 (Accelerated Transition) battery EVs in 2035-36. At 75.8 kWh each that is about 37, 49 and 75 GWh of on-board storage. Read that as a theoretical ceiling, not usable V2G capacity: the 75.8 kWh comes from Compare the Market's 2026 average of 20 available EV models. It is not a fleet average and not weighted by sales, and the article doesn't say whether it includes plug-in hybrids. A real 2035 fleet will hold many older, smaller-battery cars (the same article puts the 2011 average at 18.1 kWh) plus some larger trucks and buses. Usable capacity is lower again once you allow for state-of-charge limits, cars not being plugged in, and the share of cars that are V2G-capable.</a:t>
            </a:r>
          </a:p>
          <a:p>
            <a:pPr marL="0" lvl="0" indent="0" algn="l" rtl="0">
              <a:lnSpc>
                <a:spcPct val="100000"/>
              </a:lnSpc>
              <a:spcBef>
                <a:spcPts val="600"/>
              </a:spcBef>
              <a:spcAft>
                <a:spcPts val="0"/>
              </a:spcAft>
              <a:buSzPts val="1400"/>
              <a:buNone/>
            </a:pPr>
            <a:r>
              <a:rPr lang="en-US"/>
              <a:t>For comparison the ESOO 2026 counts 1,666 MW of existing and committed large-scale batteries by 2028-29, but gives power, not energy, so the slide does not state a stationary GWh figure. The only duration in the ESOO is the ERA's 200 MW / 1,200 MWh (six-hour) benchmark battery. If you want a ratio, get the registered MWh of those batteries first, rather than assuming a duration.</a:t>
            </a:r>
          </a:p>
          <a:p>
            <a:pPr marL="0" lvl="0" indent="0" algn="l" rtl="0">
              <a:lnSpc>
                <a:spcPct val="100000"/>
              </a:lnSpc>
              <a:spcBef>
                <a:spcPts val="600"/>
              </a:spcBef>
              <a:spcAft>
                <a:spcPts val="0"/>
              </a:spcAft>
              <a:buSzPts val="1400"/>
              <a:buNone/>
            </a:pPr>
            <a:r>
              <a:rPr lang="en-US"/>
              <a:t>Trial: Horizon Power's 12-month V2G trial in Exmouth, completed in September 2025. Four organisations (the Gascoyne Development Commission, the Shire of Exmouth, the Exmouth Chamber of Commerce and Industry, and WA Country Health Service) received V2G-capable Nissan Leafs, coordinated by a distributed energy resource management system (DERMS) that balanced grid stability with customer needs. The Government's media statement (22 September 2025) reports success but publishes no kW, revenue or participation figures, so don't quote any. Horizon Power says it will use the findings to develop products that let customers get more from their EVs.</a:t>
            </a:r>
          </a:p>
          <a:p>
            <a:pPr marL="0" lvl="0" indent="0" algn="l" rtl="0">
              <a:lnSpc>
                <a:spcPct val="100000"/>
              </a:lnSpc>
              <a:spcBef>
                <a:spcPts val="600"/>
              </a:spcBef>
              <a:spcAft>
                <a:spcPts val="0"/>
              </a:spcAft>
              <a:buSzPts val="1400"/>
              <a:buNone/>
            </a:pPr>
            <a:r>
              <a:rPr lang="en-US"/>
              <a:t>Broader evidence that coordinated storage works: the ESOO 2026 cites a July 2025 California event where over 100,000 aggregated batteries cut peak demand by an average of 539 MW, and a June 2024 New England event where batteries, EVs and loads cut it by 375 MW. Those are batteries and VPPs, not mainly V2G.</a:t>
            </a:r>
          </a:p>
        </p:txBody>
      </p:sp>
      <p:sp>
        <p:nvSpPr>
          <p:cNvPr id="214" name="Google Shape;214;p35:notes">
            <a:extLst>
              <a:ext uri="{FF2B5EF4-FFF2-40B4-BE49-F238E27FC236}">
                <a16:creationId xmlns:a16="http://schemas.microsoft.com/office/drawing/2014/main" id="{7BECE127-2CFA-F337-8652-AF21A80D0C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11171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What is promised: V2G depends on standards and grid integration being in place. The slide lists them.</a:t>
            </a:r>
          </a:p>
          <a:p>
            <a:pPr marL="0" lvl="0" indent="0" algn="l" rtl="0">
              <a:lnSpc>
                <a:spcPct val="100000"/>
              </a:lnSpc>
              <a:spcBef>
                <a:spcPts val="600"/>
              </a:spcBef>
              <a:spcAft>
                <a:spcPts val="0"/>
              </a:spcAft>
              <a:buSzPts val="1400"/>
              <a:buNone/>
            </a:pPr>
            <a:r>
              <a:rPr lang="en-US"/>
              <a:t>Inverter: the core V2G inverter standard is AS4777.2; check products against the Clean Energy Council approved product list.</a:t>
            </a:r>
          </a:p>
          <a:p>
            <a:pPr marL="0" lvl="0" indent="0" algn="l" rtl="0">
              <a:lnSpc>
                <a:spcPct val="100000"/>
              </a:lnSpc>
              <a:spcBef>
                <a:spcPts val="600"/>
              </a:spcBef>
              <a:spcAft>
                <a:spcPts val="0"/>
              </a:spcAft>
              <a:buSzPts val="1400"/>
              <a:buNone/>
            </a:pPr>
            <a:r>
              <a:rPr lang="en-US"/>
              <a:t>Vehicle to charger: older CHAdeMO connectors natively support bidirectional power. Australia has moved to ISO 15118-20, which governs bidirectional energy transfer over the CCS2 plug, the dominant connector here.</a:t>
            </a:r>
          </a:p>
          <a:p>
            <a:pPr marL="0" lvl="0" indent="0" algn="l" rtl="0">
              <a:lnSpc>
                <a:spcPct val="100000"/>
              </a:lnSpc>
              <a:spcBef>
                <a:spcPts val="600"/>
              </a:spcBef>
              <a:spcAft>
                <a:spcPts val="0"/>
              </a:spcAft>
              <a:buSzPts val="1400"/>
              <a:buNone/>
            </a:pPr>
            <a:r>
              <a:rPr lang="en-US"/>
              <a:t>Grid integration: the WA Government uses CSIP-AUS (Common Smart Inverter Profile Australia), based on the IEEE 2030.5 protocol. It lets utilities orchestrate EV charging and discharging during peak periods.</a:t>
            </a:r>
          </a:p>
          <a:p>
            <a:pPr marL="0" lvl="0" indent="0" algn="l" rtl="0">
              <a:lnSpc>
                <a:spcPct val="100000"/>
              </a:lnSpc>
              <a:spcBef>
                <a:spcPts val="600"/>
              </a:spcBef>
              <a:spcAft>
                <a:spcPts val="0"/>
              </a:spcAft>
              <a:buSzPts val="1400"/>
              <a:buNone/>
            </a:pPr>
            <a:r>
              <a:rPr lang="en-US"/>
              <a:t>The point for the audience: the standards exist, so the open questions are product availability, warranties and network connection rules, and whether owners will plug in and be willing to discharge. Only the Exmouth trial is local evidence so far (slide 20).</a:t>
            </a:r>
          </a:p>
          <a:p>
            <a:pPr marL="0" lvl="0" indent="0" algn="l" rtl="0">
              <a:lnSpc>
                <a:spcPct val="100000"/>
              </a:lnSpc>
              <a:spcBef>
                <a:spcPts val="600"/>
              </a:spcBef>
              <a:spcAft>
                <a:spcPts val="0"/>
              </a:spcAft>
              <a:buSzPts val="1400"/>
              <a:buNone/>
            </a:pPr>
            <a:r>
              <a:rPr lang="en-US"/>
              <a:t>Tidy before presenting: the slide ends with a stray '[1' footnote marker, and the Clean Energy Council link is a google.com redirect rather than a direct link. Both look like pasted artefacts.</a:t>
            </a:r>
          </a:p>
        </p:txBody>
      </p:sp>
      <p:sp>
        <p:nvSpPr>
          <p:cNvPr id="214" name="Google Shape;214;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a:extLst>
            <a:ext uri="{FF2B5EF4-FFF2-40B4-BE49-F238E27FC236}">
              <a16:creationId xmlns:a16="http://schemas.microsoft.com/office/drawing/2014/main" id="{164B3656-2F44-0638-77C7-4660D2918E97}"/>
            </a:ext>
          </a:extLst>
        </p:cNvPr>
        <p:cNvGrpSpPr/>
        <p:nvPr/>
      </p:nvGrpSpPr>
      <p:grpSpPr>
        <a:xfrm>
          <a:off x="0" y="0"/>
          <a:ext cx="0" cy="0"/>
          <a:chOff x="0" y="0"/>
          <a:chExt cx="0" cy="0"/>
        </a:xfrm>
      </p:grpSpPr>
      <p:sp>
        <p:nvSpPr>
          <p:cNvPr id="213" name="Google Shape;213;p35:notes">
            <a:extLst>
              <a:ext uri="{FF2B5EF4-FFF2-40B4-BE49-F238E27FC236}">
                <a16:creationId xmlns:a16="http://schemas.microsoft.com/office/drawing/2014/main" id="{F1B58485-D5B0-C0E6-4CBC-39A3B05335F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What it costs. Bidirectional chargers are about $5,000 to $10,000 or more for the hardware, plus $1,500 to $3,000 for installation by a licensed electrician: roughly $6,500 to $13,000 or more installed. A smart one-way charger starts at about $800 and is typically $1,200 to $1,900, with premium units near $3,000, plus $500 to $2,000 to install: roughly $1,300 to $3,900 installed.</a:t>
            </a:r>
          </a:p>
          <a:p>
            <a:pPr marL="0" lvl="0" indent="0" algn="l" rtl="0">
              <a:lnSpc>
                <a:spcPct val="100000"/>
              </a:lnSpc>
              <a:spcBef>
                <a:spcPts val="600"/>
              </a:spcBef>
              <a:spcAft>
                <a:spcPts val="0"/>
              </a:spcAft>
              <a:buSzPts val="1400"/>
              <a:buNone/>
            </a:pPr>
            <a:r>
              <a:rPr lang="en-US"/>
              <a:t>That is about three to five times the cost. Against that, managed one-way charging already captures most of the grid benefit: slides 8 and 9 show it cutting the peak impact by about 60%.</a:t>
            </a:r>
          </a:p>
          <a:p>
            <a:pPr marL="0" lvl="0" indent="0" algn="l" rtl="0">
              <a:lnSpc>
                <a:spcPct val="100000"/>
              </a:lnSpc>
              <a:spcBef>
                <a:spcPts val="600"/>
              </a:spcBef>
              <a:spcAft>
                <a:spcPts val="0"/>
              </a:spcAft>
              <a:buSzPts val="1400"/>
              <a:buNone/>
            </a:pPr>
            <a:r>
              <a:rPr lang="en-US"/>
              <a:t>Source: Solar Choice's bidirectional charger guide and EV charger price index, 2026. These are ranges, and installation varies with switchboard condition, cable distance and location. Solar Choice expects bidirectional prices to fall as more models arrive in 2026. It also names only a few options as clearly available to homeowners in early 2026 (V2Grid Numbat, Sigenergy and RedEarth Boomerang), which fits the 'still maturing' point on slide 21.</a:t>
            </a:r>
          </a:p>
          <a:p>
            <a:pPr marL="0" lvl="0" indent="0" algn="l" rtl="0">
              <a:lnSpc>
                <a:spcPct val="100000"/>
              </a:lnSpc>
              <a:spcBef>
                <a:spcPts val="600"/>
              </a:spcBef>
              <a:spcAft>
                <a:spcPts val="0"/>
              </a:spcAft>
              <a:buSzPts val="1400"/>
              <a:buNone/>
            </a:pPr>
            <a:r>
              <a:rPr lang="en-US"/>
              <a:t>Presenter flag: I could only read search summaries of the Solar Choice pages, not the pages themselves. Check the figures against the live pages before presenting.</a:t>
            </a:r>
          </a:p>
          <a:p>
            <a:pPr marL="0" lvl="0" indent="0" algn="l" rtl="0">
              <a:lnSpc>
                <a:spcPct val="100000"/>
              </a:lnSpc>
              <a:spcBef>
                <a:spcPts val="600"/>
              </a:spcBef>
              <a:spcAft>
                <a:spcPts val="0"/>
              </a:spcAft>
              <a:buSzPts val="1400"/>
              <a:buNone/>
            </a:pPr>
            <a:r>
              <a:rPr lang="en-US"/>
              <a:t>Bridge to the verdict: V2G is an upside to plan for, not a dependency.</a:t>
            </a:r>
          </a:p>
        </p:txBody>
      </p:sp>
      <p:sp>
        <p:nvSpPr>
          <p:cNvPr id="214" name="Google Shape;214;p35:notes">
            <a:extLst>
              <a:ext uri="{FF2B5EF4-FFF2-40B4-BE49-F238E27FC236}">
                <a16:creationId xmlns:a16="http://schemas.microsoft.com/office/drawing/2014/main" id="{4B1A3397-DFA0-01D7-B94A-5014CD2A7A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74376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a:extLst>
            <a:ext uri="{FF2B5EF4-FFF2-40B4-BE49-F238E27FC236}">
              <a16:creationId xmlns:a16="http://schemas.microsoft.com/office/drawing/2014/main" id="{164B3656-2F44-0638-77C7-4660D2918E97}"/>
            </a:ext>
          </a:extLst>
        </p:cNvPr>
        <p:cNvGrpSpPr/>
        <p:nvPr/>
      </p:nvGrpSpPr>
      <p:grpSpPr>
        <a:xfrm>
          <a:off x="0" y="0"/>
          <a:ext cx="0" cy="0"/>
          <a:chOff x="0" y="0"/>
          <a:chExt cx="0" cy="0"/>
        </a:xfrm>
      </p:grpSpPr>
      <p:sp>
        <p:nvSpPr>
          <p:cNvPr id="213" name="Google Shape;213;p35:notes">
            <a:extLst>
              <a:ext uri="{FF2B5EF4-FFF2-40B4-BE49-F238E27FC236}">
                <a16:creationId xmlns:a16="http://schemas.microsoft.com/office/drawing/2014/main" id="{F1B58485-D5B0-C0E6-4CBC-39A3B05335F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This follows the cost slide and asks whether the cost barrier could fall. V2G-Key is a candidate: it is a company's claim about a product in development, so present it as an option to watch, not a fact.</a:t>
            </a:r>
          </a:p>
          <a:p>
            <a:pPr marL="0" lvl="0" indent="0" algn="l" rtl="0">
              <a:lnSpc>
                <a:spcPct val="100000"/>
              </a:lnSpc>
              <a:spcBef>
                <a:spcPts val="600"/>
              </a:spcBef>
              <a:spcAft>
                <a:spcPts val="0"/>
              </a:spcAft>
              <a:buSzPts val="1400"/>
              <a:buNone/>
            </a:pPr>
            <a:r>
              <a:rPr lang="en-US"/>
              <a:t>What the company says (v2gkey.com): V2G-Key is from Merge Energy and lets EV owners use their car's battery to support their home and the grid. It will be available 'at a fraction of the cost of today's bidirectional chargers'; it calls itself 'the most affordable storage-for-solar'. It says an EV battery stores 'more than three times the energy of most home batteries' and offers 'peace of mind without export limits or jeopardising your EV battery's warranty'. Backers listed are UNSW, TRaCE, the AEA, Amber and RACE for 2030.</a:t>
            </a:r>
          </a:p>
          <a:p>
            <a:pPr marL="0" lvl="0" indent="0" algn="l" rtl="0">
              <a:lnSpc>
                <a:spcPct val="100000"/>
              </a:lnSpc>
              <a:spcBef>
                <a:spcPts val="600"/>
              </a:spcBef>
              <a:spcAft>
                <a:spcPts val="0"/>
              </a:spcAft>
              <a:buSzPts val="1400"/>
              <a:buNone/>
            </a:pPr>
            <a:r>
              <a:rPr lang="en-US"/>
              <a:t>What the site does not say: no price, no list of compatible vehicles, no standards (such as AS4777.2 or ISO 15118-20, slide 21), and it doesn't say whether it is a charger, an adapter or something else. It is in development; owners can register interest for customer trials and pre-sale.</a:t>
            </a:r>
          </a:p>
          <a:p>
            <a:pPr marL="0" lvl="0" indent="0" algn="l" rtl="0">
              <a:lnSpc>
                <a:spcPct val="100000"/>
              </a:lnSpc>
              <a:spcBef>
                <a:spcPts val="600"/>
              </a:spcBef>
              <a:spcAft>
                <a:spcPts val="0"/>
              </a:spcAft>
              <a:buSzPts val="1400"/>
              <a:buNone/>
            </a:pPr>
            <a:r>
              <a:rPr lang="en-US"/>
              <a:t>Other material I found by search says the project has had an AEA Ignite grant, CSIRO Renewable Energy Integration Facility support, and has validated ISO 15118-20 and ISO 15118-2 communications and controlled power flows between charger, vehicle, inverter and home or grid. I couldn't trace those to a primary source, so they are deliberately not on the slide. Check them before you say them.</a:t>
            </a:r>
          </a:p>
          <a:p>
            <a:pPr marL="0" lvl="0" indent="0" algn="l" rtl="0">
              <a:lnSpc>
                <a:spcPct val="100000"/>
              </a:lnSpc>
              <a:spcBef>
                <a:spcPts val="600"/>
              </a:spcBef>
              <a:spcAft>
                <a:spcPts val="0"/>
              </a:spcAft>
              <a:buSzPts val="1400"/>
              <a:buNone/>
            </a:pPr>
            <a:r>
              <a:rPr lang="en-US"/>
              <a:t>Against the cost slide: bidirectional chargers are roughly $6,500 to $13,000 or more installed, against about $1,300 to $3,900 for a smart one-way charger. 'A fraction of the cost' would matter. Until there is a price, a compatibility list and trial results, it doesn't change the verdict: V2G is an upside to plan for, not a dependency.</a:t>
            </a:r>
          </a:p>
          <a:p>
            <a:pPr marL="0" lvl="0" indent="0" algn="l" rtl="0">
              <a:lnSpc>
                <a:spcPct val="100000"/>
              </a:lnSpc>
              <a:spcBef>
                <a:spcPts val="600"/>
              </a:spcBef>
              <a:spcAft>
                <a:spcPts val="0"/>
              </a:spcAft>
              <a:buSzPts val="1400"/>
              <a:buNone/>
            </a:pPr>
            <a:r>
              <a:rPr lang="en-US"/>
              <a:t>What to watch: a published price, which vehicles and chargers it works with, conformance with the standards on slide 21, whether car makers accept it without voiding warranties, and trial results. Amber is both a backer and the operator of an ARENA-supported V2G trial, so its results are worth following.</a:t>
            </a:r>
          </a:p>
        </p:txBody>
      </p:sp>
      <p:sp>
        <p:nvSpPr>
          <p:cNvPr id="214" name="Google Shape;214;p35:notes">
            <a:extLst>
              <a:ext uri="{FF2B5EF4-FFF2-40B4-BE49-F238E27FC236}">
                <a16:creationId xmlns:a16="http://schemas.microsoft.com/office/drawing/2014/main" id="{4B1A3397-DFA0-01D7-B94A-5014CD2A7A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74376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Three questions, three answers.</a:t>
            </a:r>
          </a:p>
          <a:p>
            <a:pPr marL="0" lvl="0" indent="0" algn="l" rtl="0">
              <a:lnSpc>
                <a:spcPct val="100000"/>
              </a:lnSpc>
              <a:spcBef>
                <a:spcPts val="600"/>
              </a:spcBef>
              <a:spcAft>
                <a:spcPts val="0"/>
              </a:spcAft>
              <a:buSzPts val="1400"/>
              <a:buNone/>
            </a:pPr>
            <a:r>
              <a:rPr lang="en-US"/>
              <a:t>1. Will EV uptake overwhelm the transition? No. EVs are 5 to 12% of SWIS consumption by 2035, and the ESOO already allows for about 2 TWh of that. Timing matters more than volume: swapping scenarios moves the peak by minus 2% to plus 3%.</a:t>
            </a:r>
          </a:p>
          <a:p>
            <a:pPr marL="0" lvl="0" indent="0" algn="l" rtl="0">
              <a:lnSpc>
                <a:spcPct val="100000"/>
              </a:lnSpc>
              <a:spcBef>
                <a:spcPts val="600"/>
              </a:spcBef>
              <a:spcAft>
                <a:spcPts val="0"/>
              </a:spcAft>
              <a:buSzPts val="1400"/>
              <a:buNone/>
            </a:pPr>
            <a:r>
              <a:rPr lang="en-US"/>
              <a:t>2. Will EVs delay coal exit or lock in gas? No. Coal exit is a policy and economics decision (Collie late 2027, Muja D late 2029). Daytime-charged EVs help by absorbing solar; evening charging would raise, not create, the firming task. The one thing still missing behind this answer is the SIREN run flagged on slide 11.</a:t>
            </a:r>
          </a:p>
          <a:p>
            <a:pPr marL="0" lvl="0" indent="0" algn="l" rtl="0">
              <a:lnSpc>
                <a:spcPct val="100000"/>
              </a:lnSpc>
              <a:spcBef>
                <a:spcPts val="600"/>
              </a:spcBef>
              <a:spcAft>
                <a:spcPts val="0"/>
              </a:spcAft>
              <a:buSzPts val="1400"/>
              <a:buNone/>
            </a:pPr>
            <a:r>
              <a:rPr lang="en-US"/>
              <a:t>3. Is V2H / V2G essential? Not essential. Smart one-way charging delivers most of the benefit now, at roughly a fifth to a third of the installed cost of bidirectional hardware (slide 22). V2H is a useful resilience option, and V2G is an upside to plan for, not a dependency. Cost is the main barrier, and low-cost options such as V2G-Key (slide 23) are still in development.</a:t>
            </a:r>
          </a:p>
          <a:p>
            <a:pPr marL="0" lvl="0" indent="0" algn="l" rtl="0">
              <a:lnSpc>
                <a:spcPct val="100000"/>
              </a:lnSpc>
              <a:spcBef>
                <a:spcPts val="600"/>
              </a:spcBef>
              <a:spcAft>
                <a:spcPts val="0"/>
              </a:spcAft>
              <a:buSzPts val="1400"/>
              <a:buNone/>
            </a:pPr>
            <a:r>
              <a:rPr lang="en-US"/>
              <a:t>What SEN should model next: SIREN scenarios comparing unmanaged, managed and V2G charging profiles against the coal-exit timeline. The ESOO scenario builder and the EV scenario page can support this: the EV page now uses the same 2025 IASR WEM trajectories as slides 6 to 9 and has a 'Net of ESOO's own EV load' option, so its numbers will match this deck. ESOO base scenarios built before the time-zone fix need rebuilding first.</a:t>
            </a:r>
          </a:p>
        </p:txBody>
      </p:sp>
      <p:sp>
        <p:nvSpPr>
          <p:cNvPr id="224" name="Google Shape;224;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600"/>
              </a:spcBef>
              <a:spcAft>
                <a:spcPts val="0"/>
              </a:spcAft>
              <a:buSzPts val="1400"/>
              <a:buNone/>
            </a:pPr>
            <a:r>
              <a:rPr lang="en-US"/>
              <a:t>Thank you. Contact: sen.asn.au, info@sen.asn.au.</a:t>
            </a:r>
          </a:p>
          <a:p>
            <a:pPr marL="0" lvl="0" indent="0" algn="l" rtl="0">
              <a:lnSpc>
                <a:spcPct val="100000"/>
              </a:lnSpc>
              <a:spcBef>
                <a:spcPts val="600"/>
              </a:spcBef>
              <a:spcAft>
                <a:spcPts val="0"/>
              </a:spcAft>
              <a:buSzPts val="1400"/>
              <a:buNone/>
            </a:pPr>
            <a:r>
              <a:rPr lang="en-US"/>
              <a:t>Likely questions and where the answer is: 'Why not just add EVs to the ESOO?' (slides 6 and 7: double counting). 'Is this the WEM or the NEM?' (WEM: slide 3 notes). 'What is the peak day?' (slides 8 and 9: synthetic, illustrative). 'How sure are the scenario mappings?' (slide 7: the Step Change link is an inference; the charging mix is assumed).</a:t>
            </a:r>
          </a:p>
        </p:txBody>
      </p:sp>
      <p:sp>
        <p:nvSpPr>
          <p:cNvPr id="232" name="Google Shape;232;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N_TITLE">
  <p:cSld name="SEN_TITLE">
    <p:bg>
      <p:bgPr>
        <a:solidFill>
          <a:srgbClr val="0B3F63"/>
        </a:solidFill>
        <a:effectLst/>
      </p:bgPr>
    </p:bg>
    <p:spTree>
      <p:nvGrpSpPr>
        <p:cNvPr id="1" name="Shape 11"/>
        <p:cNvGrpSpPr/>
        <p:nvPr/>
      </p:nvGrpSpPr>
      <p:grpSpPr>
        <a:xfrm>
          <a:off x="0" y="0"/>
          <a:ext cx="0" cy="0"/>
          <a:chOff x="0" y="0"/>
          <a:chExt cx="0" cy="0"/>
        </a:xfrm>
      </p:grpSpPr>
      <p:pic>
        <p:nvPicPr>
          <p:cNvPr id="12" name="Google Shape;12;p13" descr="ring-navy.png"/>
          <p:cNvPicPr preferRelativeResize="0"/>
          <p:nvPr/>
        </p:nvPicPr>
        <p:blipFill rotWithShape="1">
          <a:blip r:embed="rId2">
            <a:alphaModFix/>
          </a:blip>
          <a:srcRect/>
          <a:stretch/>
        </p:blipFill>
        <p:spPr>
          <a:xfrm>
            <a:off x="6766560" y="1828800"/>
            <a:ext cx="5303520" cy="5303520"/>
          </a:xfrm>
          <a:prstGeom prst="rect">
            <a:avLst/>
          </a:prstGeom>
          <a:noFill/>
          <a:ln>
            <a:noFill/>
          </a:ln>
        </p:spPr>
      </p:pic>
      <p:pic>
        <p:nvPicPr>
          <p:cNvPr id="13" name="Google Shape;13;p13" descr="logo-crop.png"/>
          <p:cNvPicPr preferRelativeResize="0"/>
          <p:nvPr/>
        </p:nvPicPr>
        <p:blipFill rotWithShape="1">
          <a:blip r:embed="rId3">
            <a:alphaModFix/>
          </a:blip>
          <a:srcRect/>
          <a:stretch/>
        </p:blipFill>
        <p:spPr>
          <a:xfrm>
            <a:off x="548640" y="457200"/>
            <a:ext cx="2194560" cy="841248"/>
          </a:xfrm>
          <a:prstGeom prst="rect">
            <a:avLst/>
          </a:prstGeom>
          <a:noFill/>
          <a:ln>
            <a:noFill/>
          </a:ln>
        </p:spPr>
      </p:pic>
      <p:sp>
        <p:nvSpPr>
          <p:cNvPr id="14" name="Google Shape;14;p13"/>
          <p:cNvSpPr txBox="1">
            <a:spLocks noGrp="1"/>
          </p:cNvSpPr>
          <p:nvPr>
            <p:ph type="title"/>
          </p:nvPr>
        </p:nvSpPr>
        <p:spPr>
          <a:xfrm>
            <a:off x="548640" y="1828800"/>
            <a:ext cx="6766560" cy="128016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600"/>
              <a:buFont typeface="Montserrat"/>
              <a:buNone/>
              <a:defRPr sz="36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 name="Google Shape;15;p13"/>
          <p:cNvSpPr txBox="1">
            <a:spLocks noGrp="1"/>
          </p:cNvSpPr>
          <p:nvPr>
            <p:ph type="body" idx="1"/>
          </p:nvPr>
        </p:nvSpPr>
        <p:spPr>
          <a:xfrm>
            <a:off x="548640" y="3200400"/>
            <a:ext cx="6400800" cy="6400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60"/>
              </a:spcBef>
              <a:spcAft>
                <a:spcPts val="0"/>
              </a:spcAft>
              <a:buClr>
                <a:srgbClr val="E1F4FD"/>
              </a:buClr>
              <a:buSzPts val="1800"/>
              <a:buFont typeface="Arial"/>
              <a:buNone/>
              <a:defRPr sz="1800" b="0" i="0" u="none" strike="noStrike" cap="none">
                <a:solidFill>
                  <a:srgbClr val="E1F4FD"/>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6" name="Google Shape;16;p13"/>
          <p:cNvSpPr txBox="1">
            <a:spLocks noGrp="1"/>
          </p:cNvSpPr>
          <p:nvPr>
            <p:ph type="body" idx="2"/>
          </p:nvPr>
        </p:nvSpPr>
        <p:spPr>
          <a:xfrm>
            <a:off x="548640" y="4160520"/>
            <a:ext cx="640080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40"/>
              </a:spcBef>
              <a:spcAft>
                <a:spcPts val="0"/>
              </a:spcAft>
              <a:buClr>
                <a:srgbClr val="73C5E6"/>
              </a:buClr>
              <a:buSzPts val="1200"/>
              <a:buFont typeface="Arial"/>
              <a:buNone/>
              <a:defRPr sz="1200" b="0" i="0" u="none" strike="noStrike" cap="none">
                <a:solidFill>
                  <a:srgbClr val="73C5E6"/>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N_SECTION">
  <p:cSld name="SEN_SECTION">
    <p:bg>
      <p:bgPr>
        <a:solidFill>
          <a:srgbClr val="5DB474"/>
        </a:solidFill>
        <a:effectLst/>
      </p:bgPr>
    </p:bg>
    <p:spTree>
      <p:nvGrpSpPr>
        <p:cNvPr id="1" name="Shape 17"/>
        <p:cNvGrpSpPr/>
        <p:nvPr/>
      </p:nvGrpSpPr>
      <p:grpSpPr>
        <a:xfrm>
          <a:off x="0" y="0"/>
          <a:ext cx="0" cy="0"/>
          <a:chOff x="0" y="0"/>
          <a:chExt cx="0" cy="0"/>
        </a:xfrm>
      </p:grpSpPr>
      <p:pic>
        <p:nvPicPr>
          <p:cNvPr id="18" name="Google Shape;18;p14" descr="ring-green.png"/>
          <p:cNvPicPr preferRelativeResize="0"/>
          <p:nvPr/>
        </p:nvPicPr>
        <p:blipFill rotWithShape="1">
          <a:blip r:embed="rId2">
            <a:alphaModFix/>
          </a:blip>
          <a:srcRect/>
          <a:stretch/>
        </p:blipFill>
        <p:spPr>
          <a:xfrm>
            <a:off x="6949440" y="-1920240"/>
            <a:ext cx="4754880" cy="4754880"/>
          </a:xfrm>
          <a:prstGeom prst="rect">
            <a:avLst/>
          </a:prstGeom>
          <a:noFill/>
          <a:ln>
            <a:noFill/>
          </a:ln>
        </p:spPr>
      </p:pic>
      <p:sp>
        <p:nvSpPr>
          <p:cNvPr id="19" name="Google Shape;19;p14"/>
          <p:cNvSpPr txBox="1">
            <a:spLocks noGrp="1"/>
          </p:cNvSpPr>
          <p:nvPr>
            <p:ph type="body" idx="1"/>
          </p:nvPr>
        </p:nvSpPr>
        <p:spPr>
          <a:xfrm>
            <a:off x="548640" y="1188720"/>
            <a:ext cx="2743200" cy="12801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440"/>
              </a:spcBef>
              <a:spcAft>
                <a:spcPts val="0"/>
              </a:spcAft>
              <a:buClr>
                <a:srgbClr val="FFFFFF"/>
              </a:buClr>
              <a:buSzPts val="7200"/>
              <a:buFont typeface="Arial"/>
              <a:buNone/>
              <a:defRPr sz="72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0" name="Google Shape;20;p14"/>
          <p:cNvSpPr txBox="1">
            <a:spLocks noGrp="1"/>
          </p:cNvSpPr>
          <p:nvPr>
            <p:ph type="title"/>
          </p:nvPr>
        </p:nvSpPr>
        <p:spPr>
          <a:xfrm>
            <a:off x="548640" y="2560320"/>
            <a:ext cx="749808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200"/>
              <a:buFont typeface="Montserrat"/>
              <a:buNone/>
              <a:defRPr sz="32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1" name="Google Shape;21;p14"/>
          <p:cNvSpPr txBox="1">
            <a:spLocks noGrp="1"/>
          </p:cNvSpPr>
          <p:nvPr>
            <p:ph type="body" idx="2"/>
          </p:nvPr>
        </p:nvSpPr>
        <p:spPr>
          <a:xfrm>
            <a:off x="548640" y="3566160"/>
            <a:ext cx="6858000" cy="7315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FFFFFF"/>
              </a:buClr>
              <a:buSzPts val="1400"/>
              <a:buFont typeface="Arial"/>
              <a:buNone/>
              <a:defRPr sz="1400" b="0"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N_CHART">
  <p:cSld name="SEN_CHART">
    <p:bg>
      <p:bgPr>
        <a:solidFill>
          <a:srgbClr val="FFFFFF"/>
        </a:solidFill>
        <a:effectLst/>
      </p:bgPr>
    </p:bg>
    <p:spTree>
      <p:nvGrpSpPr>
        <p:cNvPr id="1" name="Shape 22"/>
        <p:cNvGrpSpPr/>
        <p:nvPr/>
      </p:nvGrpSpPr>
      <p:grpSpPr>
        <a:xfrm>
          <a:off x="0" y="0"/>
          <a:ext cx="0" cy="0"/>
          <a:chOff x="0" y="0"/>
          <a:chExt cx="0" cy="0"/>
        </a:xfrm>
      </p:grpSpPr>
      <p:sp>
        <p:nvSpPr>
          <p:cNvPr id="23" name="Google Shape;23;p18"/>
          <p:cNvSpPr txBox="1">
            <a:spLocks noGrp="1"/>
          </p:cNvSpPr>
          <p:nvPr>
            <p:ph type="title"/>
          </p:nvPr>
        </p:nvSpPr>
        <p:spPr>
          <a:xfrm>
            <a:off x="457200" y="365760"/>
            <a:ext cx="8229600" cy="73152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B3F63"/>
              </a:buClr>
              <a:buSzPts val="2600"/>
              <a:buFont typeface="Montserrat"/>
              <a:buNone/>
              <a:defRPr sz="2600" b="1" i="0" u="none" strike="noStrike" cap="none">
                <a:solidFill>
                  <a:srgbClr val="0B3F63"/>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4" name="Google Shape;24;p18" descr="logo-crop.png"/>
          <p:cNvPicPr preferRelativeResize="0"/>
          <p:nvPr/>
        </p:nvPicPr>
        <p:blipFill rotWithShape="1">
          <a:blip r:embed="rId2">
            <a:alphaModFix/>
          </a:blip>
          <a:srcRect/>
          <a:stretch/>
        </p:blipFill>
        <p:spPr>
          <a:xfrm>
            <a:off x="457200" y="4645152"/>
            <a:ext cx="841248" cy="320040"/>
          </a:xfrm>
          <a:prstGeom prst="rect">
            <a:avLst/>
          </a:prstGeom>
          <a:noFill/>
          <a:ln>
            <a:noFill/>
          </a:ln>
        </p:spPr>
      </p:pic>
      <p:sp>
        <p:nvSpPr>
          <p:cNvPr id="25" name="Google Shape;25;p18"/>
          <p:cNvSpPr txBox="1"/>
          <p:nvPr/>
        </p:nvSpPr>
        <p:spPr>
          <a:xfrm>
            <a:off x="1417320" y="4645152"/>
            <a:ext cx="365760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C8A"/>
              </a:buClr>
              <a:buSzPts val="900"/>
              <a:buFont typeface="Montserrat"/>
              <a:buNone/>
            </a:pPr>
            <a:r>
              <a:rPr lang="en-US" sz="900" b="0" i="0" u="none" strike="noStrike" cap="none">
                <a:solidFill>
                  <a:srgbClr val="6B7C8A"/>
                </a:solidFill>
                <a:latin typeface="Montserrat"/>
                <a:ea typeface="Montserrat"/>
                <a:cs typeface="Montserrat"/>
                <a:sym typeface="Montserrat"/>
              </a:rPr>
              <a:t>Sustainable Energy Now</a:t>
            </a:r>
            <a:endParaRPr sz="900" b="0" i="0" u="none" strike="noStrike" cap="none">
              <a:solidFill>
                <a:schemeClr val="dk1"/>
              </a:solidFill>
              <a:latin typeface="Calibri"/>
              <a:ea typeface="Calibri"/>
              <a:cs typeface="Calibri"/>
              <a:sym typeface="Calibri"/>
            </a:endParaRPr>
          </a:p>
        </p:txBody>
      </p:sp>
      <p:sp>
        <p:nvSpPr>
          <p:cNvPr id="26" name="Google Shape;26;p18"/>
          <p:cNvSpPr>
            <a:spLocks noGrp="1"/>
          </p:cNvSpPr>
          <p:nvPr>
            <p:ph type="chart" idx="2"/>
          </p:nvPr>
        </p:nvSpPr>
        <p:spPr>
          <a:xfrm>
            <a:off x="457200" y="1280160"/>
            <a:ext cx="5577840" cy="310896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R="0" lvl="2"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R="0" lvl="3"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R="0" lvl="4"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R="0" lvl="5"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R="0" lvl="6"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R="0" lvl="7"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R="0" lvl="8"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7" name="Google Shape;27;p18"/>
          <p:cNvSpPr/>
          <p:nvPr/>
        </p:nvSpPr>
        <p:spPr>
          <a:xfrm>
            <a:off x="6309360" y="1280160"/>
            <a:ext cx="2377440" cy="3108960"/>
          </a:xfrm>
          <a:prstGeom prst="rect">
            <a:avLst/>
          </a:prstGeom>
          <a:solidFill>
            <a:srgbClr val="E1F4F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 name="Google Shape;28;p18"/>
          <p:cNvSpPr txBox="1">
            <a:spLocks noGrp="1"/>
          </p:cNvSpPr>
          <p:nvPr>
            <p:ph type="body" idx="1"/>
          </p:nvPr>
        </p:nvSpPr>
        <p:spPr>
          <a:xfrm>
            <a:off x="6492240" y="1463040"/>
            <a:ext cx="201168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60"/>
              </a:spcBef>
              <a:spcAft>
                <a:spcPts val="0"/>
              </a:spcAft>
              <a:buClr>
                <a:srgbClr val="00A9D8"/>
              </a:buClr>
              <a:buSzPts val="1300"/>
              <a:buFont typeface="Arial"/>
              <a:buNone/>
              <a:defRPr sz="1300" b="1" i="0" u="none" strike="noStrike" cap="none">
                <a:solidFill>
                  <a:srgbClr val="00A9D8"/>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9" name="Google Shape;29;p18"/>
          <p:cNvSpPr txBox="1">
            <a:spLocks noGrp="1"/>
          </p:cNvSpPr>
          <p:nvPr>
            <p:ph type="body" idx="3"/>
          </p:nvPr>
        </p:nvSpPr>
        <p:spPr>
          <a:xfrm>
            <a:off x="6492240" y="1874520"/>
            <a:ext cx="2011680" cy="23774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40"/>
              </a:spcBef>
              <a:spcAft>
                <a:spcPts val="0"/>
              </a:spcAft>
              <a:buClr>
                <a:srgbClr val="173647"/>
              </a:buClr>
              <a:buSzPts val="1200"/>
              <a:buFont typeface="Arial"/>
              <a:buNone/>
              <a:defRPr sz="1200" b="0" i="0" u="none" strike="noStrike" cap="none">
                <a:solidFill>
                  <a:srgbClr val="173647"/>
                </a:solidFill>
                <a:latin typeface="Montserrat"/>
                <a:ea typeface="Montserrat"/>
                <a:cs typeface="Montserrat"/>
                <a:sym typeface="Montserrat"/>
              </a:defRPr>
            </a:lvl1pPr>
            <a:lvl2pPr marL="914400" marR="0" lvl="1" indent="-406400" algn="l" rtl="0">
              <a:lnSpc>
                <a:spcPct val="100000"/>
              </a:lnSpc>
              <a:spcBef>
                <a:spcPts val="6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0" name="Google Shape;30;p18"/>
          <p:cNvSpPr txBox="1">
            <a:spLocks noGrp="1"/>
          </p:cNvSpPr>
          <p:nvPr>
            <p:ph type="sldNum" idx="12"/>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N_STATS">
  <p:cSld name="SEN_STATS">
    <p:bg>
      <p:bgPr>
        <a:solidFill>
          <a:srgbClr val="FFFFFF"/>
        </a:solidFill>
        <a:effectLst/>
      </p:bgPr>
    </p:bg>
    <p:spTree>
      <p:nvGrpSpPr>
        <p:cNvPr id="1" name="Shape 31"/>
        <p:cNvGrpSpPr/>
        <p:nvPr/>
      </p:nvGrpSpPr>
      <p:grpSpPr>
        <a:xfrm>
          <a:off x="0" y="0"/>
          <a:ext cx="0" cy="0"/>
          <a:chOff x="0" y="0"/>
          <a:chExt cx="0" cy="0"/>
        </a:xfrm>
      </p:grpSpPr>
      <p:sp>
        <p:nvSpPr>
          <p:cNvPr id="32" name="Google Shape;32;p17"/>
          <p:cNvSpPr txBox="1">
            <a:spLocks noGrp="1"/>
          </p:cNvSpPr>
          <p:nvPr>
            <p:ph type="title"/>
          </p:nvPr>
        </p:nvSpPr>
        <p:spPr>
          <a:xfrm>
            <a:off x="457200" y="365760"/>
            <a:ext cx="8229600" cy="73152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B3F63"/>
              </a:buClr>
              <a:buSzPts val="2600"/>
              <a:buFont typeface="Montserrat"/>
              <a:buNone/>
              <a:defRPr sz="2600" b="1" i="0" u="none" strike="noStrike" cap="none">
                <a:solidFill>
                  <a:srgbClr val="0B3F63"/>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33" name="Google Shape;33;p17" descr="logo-crop.png"/>
          <p:cNvPicPr preferRelativeResize="0"/>
          <p:nvPr/>
        </p:nvPicPr>
        <p:blipFill rotWithShape="1">
          <a:blip r:embed="rId2">
            <a:alphaModFix/>
          </a:blip>
          <a:srcRect/>
          <a:stretch/>
        </p:blipFill>
        <p:spPr>
          <a:xfrm>
            <a:off x="457200" y="4645152"/>
            <a:ext cx="841248" cy="320040"/>
          </a:xfrm>
          <a:prstGeom prst="rect">
            <a:avLst/>
          </a:prstGeom>
          <a:noFill/>
          <a:ln>
            <a:noFill/>
          </a:ln>
        </p:spPr>
      </p:pic>
      <p:sp>
        <p:nvSpPr>
          <p:cNvPr id="34" name="Google Shape;34;p17"/>
          <p:cNvSpPr txBox="1"/>
          <p:nvPr/>
        </p:nvSpPr>
        <p:spPr>
          <a:xfrm>
            <a:off x="1417320" y="4645152"/>
            <a:ext cx="365760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C8A"/>
              </a:buClr>
              <a:buSzPts val="900"/>
              <a:buFont typeface="Montserrat"/>
              <a:buNone/>
            </a:pPr>
            <a:r>
              <a:rPr lang="en-US" sz="900" b="0" i="0" u="none" strike="noStrike" cap="none">
                <a:solidFill>
                  <a:srgbClr val="6B7C8A"/>
                </a:solidFill>
                <a:latin typeface="Montserrat"/>
                <a:ea typeface="Montserrat"/>
                <a:cs typeface="Montserrat"/>
                <a:sym typeface="Montserrat"/>
              </a:rPr>
              <a:t>Sustainable Energy Now</a:t>
            </a:r>
            <a:endParaRPr sz="900" b="0" i="0" u="none" strike="noStrike" cap="none">
              <a:solidFill>
                <a:schemeClr val="dk1"/>
              </a:solidFill>
              <a:latin typeface="Calibri"/>
              <a:ea typeface="Calibri"/>
              <a:cs typeface="Calibri"/>
              <a:sym typeface="Calibri"/>
            </a:endParaRPr>
          </a:p>
        </p:txBody>
      </p:sp>
      <p:sp>
        <p:nvSpPr>
          <p:cNvPr id="35" name="Google Shape;35;p17"/>
          <p:cNvSpPr/>
          <p:nvPr/>
        </p:nvSpPr>
        <p:spPr>
          <a:xfrm>
            <a:off x="457200" y="1280160"/>
            <a:ext cx="2651760" cy="1920240"/>
          </a:xfrm>
          <a:prstGeom prst="rect">
            <a:avLst/>
          </a:prstGeom>
          <a:solidFill>
            <a:srgbClr val="E1F4F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 name="Google Shape;36;p17"/>
          <p:cNvSpPr txBox="1">
            <a:spLocks noGrp="1"/>
          </p:cNvSpPr>
          <p:nvPr>
            <p:ph type="body" idx="1"/>
          </p:nvPr>
        </p:nvSpPr>
        <p:spPr>
          <a:xfrm>
            <a:off x="685800" y="1417320"/>
            <a:ext cx="2194560" cy="91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00"/>
              </a:spcBef>
              <a:spcAft>
                <a:spcPts val="0"/>
              </a:spcAft>
              <a:buClr>
                <a:srgbClr val="00A9D8"/>
              </a:buClr>
              <a:buSzPts val="3000"/>
              <a:buFont typeface="Arial"/>
              <a:buNone/>
              <a:defRPr sz="3000" b="1" i="0" u="none" strike="noStrike" cap="none">
                <a:solidFill>
                  <a:srgbClr val="00A9D8"/>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7" name="Google Shape;37;p17"/>
          <p:cNvSpPr txBox="1">
            <a:spLocks noGrp="1"/>
          </p:cNvSpPr>
          <p:nvPr>
            <p:ph type="body" idx="2"/>
          </p:nvPr>
        </p:nvSpPr>
        <p:spPr>
          <a:xfrm>
            <a:off x="685800" y="2377440"/>
            <a:ext cx="2194560" cy="685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40"/>
              </a:spcBef>
              <a:spcAft>
                <a:spcPts val="0"/>
              </a:spcAft>
              <a:buClr>
                <a:srgbClr val="173647"/>
              </a:buClr>
              <a:buSzPts val="1200"/>
              <a:buFont typeface="Arial"/>
              <a:buNone/>
              <a:defRPr sz="1200" b="0" i="0" u="none" strike="noStrike" cap="none">
                <a:solidFill>
                  <a:srgbClr val="173647"/>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8" name="Google Shape;38;p17"/>
          <p:cNvSpPr/>
          <p:nvPr/>
        </p:nvSpPr>
        <p:spPr>
          <a:xfrm>
            <a:off x="3246120" y="1280160"/>
            <a:ext cx="2651760" cy="1920240"/>
          </a:xfrm>
          <a:prstGeom prst="rect">
            <a:avLst/>
          </a:prstGeom>
          <a:solidFill>
            <a:srgbClr val="DAED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17"/>
          <p:cNvSpPr txBox="1">
            <a:spLocks noGrp="1"/>
          </p:cNvSpPr>
          <p:nvPr>
            <p:ph type="body" idx="3"/>
          </p:nvPr>
        </p:nvSpPr>
        <p:spPr>
          <a:xfrm>
            <a:off x="3474720" y="1417320"/>
            <a:ext cx="2194560" cy="91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00"/>
              </a:spcBef>
              <a:spcAft>
                <a:spcPts val="0"/>
              </a:spcAft>
              <a:buClr>
                <a:srgbClr val="5DB474"/>
              </a:buClr>
              <a:buSzPts val="3000"/>
              <a:buFont typeface="Arial"/>
              <a:buNone/>
              <a:defRPr sz="3000" b="1" i="0" u="none" strike="noStrike" cap="none">
                <a:solidFill>
                  <a:srgbClr val="5DB474"/>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0" name="Google Shape;40;p17"/>
          <p:cNvSpPr txBox="1">
            <a:spLocks noGrp="1"/>
          </p:cNvSpPr>
          <p:nvPr>
            <p:ph type="body" idx="4"/>
          </p:nvPr>
        </p:nvSpPr>
        <p:spPr>
          <a:xfrm>
            <a:off x="3474720" y="2377440"/>
            <a:ext cx="2194560" cy="685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40"/>
              </a:spcBef>
              <a:spcAft>
                <a:spcPts val="0"/>
              </a:spcAft>
              <a:buClr>
                <a:srgbClr val="173647"/>
              </a:buClr>
              <a:buSzPts val="1200"/>
              <a:buFont typeface="Arial"/>
              <a:buNone/>
              <a:defRPr sz="1200" b="0" i="0" u="none" strike="noStrike" cap="none">
                <a:solidFill>
                  <a:srgbClr val="173647"/>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1" name="Google Shape;41;p17"/>
          <p:cNvSpPr/>
          <p:nvPr/>
        </p:nvSpPr>
        <p:spPr>
          <a:xfrm>
            <a:off x="6035040" y="1280160"/>
            <a:ext cx="2651760" cy="1920240"/>
          </a:xfrm>
          <a:prstGeom prst="rect">
            <a:avLst/>
          </a:prstGeom>
          <a:solidFill>
            <a:srgbClr val="FFE9B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17"/>
          <p:cNvSpPr txBox="1">
            <a:spLocks noGrp="1"/>
          </p:cNvSpPr>
          <p:nvPr>
            <p:ph type="body" idx="5"/>
          </p:nvPr>
        </p:nvSpPr>
        <p:spPr>
          <a:xfrm>
            <a:off x="6263640" y="1417320"/>
            <a:ext cx="2194560" cy="91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00"/>
              </a:spcBef>
              <a:spcAft>
                <a:spcPts val="0"/>
              </a:spcAft>
              <a:buClr>
                <a:srgbClr val="0B3F63"/>
              </a:buClr>
              <a:buSzPts val="3000"/>
              <a:buFont typeface="Arial"/>
              <a:buNone/>
              <a:defRPr sz="3000" b="1" i="0" u="none" strike="noStrike" cap="none">
                <a:solidFill>
                  <a:srgbClr val="0B3F63"/>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3" name="Google Shape;43;p17"/>
          <p:cNvSpPr txBox="1">
            <a:spLocks noGrp="1"/>
          </p:cNvSpPr>
          <p:nvPr>
            <p:ph type="body" idx="6"/>
          </p:nvPr>
        </p:nvSpPr>
        <p:spPr>
          <a:xfrm>
            <a:off x="6263640" y="2377440"/>
            <a:ext cx="2194560" cy="685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40"/>
              </a:spcBef>
              <a:spcAft>
                <a:spcPts val="0"/>
              </a:spcAft>
              <a:buClr>
                <a:srgbClr val="173647"/>
              </a:buClr>
              <a:buSzPts val="1200"/>
              <a:buFont typeface="Arial"/>
              <a:buNone/>
              <a:defRPr sz="1200" b="0" i="0" u="none" strike="noStrike" cap="none">
                <a:solidFill>
                  <a:srgbClr val="173647"/>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4" name="Google Shape;44;p17"/>
          <p:cNvSpPr txBox="1">
            <a:spLocks noGrp="1"/>
          </p:cNvSpPr>
          <p:nvPr>
            <p:ph type="body" idx="7"/>
          </p:nvPr>
        </p:nvSpPr>
        <p:spPr>
          <a:xfrm>
            <a:off x="457200" y="3474720"/>
            <a:ext cx="8229600" cy="9144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00"/>
              </a:spcBef>
              <a:spcAft>
                <a:spcPts val="0"/>
              </a:spcAft>
              <a:buClr>
                <a:srgbClr val="0B3F63"/>
              </a:buClr>
              <a:buSzPts val="1500"/>
              <a:buFont typeface="Arial"/>
              <a:buNone/>
              <a:defRPr sz="1500" b="0" i="0" u="none" strike="noStrike" cap="none">
                <a:solidFill>
                  <a:srgbClr val="0B3F63"/>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5" name="Google Shape;45;p17"/>
          <p:cNvSpPr txBox="1">
            <a:spLocks noGrp="1"/>
          </p:cNvSpPr>
          <p:nvPr>
            <p:ph type="sldNum" idx="12"/>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N_TWO_COLUMN">
  <p:cSld name="SEN_TWO_COLUMN">
    <p:bg>
      <p:bgPr>
        <a:solidFill>
          <a:srgbClr val="FFFFFF"/>
        </a:solidFill>
        <a:effectLst/>
      </p:bgPr>
    </p:bg>
    <p:spTree>
      <p:nvGrpSpPr>
        <p:cNvPr id="1" name="Shape 46"/>
        <p:cNvGrpSpPr/>
        <p:nvPr/>
      </p:nvGrpSpPr>
      <p:grpSpPr>
        <a:xfrm>
          <a:off x="0" y="0"/>
          <a:ext cx="0" cy="0"/>
          <a:chOff x="0" y="0"/>
          <a:chExt cx="0" cy="0"/>
        </a:xfrm>
      </p:grpSpPr>
      <p:sp>
        <p:nvSpPr>
          <p:cNvPr id="47" name="Google Shape;47;p16"/>
          <p:cNvSpPr txBox="1">
            <a:spLocks noGrp="1"/>
          </p:cNvSpPr>
          <p:nvPr>
            <p:ph type="title"/>
          </p:nvPr>
        </p:nvSpPr>
        <p:spPr>
          <a:xfrm>
            <a:off x="457200" y="365760"/>
            <a:ext cx="8229600" cy="73152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B3F63"/>
              </a:buClr>
              <a:buSzPts val="2600"/>
              <a:buFont typeface="Montserrat"/>
              <a:buNone/>
              <a:defRPr sz="2600" b="1" i="0" u="none" strike="noStrike" cap="none">
                <a:solidFill>
                  <a:srgbClr val="0B3F63"/>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48" name="Google Shape;48;p16" descr="logo-crop.png"/>
          <p:cNvPicPr preferRelativeResize="0"/>
          <p:nvPr/>
        </p:nvPicPr>
        <p:blipFill rotWithShape="1">
          <a:blip r:embed="rId2">
            <a:alphaModFix/>
          </a:blip>
          <a:srcRect/>
          <a:stretch/>
        </p:blipFill>
        <p:spPr>
          <a:xfrm>
            <a:off x="457200" y="4645152"/>
            <a:ext cx="841248" cy="320040"/>
          </a:xfrm>
          <a:prstGeom prst="rect">
            <a:avLst/>
          </a:prstGeom>
          <a:noFill/>
          <a:ln>
            <a:noFill/>
          </a:ln>
        </p:spPr>
      </p:pic>
      <p:sp>
        <p:nvSpPr>
          <p:cNvPr id="49" name="Google Shape;49;p16"/>
          <p:cNvSpPr txBox="1"/>
          <p:nvPr/>
        </p:nvSpPr>
        <p:spPr>
          <a:xfrm>
            <a:off x="1417320" y="4645152"/>
            <a:ext cx="365760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C8A"/>
              </a:buClr>
              <a:buSzPts val="900"/>
              <a:buFont typeface="Montserrat"/>
              <a:buNone/>
            </a:pPr>
            <a:r>
              <a:rPr lang="en-US" sz="900" b="0" i="0" u="none" strike="noStrike" cap="none">
                <a:solidFill>
                  <a:srgbClr val="6B7C8A"/>
                </a:solidFill>
                <a:latin typeface="Montserrat"/>
                <a:ea typeface="Montserrat"/>
                <a:cs typeface="Montserrat"/>
                <a:sym typeface="Montserrat"/>
              </a:rPr>
              <a:t>Sustainable Energy Now</a:t>
            </a:r>
            <a:endParaRPr sz="900" b="0" i="0" u="none" strike="noStrike" cap="none">
              <a:solidFill>
                <a:schemeClr val="dk1"/>
              </a:solidFill>
              <a:latin typeface="Calibri"/>
              <a:ea typeface="Calibri"/>
              <a:cs typeface="Calibri"/>
              <a:sym typeface="Calibri"/>
            </a:endParaRPr>
          </a:p>
        </p:txBody>
      </p:sp>
      <p:sp>
        <p:nvSpPr>
          <p:cNvPr id="50" name="Google Shape;50;p16"/>
          <p:cNvSpPr txBox="1">
            <a:spLocks noGrp="1"/>
          </p:cNvSpPr>
          <p:nvPr>
            <p:ph type="body" idx="1"/>
          </p:nvPr>
        </p:nvSpPr>
        <p:spPr>
          <a:xfrm>
            <a:off x="457200" y="1280160"/>
            <a:ext cx="3931920"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00A9D8"/>
              </a:buClr>
              <a:buSzPts val="1600"/>
              <a:buFont typeface="Arial"/>
              <a:buNone/>
              <a:defRPr sz="1600" b="1" i="0" u="none" strike="noStrike" cap="none">
                <a:solidFill>
                  <a:srgbClr val="00A9D8"/>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1" name="Google Shape;51;p16"/>
          <p:cNvSpPr txBox="1">
            <a:spLocks noGrp="1"/>
          </p:cNvSpPr>
          <p:nvPr>
            <p:ph type="body" idx="2"/>
          </p:nvPr>
        </p:nvSpPr>
        <p:spPr>
          <a:xfrm>
            <a:off x="457200" y="1783080"/>
            <a:ext cx="3931920" cy="2606040"/>
          </a:xfrm>
          <a:prstGeom prst="rect">
            <a:avLst/>
          </a:prstGeom>
          <a:noFill/>
          <a:ln>
            <a:noFill/>
          </a:ln>
        </p:spPr>
        <p:txBody>
          <a:bodyPr spcFirstLastPara="1" wrap="square" lIns="91425" tIns="45700" rIns="91425" bIns="45700" anchor="t" anchorCtr="0">
            <a:noAutofit/>
          </a:bodyPr>
          <a:lstStyle>
            <a:lvl1pPr marL="457200" marR="0" lvl="0" indent="-317500" algn="l" rtl="0">
              <a:lnSpc>
                <a:spcPct val="100000"/>
              </a:lnSpc>
              <a:spcBef>
                <a:spcPts val="280"/>
              </a:spcBef>
              <a:spcAft>
                <a:spcPts val="0"/>
              </a:spcAft>
              <a:buClr>
                <a:srgbClr val="173647"/>
              </a:buClr>
              <a:buSzPts val="1400"/>
              <a:buFont typeface="Arial"/>
              <a:buChar char="•"/>
              <a:defRPr sz="1400" b="0" i="0" u="none" strike="noStrike" cap="none">
                <a:solidFill>
                  <a:srgbClr val="173647"/>
                </a:solidFill>
                <a:latin typeface="Montserrat"/>
                <a:ea typeface="Montserrat"/>
                <a:cs typeface="Montserrat"/>
                <a:sym typeface="Montserrat"/>
              </a:defRPr>
            </a:lvl1pPr>
            <a:lvl2pPr marL="914400" marR="0" lvl="1" indent="-406400" algn="l" rtl="0">
              <a:lnSpc>
                <a:spcPct val="100000"/>
              </a:lnSpc>
              <a:spcBef>
                <a:spcPts val="6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2" name="Google Shape;52;p16"/>
          <p:cNvSpPr txBox="1">
            <a:spLocks noGrp="1"/>
          </p:cNvSpPr>
          <p:nvPr>
            <p:ph type="body" idx="3"/>
          </p:nvPr>
        </p:nvSpPr>
        <p:spPr>
          <a:xfrm>
            <a:off x="4754880" y="1280160"/>
            <a:ext cx="3931920"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5DB474"/>
              </a:buClr>
              <a:buSzPts val="1600"/>
              <a:buFont typeface="Arial"/>
              <a:buNone/>
              <a:defRPr sz="1600" b="1" i="0" u="none" strike="noStrike" cap="none">
                <a:solidFill>
                  <a:srgbClr val="5DB474"/>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3" name="Google Shape;53;p16"/>
          <p:cNvSpPr txBox="1">
            <a:spLocks noGrp="1"/>
          </p:cNvSpPr>
          <p:nvPr>
            <p:ph type="body" idx="4"/>
          </p:nvPr>
        </p:nvSpPr>
        <p:spPr>
          <a:xfrm>
            <a:off x="4754880" y="1783080"/>
            <a:ext cx="3931920" cy="2606040"/>
          </a:xfrm>
          <a:prstGeom prst="rect">
            <a:avLst/>
          </a:prstGeom>
          <a:noFill/>
          <a:ln>
            <a:noFill/>
          </a:ln>
        </p:spPr>
        <p:txBody>
          <a:bodyPr spcFirstLastPara="1" wrap="square" lIns="91425" tIns="45700" rIns="91425" bIns="45700" anchor="t" anchorCtr="0">
            <a:noAutofit/>
          </a:bodyPr>
          <a:lstStyle>
            <a:lvl1pPr marL="457200" marR="0" lvl="0" indent="-317500" algn="l" rtl="0">
              <a:lnSpc>
                <a:spcPct val="100000"/>
              </a:lnSpc>
              <a:spcBef>
                <a:spcPts val="280"/>
              </a:spcBef>
              <a:spcAft>
                <a:spcPts val="0"/>
              </a:spcAft>
              <a:buClr>
                <a:srgbClr val="173647"/>
              </a:buClr>
              <a:buSzPts val="1400"/>
              <a:buFont typeface="Arial"/>
              <a:buChar char="•"/>
              <a:defRPr sz="1400" b="0" i="0" u="none" strike="noStrike" cap="none">
                <a:solidFill>
                  <a:srgbClr val="173647"/>
                </a:solidFill>
                <a:latin typeface="Montserrat"/>
                <a:ea typeface="Montserrat"/>
                <a:cs typeface="Montserrat"/>
                <a:sym typeface="Montserrat"/>
              </a:defRPr>
            </a:lvl1pPr>
            <a:lvl2pPr marL="914400" marR="0" lvl="1" indent="-406400" algn="l" rtl="0">
              <a:lnSpc>
                <a:spcPct val="100000"/>
              </a:lnSpc>
              <a:spcBef>
                <a:spcPts val="6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4" name="Google Shape;54;p16"/>
          <p:cNvSpPr txBox="1">
            <a:spLocks noGrp="1"/>
          </p:cNvSpPr>
          <p:nvPr>
            <p:ph type="sldNum" idx="12"/>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N_COMPARISON">
  <p:cSld name="SEN_COMPARISON">
    <p:bg>
      <p:bgPr>
        <a:solidFill>
          <a:srgbClr val="FFFFFF"/>
        </a:solidFill>
        <a:effectLst/>
      </p:bgPr>
    </p:bg>
    <p:spTree>
      <p:nvGrpSpPr>
        <p:cNvPr id="1" name="Shape 55"/>
        <p:cNvGrpSpPr/>
        <p:nvPr/>
      </p:nvGrpSpPr>
      <p:grpSpPr>
        <a:xfrm>
          <a:off x="0" y="0"/>
          <a:ext cx="0" cy="0"/>
          <a:chOff x="0" y="0"/>
          <a:chExt cx="0" cy="0"/>
        </a:xfrm>
      </p:grpSpPr>
      <p:sp>
        <p:nvSpPr>
          <p:cNvPr id="56" name="Google Shape;56;p21"/>
          <p:cNvSpPr txBox="1">
            <a:spLocks noGrp="1"/>
          </p:cNvSpPr>
          <p:nvPr>
            <p:ph type="title"/>
          </p:nvPr>
        </p:nvSpPr>
        <p:spPr>
          <a:xfrm>
            <a:off x="457200" y="365760"/>
            <a:ext cx="8229600" cy="73152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B3F63"/>
              </a:buClr>
              <a:buSzPts val="2600"/>
              <a:buFont typeface="Montserrat"/>
              <a:buNone/>
              <a:defRPr sz="2600" b="1" i="0" u="none" strike="noStrike" cap="none">
                <a:solidFill>
                  <a:srgbClr val="0B3F63"/>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57" name="Google Shape;57;p21" descr="logo-crop.png"/>
          <p:cNvPicPr preferRelativeResize="0"/>
          <p:nvPr/>
        </p:nvPicPr>
        <p:blipFill rotWithShape="1">
          <a:blip r:embed="rId2">
            <a:alphaModFix/>
          </a:blip>
          <a:srcRect/>
          <a:stretch/>
        </p:blipFill>
        <p:spPr>
          <a:xfrm>
            <a:off x="457200" y="4645152"/>
            <a:ext cx="841248" cy="320040"/>
          </a:xfrm>
          <a:prstGeom prst="rect">
            <a:avLst/>
          </a:prstGeom>
          <a:noFill/>
          <a:ln>
            <a:noFill/>
          </a:ln>
        </p:spPr>
      </p:pic>
      <p:sp>
        <p:nvSpPr>
          <p:cNvPr id="58" name="Google Shape;58;p21"/>
          <p:cNvSpPr txBox="1"/>
          <p:nvPr/>
        </p:nvSpPr>
        <p:spPr>
          <a:xfrm>
            <a:off x="1417320" y="4645152"/>
            <a:ext cx="365760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C8A"/>
              </a:buClr>
              <a:buSzPts val="900"/>
              <a:buFont typeface="Montserrat"/>
              <a:buNone/>
            </a:pPr>
            <a:r>
              <a:rPr lang="en-US" sz="900" b="0" i="0" u="none" strike="noStrike" cap="none">
                <a:solidFill>
                  <a:srgbClr val="6B7C8A"/>
                </a:solidFill>
                <a:latin typeface="Montserrat"/>
                <a:ea typeface="Montserrat"/>
                <a:cs typeface="Montserrat"/>
                <a:sym typeface="Montserrat"/>
              </a:rPr>
              <a:t>Sustainable Energy Now</a:t>
            </a:r>
            <a:endParaRPr sz="900" b="0" i="0" u="none" strike="noStrike" cap="none">
              <a:solidFill>
                <a:schemeClr val="dk1"/>
              </a:solidFill>
              <a:latin typeface="Calibri"/>
              <a:ea typeface="Calibri"/>
              <a:cs typeface="Calibri"/>
              <a:sym typeface="Calibri"/>
            </a:endParaRPr>
          </a:p>
        </p:txBody>
      </p:sp>
      <p:sp>
        <p:nvSpPr>
          <p:cNvPr id="59" name="Google Shape;59;p21"/>
          <p:cNvSpPr/>
          <p:nvPr/>
        </p:nvSpPr>
        <p:spPr>
          <a:xfrm>
            <a:off x="457200" y="1280160"/>
            <a:ext cx="3977640" cy="3108960"/>
          </a:xfrm>
          <a:prstGeom prst="rect">
            <a:avLst/>
          </a:prstGeom>
          <a:solidFill>
            <a:srgbClr val="E1F4F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21"/>
          <p:cNvSpPr/>
          <p:nvPr/>
        </p:nvSpPr>
        <p:spPr>
          <a:xfrm>
            <a:off x="4709160" y="1280160"/>
            <a:ext cx="3977640" cy="3108960"/>
          </a:xfrm>
          <a:prstGeom prst="rect">
            <a:avLst/>
          </a:prstGeom>
          <a:solidFill>
            <a:srgbClr val="DAEDD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 name="Google Shape;61;p21"/>
          <p:cNvSpPr txBox="1">
            <a:spLocks noGrp="1"/>
          </p:cNvSpPr>
          <p:nvPr>
            <p:ph type="body" idx="1"/>
          </p:nvPr>
        </p:nvSpPr>
        <p:spPr>
          <a:xfrm>
            <a:off x="685800" y="1463040"/>
            <a:ext cx="352044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00A9D8"/>
              </a:buClr>
              <a:buSzPts val="1600"/>
              <a:buFont typeface="Arial"/>
              <a:buNone/>
              <a:defRPr sz="1600" b="1" i="0" u="none" strike="noStrike" cap="none">
                <a:solidFill>
                  <a:srgbClr val="00A9D8"/>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2" name="Google Shape;62;p21"/>
          <p:cNvSpPr txBox="1">
            <a:spLocks noGrp="1"/>
          </p:cNvSpPr>
          <p:nvPr>
            <p:ph type="body" idx="2"/>
          </p:nvPr>
        </p:nvSpPr>
        <p:spPr>
          <a:xfrm>
            <a:off x="685800" y="2011680"/>
            <a:ext cx="3520440" cy="2194560"/>
          </a:xfrm>
          <a:prstGeom prst="rect">
            <a:avLst/>
          </a:prstGeom>
          <a:noFill/>
          <a:ln>
            <a:noFill/>
          </a:ln>
        </p:spPr>
        <p:txBody>
          <a:bodyPr spcFirstLastPara="1" wrap="square" lIns="91425" tIns="45700" rIns="91425" bIns="45700" anchor="t" anchorCtr="0">
            <a:noAutofit/>
          </a:bodyPr>
          <a:lstStyle>
            <a:lvl1pPr marL="457200" marR="0" lvl="0" indent="-311150" algn="l" rtl="0">
              <a:lnSpc>
                <a:spcPct val="100000"/>
              </a:lnSpc>
              <a:spcBef>
                <a:spcPts val="260"/>
              </a:spcBef>
              <a:spcAft>
                <a:spcPts val="0"/>
              </a:spcAft>
              <a:buClr>
                <a:srgbClr val="173647"/>
              </a:buClr>
              <a:buSzPts val="1300"/>
              <a:buFont typeface="Arial"/>
              <a:buChar char="•"/>
              <a:defRPr sz="1300" b="0" i="0" u="none" strike="noStrike" cap="none">
                <a:solidFill>
                  <a:srgbClr val="173647"/>
                </a:solidFill>
                <a:latin typeface="Montserrat"/>
                <a:ea typeface="Montserrat"/>
                <a:cs typeface="Montserrat"/>
                <a:sym typeface="Montserrat"/>
              </a:defRPr>
            </a:lvl1pPr>
            <a:lvl2pPr marL="914400" marR="0" lvl="1" indent="-406400" algn="l" rtl="0">
              <a:lnSpc>
                <a:spcPct val="100000"/>
              </a:lnSpc>
              <a:spcBef>
                <a:spcPts val="6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3" name="Google Shape;63;p21"/>
          <p:cNvSpPr txBox="1">
            <a:spLocks noGrp="1"/>
          </p:cNvSpPr>
          <p:nvPr>
            <p:ph type="body" idx="3"/>
          </p:nvPr>
        </p:nvSpPr>
        <p:spPr>
          <a:xfrm>
            <a:off x="4937760" y="1463040"/>
            <a:ext cx="352044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5DB474"/>
              </a:buClr>
              <a:buSzPts val="1600"/>
              <a:buFont typeface="Arial"/>
              <a:buNone/>
              <a:defRPr sz="1600" b="1" i="0" u="none" strike="noStrike" cap="none">
                <a:solidFill>
                  <a:srgbClr val="5DB474"/>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4" name="Google Shape;64;p21"/>
          <p:cNvSpPr txBox="1">
            <a:spLocks noGrp="1"/>
          </p:cNvSpPr>
          <p:nvPr>
            <p:ph type="body" idx="4"/>
          </p:nvPr>
        </p:nvSpPr>
        <p:spPr>
          <a:xfrm>
            <a:off x="4937760" y="2011680"/>
            <a:ext cx="3520440" cy="2194560"/>
          </a:xfrm>
          <a:prstGeom prst="rect">
            <a:avLst/>
          </a:prstGeom>
          <a:noFill/>
          <a:ln>
            <a:noFill/>
          </a:ln>
        </p:spPr>
        <p:txBody>
          <a:bodyPr spcFirstLastPara="1" wrap="square" lIns="91425" tIns="45700" rIns="91425" bIns="45700" anchor="t" anchorCtr="0">
            <a:noAutofit/>
          </a:bodyPr>
          <a:lstStyle>
            <a:lvl1pPr marL="457200" marR="0" lvl="0" indent="-311150" algn="l" rtl="0">
              <a:lnSpc>
                <a:spcPct val="100000"/>
              </a:lnSpc>
              <a:spcBef>
                <a:spcPts val="260"/>
              </a:spcBef>
              <a:spcAft>
                <a:spcPts val="0"/>
              </a:spcAft>
              <a:buClr>
                <a:srgbClr val="173647"/>
              </a:buClr>
              <a:buSzPts val="1300"/>
              <a:buFont typeface="Arial"/>
              <a:buChar char="•"/>
              <a:defRPr sz="1300" b="0" i="0" u="none" strike="noStrike" cap="none">
                <a:solidFill>
                  <a:srgbClr val="173647"/>
                </a:solidFill>
                <a:latin typeface="Montserrat"/>
                <a:ea typeface="Montserrat"/>
                <a:cs typeface="Montserrat"/>
                <a:sym typeface="Montserrat"/>
              </a:defRPr>
            </a:lvl1pPr>
            <a:lvl2pPr marL="914400" marR="0" lvl="1" indent="-406400" algn="l" rtl="0">
              <a:lnSpc>
                <a:spcPct val="100000"/>
              </a:lnSpc>
              <a:spcBef>
                <a:spcPts val="6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5" name="Google Shape;65;p21"/>
          <p:cNvSpPr txBox="1">
            <a:spLocks noGrp="1"/>
          </p:cNvSpPr>
          <p:nvPr>
            <p:ph type="sldNum" idx="12"/>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N_CONTENT">
  <p:cSld name="SEN_CONTENT">
    <p:bg>
      <p:bgPr>
        <a:solidFill>
          <a:srgbClr val="FFFFFF"/>
        </a:solidFill>
        <a:effectLst/>
      </p:bgPr>
    </p:bg>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457200" y="365760"/>
            <a:ext cx="8229600" cy="73152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B3F63"/>
              </a:buClr>
              <a:buSzPts val="2600"/>
              <a:buFont typeface="Montserrat"/>
              <a:buNone/>
              <a:defRPr sz="2600" b="1" i="0" u="none" strike="noStrike" cap="none">
                <a:solidFill>
                  <a:srgbClr val="0B3F63"/>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68" name="Google Shape;68;p15" descr="logo-crop.png"/>
          <p:cNvPicPr preferRelativeResize="0"/>
          <p:nvPr/>
        </p:nvPicPr>
        <p:blipFill rotWithShape="1">
          <a:blip r:embed="rId2">
            <a:alphaModFix/>
          </a:blip>
          <a:srcRect/>
          <a:stretch/>
        </p:blipFill>
        <p:spPr>
          <a:xfrm>
            <a:off x="457200" y="4645152"/>
            <a:ext cx="841248" cy="320040"/>
          </a:xfrm>
          <a:prstGeom prst="rect">
            <a:avLst/>
          </a:prstGeom>
          <a:noFill/>
          <a:ln>
            <a:noFill/>
          </a:ln>
        </p:spPr>
      </p:pic>
      <p:sp>
        <p:nvSpPr>
          <p:cNvPr id="69" name="Google Shape;69;p15"/>
          <p:cNvSpPr txBox="1"/>
          <p:nvPr/>
        </p:nvSpPr>
        <p:spPr>
          <a:xfrm>
            <a:off x="1417320" y="4645152"/>
            <a:ext cx="365760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C8A"/>
              </a:buClr>
              <a:buSzPts val="900"/>
              <a:buFont typeface="Montserrat"/>
              <a:buNone/>
            </a:pPr>
            <a:r>
              <a:rPr lang="en-US" sz="900" b="0" i="0" u="none" strike="noStrike" cap="none">
                <a:solidFill>
                  <a:srgbClr val="6B7C8A"/>
                </a:solidFill>
                <a:latin typeface="Montserrat"/>
                <a:ea typeface="Montserrat"/>
                <a:cs typeface="Montserrat"/>
                <a:sym typeface="Montserrat"/>
              </a:rPr>
              <a:t>Sustainable Energy Now</a:t>
            </a:r>
            <a:endParaRPr sz="900" b="0" i="0" u="none" strike="noStrike" cap="none">
              <a:solidFill>
                <a:schemeClr val="dk1"/>
              </a:solidFill>
              <a:latin typeface="Calibri"/>
              <a:ea typeface="Calibri"/>
              <a:cs typeface="Calibri"/>
              <a:sym typeface="Calibri"/>
            </a:endParaRPr>
          </a:p>
        </p:txBody>
      </p:sp>
      <p:sp>
        <p:nvSpPr>
          <p:cNvPr id="70" name="Google Shape;70;p15"/>
          <p:cNvSpPr txBox="1">
            <a:spLocks noGrp="1"/>
          </p:cNvSpPr>
          <p:nvPr>
            <p:ph type="body" idx="1"/>
          </p:nvPr>
        </p:nvSpPr>
        <p:spPr>
          <a:xfrm>
            <a:off x="457200" y="1280160"/>
            <a:ext cx="8229600" cy="3108960"/>
          </a:xfrm>
          <a:prstGeom prst="rect">
            <a:avLst/>
          </a:prstGeom>
          <a:noFill/>
          <a:ln>
            <a:noFill/>
          </a:ln>
        </p:spPr>
        <p:txBody>
          <a:bodyPr spcFirstLastPara="1" wrap="square" lIns="91425" tIns="45700" rIns="91425" bIns="45700" anchor="t" anchorCtr="0">
            <a:noAutofit/>
          </a:bodyPr>
          <a:lstStyle>
            <a:lvl1pPr marL="457200" marR="0" lvl="0" indent="-330200" algn="l" rtl="0">
              <a:lnSpc>
                <a:spcPct val="100000"/>
              </a:lnSpc>
              <a:spcBef>
                <a:spcPts val="320"/>
              </a:spcBef>
              <a:spcAft>
                <a:spcPts val="0"/>
              </a:spcAft>
              <a:buClr>
                <a:srgbClr val="173647"/>
              </a:buClr>
              <a:buSzPts val="1600"/>
              <a:buFont typeface="Arial"/>
              <a:buChar char="•"/>
              <a:defRPr sz="1600" b="0" i="0" u="none" strike="noStrike" cap="none">
                <a:solidFill>
                  <a:srgbClr val="173647"/>
                </a:solidFill>
                <a:latin typeface="Montserrat"/>
                <a:ea typeface="Montserrat"/>
                <a:cs typeface="Montserrat"/>
                <a:sym typeface="Montserrat"/>
              </a:defRPr>
            </a:lvl1pPr>
            <a:lvl2pPr marL="914400" marR="0" lvl="1" indent="-406400" algn="l" rtl="0">
              <a:lnSpc>
                <a:spcPct val="100000"/>
              </a:lnSpc>
              <a:spcBef>
                <a:spcPts val="8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1" name="Google Shape;71;p15"/>
          <p:cNvSpPr txBox="1">
            <a:spLocks noGrp="1"/>
          </p:cNvSpPr>
          <p:nvPr>
            <p:ph type="sldNum" idx="12"/>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N_CLOSING">
  <p:cSld name="SEN_CLOSING">
    <p:bg>
      <p:bgPr>
        <a:solidFill>
          <a:srgbClr val="0B3F63"/>
        </a:solidFill>
        <a:effectLst/>
      </p:bgPr>
    </p:bg>
    <p:spTree>
      <p:nvGrpSpPr>
        <p:cNvPr id="1" name="Shape 72"/>
        <p:cNvGrpSpPr/>
        <p:nvPr/>
      </p:nvGrpSpPr>
      <p:grpSpPr>
        <a:xfrm>
          <a:off x="0" y="0"/>
          <a:ext cx="0" cy="0"/>
          <a:chOff x="0" y="0"/>
          <a:chExt cx="0" cy="0"/>
        </a:xfrm>
      </p:grpSpPr>
      <p:pic>
        <p:nvPicPr>
          <p:cNvPr id="73" name="Google Shape;73;p23" descr="ring-navy.png"/>
          <p:cNvPicPr preferRelativeResize="0"/>
          <p:nvPr/>
        </p:nvPicPr>
        <p:blipFill rotWithShape="1">
          <a:blip r:embed="rId2">
            <a:alphaModFix/>
          </a:blip>
          <a:srcRect/>
          <a:stretch/>
        </p:blipFill>
        <p:spPr>
          <a:xfrm>
            <a:off x="-2651760" y="2468880"/>
            <a:ext cx="4754880" cy="4754880"/>
          </a:xfrm>
          <a:prstGeom prst="rect">
            <a:avLst/>
          </a:prstGeom>
          <a:noFill/>
          <a:ln>
            <a:noFill/>
          </a:ln>
        </p:spPr>
      </p:pic>
      <p:pic>
        <p:nvPicPr>
          <p:cNvPr id="74" name="Google Shape;74;p23" descr="logo-crop.png"/>
          <p:cNvPicPr preferRelativeResize="0"/>
          <p:nvPr/>
        </p:nvPicPr>
        <p:blipFill rotWithShape="1">
          <a:blip r:embed="rId3">
            <a:alphaModFix/>
          </a:blip>
          <a:srcRect/>
          <a:stretch/>
        </p:blipFill>
        <p:spPr>
          <a:xfrm>
            <a:off x="3383280" y="822960"/>
            <a:ext cx="2377440" cy="914400"/>
          </a:xfrm>
          <a:prstGeom prst="rect">
            <a:avLst/>
          </a:prstGeom>
          <a:noFill/>
          <a:ln>
            <a:noFill/>
          </a:ln>
        </p:spPr>
      </p:pic>
      <p:sp>
        <p:nvSpPr>
          <p:cNvPr id="75" name="Google Shape;75;p23"/>
          <p:cNvSpPr txBox="1">
            <a:spLocks noGrp="1"/>
          </p:cNvSpPr>
          <p:nvPr>
            <p:ph type="title"/>
          </p:nvPr>
        </p:nvSpPr>
        <p:spPr>
          <a:xfrm>
            <a:off x="914400" y="2103120"/>
            <a:ext cx="7315200" cy="82296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rgbClr val="FFFFFF"/>
              </a:buClr>
              <a:buSzPts val="3000"/>
              <a:buFont typeface="Montserrat"/>
              <a:buNone/>
              <a:defRPr sz="30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6" name="Google Shape;76;p23"/>
          <p:cNvSpPr txBox="1">
            <a:spLocks noGrp="1"/>
          </p:cNvSpPr>
          <p:nvPr>
            <p:ph type="body" idx="1"/>
          </p:nvPr>
        </p:nvSpPr>
        <p:spPr>
          <a:xfrm>
            <a:off x="1371600" y="3017520"/>
            <a:ext cx="6400800" cy="109728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260"/>
              </a:spcBef>
              <a:spcAft>
                <a:spcPts val="0"/>
              </a:spcAft>
              <a:buClr>
                <a:srgbClr val="E1F4FD"/>
              </a:buClr>
              <a:buSzPts val="1300"/>
              <a:buFont typeface="Arial"/>
              <a:buNone/>
              <a:defRPr sz="1300" b="0" i="0" u="none" strike="noStrike" cap="none">
                <a:solidFill>
                  <a:srgbClr val="E1F4FD"/>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N_IMAGE_TEXT">
  <p:cSld name="SEN_IMAGE_TEXT">
    <p:bg>
      <p:bgPr>
        <a:solidFill>
          <a:srgbClr val="FFFFFF"/>
        </a:solidFill>
        <a:effectLst/>
      </p:bgPr>
    </p:bg>
    <p:spTree>
      <p:nvGrpSpPr>
        <p:cNvPr id="1" name="Shape 77"/>
        <p:cNvGrpSpPr/>
        <p:nvPr/>
      </p:nvGrpSpPr>
      <p:grpSpPr>
        <a:xfrm>
          <a:off x="0" y="0"/>
          <a:ext cx="0" cy="0"/>
          <a:chOff x="0" y="0"/>
          <a:chExt cx="0" cy="0"/>
        </a:xfrm>
      </p:grpSpPr>
      <p:pic>
        <p:nvPicPr>
          <p:cNvPr id="78" name="Google Shape;78;p19" descr="logo-crop.png"/>
          <p:cNvPicPr preferRelativeResize="0"/>
          <p:nvPr/>
        </p:nvPicPr>
        <p:blipFill rotWithShape="1">
          <a:blip r:embed="rId2">
            <a:alphaModFix/>
          </a:blip>
          <a:srcRect/>
          <a:stretch/>
        </p:blipFill>
        <p:spPr>
          <a:xfrm>
            <a:off x="457200" y="4645152"/>
            <a:ext cx="841248" cy="320040"/>
          </a:xfrm>
          <a:prstGeom prst="rect">
            <a:avLst/>
          </a:prstGeom>
          <a:noFill/>
          <a:ln>
            <a:noFill/>
          </a:ln>
        </p:spPr>
      </p:pic>
      <p:sp>
        <p:nvSpPr>
          <p:cNvPr id="79" name="Google Shape;79;p19"/>
          <p:cNvSpPr txBox="1"/>
          <p:nvPr/>
        </p:nvSpPr>
        <p:spPr>
          <a:xfrm>
            <a:off x="1417320" y="4645152"/>
            <a:ext cx="365760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C8A"/>
              </a:buClr>
              <a:buSzPts val="900"/>
              <a:buFont typeface="Montserrat"/>
              <a:buNone/>
            </a:pPr>
            <a:r>
              <a:rPr lang="en-US" sz="900" b="0" i="0" u="none" strike="noStrike" cap="none">
                <a:solidFill>
                  <a:srgbClr val="6B7C8A"/>
                </a:solidFill>
                <a:latin typeface="Montserrat"/>
                <a:ea typeface="Montserrat"/>
                <a:cs typeface="Montserrat"/>
                <a:sym typeface="Montserrat"/>
              </a:rPr>
              <a:t>Sustainable Energy Now</a:t>
            </a:r>
            <a:endParaRPr sz="900" b="0" i="0" u="none" strike="noStrike" cap="none">
              <a:solidFill>
                <a:schemeClr val="dk1"/>
              </a:solidFill>
              <a:latin typeface="Calibri"/>
              <a:ea typeface="Calibri"/>
              <a:cs typeface="Calibri"/>
              <a:sym typeface="Calibri"/>
            </a:endParaRPr>
          </a:p>
        </p:txBody>
      </p:sp>
      <p:sp>
        <p:nvSpPr>
          <p:cNvPr id="80" name="Google Shape;80;p19"/>
          <p:cNvSpPr txBox="1">
            <a:spLocks noGrp="1"/>
          </p:cNvSpPr>
          <p:nvPr>
            <p:ph type="body" idx="1"/>
          </p:nvPr>
        </p:nvSpPr>
        <p:spPr>
          <a:xfrm>
            <a:off x="0" y="0"/>
            <a:ext cx="4206240" cy="51435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1" name="Google Shape;81;p19"/>
          <p:cNvSpPr txBox="1">
            <a:spLocks noGrp="1"/>
          </p:cNvSpPr>
          <p:nvPr>
            <p:ph type="title"/>
          </p:nvPr>
        </p:nvSpPr>
        <p:spPr>
          <a:xfrm>
            <a:off x="4663440" y="548640"/>
            <a:ext cx="4023360" cy="109728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B3F63"/>
              </a:buClr>
              <a:buSzPts val="2400"/>
              <a:buFont typeface="Montserrat"/>
              <a:buNone/>
              <a:defRPr sz="2400" b="1" i="0" u="none" strike="noStrike" cap="none">
                <a:solidFill>
                  <a:srgbClr val="0B3F63"/>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2" name="Google Shape;82;p19"/>
          <p:cNvSpPr txBox="1">
            <a:spLocks noGrp="1"/>
          </p:cNvSpPr>
          <p:nvPr>
            <p:ph type="body" idx="2"/>
          </p:nvPr>
        </p:nvSpPr>
        <p:spPr>
          <a:xfrm>
            <a:off x="4663440" y="1828800"/>
            <a:ext cx="4023360" cy="25603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173647"/>
              </a:buClr>
              <a:buSzPts val="1400"/>
              <a:buFont typeface="Arial"/>
              <a:buNone/>
              <a:defRPr sz="1400" b="0" i="0" u="none" strike="noStrike" cap="none">
                <a:solidFill>
                  <a:srgbClr val="173647"/>
                </a:solidFill>
                <a:latin typeface="Montserrat"/>
                <a:ea typeface="Montserrat"/>
                <a:cs typeface="Montserrat"/>
                <a:sym typeface="Montserrat"/>
              </a:defRPr>
            </a:lvl1pPr>
            <a:lvl2pPr marL="914400" marR="0" lvl="1" indent="-406400" algn="l" rtl="0">
              <a:lnSpc>
                <a:spcPct val="100000"/>
              </a:lnSpc>
              <a:spcBef>
                <a:spcPts val="8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3" name="Google Shape;83;p19"/>
          <p:cNvSpPr txBox="1">
            <a:spLocks noGrp="1"/>
          </p:cNvSpPr>
          <p:nvPr>
            <p:ph type="sldNum" idx="12"/>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N_QUOTE">
  <p:cSld name="SEN_QUOTE">
    <p:bg>
      <p:bgPr>
        <a:solidFill>
          <a:srgbClr val="E1F4FD"/>
        </a:solidFill>
        <a:effectLst/>
      </p:bgPr>
    </p:bg>
    <p:spTree>
      <p:nvGrpSpPr>
        <p:cNvPr id="1" name="Shape 84"/>
        <p:cNvGrpSpPr/>
        <p:nvPr/>
      </p:nvGrpSpPr>
      <p:grpSpPr>
        <a:xfrm>
          <a:off x="0" y="0"/>
          <a:ext cx="0" cy="0"/>
          <a:chOff x="0" y="0"/>
          <a:chExt cx="0" cy="0"/>
        </a:xfrm>
      </p:grpSpPr>
      <p:pic>
        <p:nvPicPr>
          <p:cNvPr id="85" name="Google Shape;85;p20" descr="logo-crop.png"/>
          <p:cNvPicPr preferRelativeResize="0"/>
          <p:nvPr/>
        </p:nvPicPr>
        <p:blipFill rotWithShape="1">
          <a:blip r:embed="rId2">
            <a:alphaModFix/>
          </a:blip>
          <a:srcRect/>
          <a:stretch/>
        </p:blipFill>
        <p:spPr>
          <a:xfrm>
            <a:off x="457200" y="4645152"/>
            <a:ext cx="841248" cy="320040"/>
          </a:xfrm>
          <a:prstGeom prst="rect">
            <a:avLst/>
          </a:prstGeom>
          <a:noFill/>
          <a:ln>
            <a:noFill/>
          </a:ln>
        </p:spPr>
      </p:pic>
      <p:sp>
        <p:nvSpPr>
          <p:cNvPr id="86" name="Google Shape;86;p20"/>
          <p:cNvSpPr txBox="1"/>
          <p:nvPr/>
        </p:nvSpPr>
        <p:spPr>
          <a:xfrm>
            <a:off x="1417320" y="4645152"/>
            <a:ext cx="365760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C8A"/>
              </a:buClr>
              <a:buSzPts val="900"/>
              <a:buFont typeface="Montserrat"/>
              <a:buNone/>
            </a:pPr>
            <a:r>
              <a:rPr lang="en-US" sz="900" b="0" i="0" u="none" strike="noStrike" cap="none">
                <a:solidFill>
                  <a:srgbClr val="6B7C8A"/>
                </a:solidFill>
                <a:latin typeface="Montserrat"/>
                <a:ea typeface="Montserrat"/>
                <a:cs typeface="Montserrat"/>
                <a:sym typeface="Montserrat"/>
              </a:rPr>
              <a:t>Sustainable Energy Now</a:t>
            </a:r>
            <a:endParaRPr sz="900" b="0" i="0" u="none" strike="noStrike" cap="none">
              <a:solidFill>
                <a:schemeClr val="dk1"/>
              </a:solidFill>
              <a:latin typeface="Calibri"/>
              <a:ea typeface="Calibri"/>
              <a:cs typeface="Calibri"/>
              <a:sym typeface="Calibri"/>
            </a:endParaRPr>
          </a:p>
        </p:txBody>
      </p:sp>
      <p:sp>
        <p:nvSpPr>
          <p:cNvPr id="87" name="Google Shape;87;p20"/>
          <p:cNvSpPr txBox="1"/>
          <p:nvPr/>
        </p:nvSpPr>
        <p:spPr>
          <a:xfrm>
            <a:off x="548640" y="457200"/>
            <a:ext cx="1371600" cy="13716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A9D8"/>
              </a:buClr>
              <a:buSzPts val="9600"/>
              <a:buFont typeface="Montserrat"/>
              <a:buNone/>
            </a:pPr>
            <a:r>
              <a:rPr lang="en-US" sz="9600" b="1" i="0" u="none" strike="noStrike" cap="none">
                <a:solidFill>
                  <a:srgbClr val="00A9D8"/>
                </a:solidFill>
                <a:latin typeface="Montserrat"/>
                <a:ea typeface="Montserrat"/>
                <a:cs typeface="Montserrat"/>
                <a:sym typeface="Montserrat"/>
              </a:rPr>
              <a:t>“</a:t>
            </a:r>
            <a:endParaRPr sz="9600" b="0" i="0" u="none" strike="noStrike" cap="none">
              <a:solidFill>
                <a:schemeClr val="dk1"/>
              </a:solidFill>
              <a:latin typeface="Calibri"/>
              <a:ea typeface="Calibri"/>
              <a:cs typeface="Calibri"/>
              <a:sym typeface="Calibri"/>
            </a:endParaRPr>
          </a:p>
        </p:txBody>
      </p:sp>
      <p:sp>
        <p:nvSpPr>
          <p:cNvPr id="88" name="Google Shape;88;p20"/>
          <p:cNvSpPr txBox="1">
            <a:spLocks noGrp="1"/>
          </p:cNvSpPr>
          <p:nvPr>
            <p:ph type="body" idx="1"/>
          </p:nvPr>
        </p:nvSpPr>
        <p:spPr>
          <a:xfrm>
            <a:off x="1097280" y="1463040"/>
            <a:ext cx="7132320" cy="20116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40"/>
              </a:spcBef>
              <a:spcAft>
                <a:spcPts val="0"/>
              </a:spcAft>
              <a:buClr>
                <a:srgbClr val="0B3F63"/>
              </a:buClr>
              <a:buSzPts val="2200"/>
              <a:buFont typeface="Arial"/>
              <a:buNone/>
              <a:defRPr sz="2200" b="0" i="1" u="none" strike="noStrike" cap="none">
                <a:solidFill>
                  <a:srgbClr val="0B3F63"/>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9" name="Google Shape;89;p20"/>
          <p:cNvSpPr txBox="1">
            <a:spLocks noGrp="1"/>
          </p:cNvSpPr>
          <p:nvPr>
            <p:ph type="body" idx="2"/>
          </p:nvPr>
        </p:nvSpPr>
        <p:spPr>
          <a:xfrm>
            <a:off x="1097280" y="3611880"/>
            <a:ext cx="7132320" cy="6400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40"/>
              </a:spcBef>
              <a:spcAft>
                <a:spcPts val="0"/>
              </a:spcAft>
              <a:buClr>
                <a:srgbClr val="5DB474"/>
              </a:buClr>
              <a:buSzPts val="1200"/>
              <a:buFont typeface="Arial"/>
              <a:buNone/>
              <a:defRPr sz="1200" b="1" i="0" u="none" strike="noStrike" cap="none">
                <a:solidFill>
                  <a:srgbClr val="5DB474"/>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0" name="Google Shape;90;p20"/>
          <p:cNvSpPr txBox="1">
            <a:spLocks noGrp="1"/>
          </p:cNvSpPr>
          <p:nvPr>
            <p:ph type="sldNum" idx="12"/>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N_TABLE">
  <p:cSld name="SEN_TABLE">
    <p:bg>
      <p:bgPr>
        <a:solidFill>
          <a:srgbClr val="FFFFFF"/>
        </a:solidFill>
        <a:effectLst/>
      </p:bgPr>
    </p:bg>
    <p:spTree>
      <p:nvGrpSpPr>
        <p:cNvPr id="1" name="Shape 91"/>
        <p:cNvGrpSpPr/>
        <p:nvPr/>
      </p:nvGrpSpPr>
      <p:grpSpPr>
        <a:xfrm>
          <a:off x="0" y="0"/>
          <a:ext cx="0" cy="0"/>
          <a:chOff x="0" y="0"/>
          <a:chExt cx="0" cy="0"/>
        </a:xfrm>
      </p:grpSpPr>
      <p:sp>
        <p:nvSpPr>
          <p:cNvPr id="92" name="Google Shape;92;p22"/>
          <p:cNvSpPr txBox="1">
            <a:spLocks noGrp="1"/>
          </p:cNvSpPr>
          <p:nvPr>
            <p:ph type="title"/>
          </p:nvPr>
        </p:nvSpPr>
        <p:spPr>
          <a:xfrm>
            <a:off x="457200" y="365760"/>
            <a:ext cx="8229600" cy="73152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B3F63"/>
              </a:buClr>
              <a:buSzPts val="2600"/>
              <a:buFont typeface="Montserrat"/>
              <a:buNone/>
              <a:defRPr sz="2600" b="1" i="0" u="none" strike="noStrike" cap="none">
                <a:solidFill>
                  <a:srgbClr val="0B3F63"/>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93" name="Google Shape;93;p22" descr="logo-crop.png"/>
          <p:cNvPicPr preferRelativeResize="0"/>
          <p:nvPr/>
        </p:nvPicPr>
        <p:blipFill rotWithShape="1">
          <a:blip r:embed="rId2">
            <a:alphaModFix/>
          </a:blip>
          <a:srcRect/>
          <a:stretch/>
        </p:blipFill>
        <p:spPr>
          <a:xfrm>
            <a:off x="457200" y="4645152"/>
            <a:ext cx="841248" cy="320040"/>
          </a:xfrm>
          <a:prstGeom prst="rect">
            <a:avLst/>
          </a:prstGeom>
          <a:noFill/>
          <a:ln>
            <a:noFill/>
          </a:ln>
        </p:spPr>
      </p:pic>
      <p:sp>
        <p:nvSpPr>
          <p:cNvPr id="94" name="Google Shape;94;p22"/>
          <p:cNvSpPr txBox="1"/>
          <p:nvPr/>
        </p:nvSpPr>
        <p:spPr>
          <a:xfrm>
            <a:off x="1417320" y="4645152"/>
            <a:ext cx="365760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B7C8A"/>
              </a:buClr>
              <a:buSzPts val="900"/>
              <a:buFont typeface="Montserrat"/>
              <a:buNone/>
            </a:pPr>
            <a:r>
              <a:rPr lang="en-US" sz="900" b="0" i="0" u="none" strike="noStrike" cap="none">
                <a:solidFill>
                  <a:srgbClr val="6B7C8A"/>
                </a:solidFill>
                <a:latin typeface="Montserrat"/>
                <a:ea typeface="Montserrat"/>
                <a:cs typeface="Montserrat"/>
                <a:sym typeface="Montserrat"/>
              </a:rPr>
              <a:t>Sustainable Energy Now</a:t>
            </a:r>
            <a:endParaRPr sz="900" b="0" i="0" u="none" strike="noStrike" cap="none">
              <a:solidFill>
                <a:schemeClr val="dk1"/>
              </a:solidFill>
              <a:latin typeface="Calibri"/>
              <a:ea typeface="Calibri"/>
              <a:cs typeface="Calibri"/>
              <a:sym typeface="Calibri"/>
            </a:endParaRPr>
          </a:p>
        </p:txBody>
      </p:sp>
      <p:sp>
        <p:nvSpPr>
          <p:cNvPr id="95" name="Google Shape;95;p22"/>
          <p:cNvSpPr txBox="1">
            <a:spLocks noGrp="1"/>
          </p:cNvSpPr>
          <p:nvPr>
            <p:ph type="body" idx="1"/>
          </p:nvPr>
        </p:nvSpPr>
        <p:spPr>
          <a:xfrm>
            <a:off x="457200" y="1280160"/>
            <a:ext cx="8229600" cy="25603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6" name="Google Shape;96;p22"/>
          <p:cNvSpPr txBox="1">
            <a:spLocks noGrp="1"/>
          </p:cNvSpPr>
          <p:nvPr>
            <p:ph type="body" idx="2"/>
          </p:nvPr>
        </p:nvSpPr>
        <p:spPr>
          <a:xfrm>
            <a:off x="457200" y="3931920"/>
            <a:ext cx="8229600" cy="548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6B7C8A"/>
              </a:buClr>
              <a:buSzPts val="1000"/>
              <a:buFont typeface="Arial"/>
              <a:buNone/>
              <a:defRPr sz="1000" b="0" i="0" u="none" strike="noStrike" cap="none">
                <a:solidFill>
                  <a:srgbClr val="6B7C8A"/>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7" name="Google Shape;97;p22"/>
          <p:cNvSpPr txBox="1">
            <a:spLocks noGrp="1"/>
          </p:cNvSpPr>
          <p:nvPr>
            <p:ph type="sldNum" idx="12"/>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9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sldNum" idx="12"/>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6B7C8A"/>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hyperlink" Target="https://www.aemo.com.au/energy-systems/major-publications/integrated-system-plan-isp/2026-integrated-system-plan-isp/2025-26-inputs-assumptions-and-scenarios"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www.aemo.com.au/energy-systems/major-publications/integrated-system-plan-isp/2026-integrated-system-plan-isp/2025-26-inputs-assumptions-and-scenarios"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hyperlink" Target="https://www.aemo.com.au/energy-systems/major-publications/integrated-system-plan-isp/2026-integrated-system-plan-isp/2025-26-inputs-assumptions-and-scenarios"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chart" Target="../charts/char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hyperlink" Target="https://www.aemo.com.au/energy-systems/major-publications/integrated-system-plan-isp/2026-integrated-system-plan-isp" TargetMode="External"/><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wa.gov.au/government/media-statements/McGowan-Labor-Government/State-owned-coal-power-stations-to-be-retired-by-2030-20220614" TargetMode="External"/><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hyperlink" Target="https://www.aemo.com.au/energy-systems/major-publications/integrated-system-plan-isp/2026-integrated-system-plan-isp/2025-26-inputs-assumptions-and-scenarios"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chart" Target="../charts/chart6.xml"/></Relationships>
</file>

<file path=ppt/slides/_rels/slide17.xml.rels><?xml version="1.0" encoding="UTF-8" standalone="yes"?>
<Relationships xmlns="http://schemas.openxmlformats.org/package/2006/relationships"><Relationship Id="rId3" Type="http://schemas.openxmlformats.org/officeDocument/2006/relationships/hyperlink" Target="https://www.aemo.com.au/-/media/files/electricity/wem/planning_and_forecasting/esoo/2026/2026-wem-electricity-statement-of-opportunities.pdf" TargetMode="External"/><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www.wa.gov.au/government/media-statements/Cook%20Labor%20Government/Two-way-electric-vehicle-charging-trial-delivers-success--20250922" TargetMode="External"/><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hyperlink" Target="https://www.comparethemarket.com.au/energy/features/ev-battery-evolution/" TargetMode="External"/></Relationships>
</file>

<file path=ppt/slides/_rels/slide25.xml.rels><?xml version="1.0" encoding="UTF-8" standalone="yes"?>
<Relationships xmlns="http://schemas.openxmlformats.org/package/2006/relationships"><Relationship Id="rId3" Type="http://schemas.openxmlformats.org/officeDocument/2006/relationships/hyperlink" Target="https://www.google.com/goto?url=CAESlwEB6zswFXZvN33i0lgLCkPrcSs_6Mofq8bCUOAcvQtyuNFy5mkKl7bi1T--wOrDdeTNst3qg7dfwAOkMke3bjm34hr-fN2QDHtbBKmKbE2CFo2e7uCsoSDSl0lOlyXWZA7tObvRww24eYE208BvWTskbPVdSvItF4SC2oTcd_3OkaNvViuKjFqqOXjWwTRTxjBy6bZav4-7" TargetMode="External"/><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hyperlink" Target="https://www.solarchoice.net.au/ev/charging/bidirectional-v2g-v2h-v2l/" TargetMode="External"/><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hyperlink" Target="https://www.solarchoice.net.au/ev/charging/price-index/"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https://www.v2gkey.com/" TargetMode="External"/><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
          <p:cNvSpPr txBox="1">
            <a:spLocks noGrp="1"/>
          </p:cNvSpPr>
          <p:nvPr>
            <p:ph type="title"/>
          </p:nvPr>
        </p:nvSpPr>
        <p:spPr>
          <a:xfrm>
            <a:off x="548640" y="1828800"/>
            <a:ext cx="6766560" cy="128016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rgbClr val="FFFFFF"/>
              </a:buClr>
              <a:buSzPts val="3600"/>
              <a:buFont typeface="Montserrat"/>
              <a:buNone/>
            </a:pPr>
            <a:r>
              <a:rPr lang="en-US"/>
              <a:t>Will electrifying transport crash the grid?</a:t>
            </a:r>
            <a:endParaRPr sz="3600"/>
          </a:p>
        </p:txBody>
      </p:sp>
      <p:sp>
        <p:nvSpPr>
          <p:cNvPr id="105" name="Google Shape;105;p1"/>
          <p:cNvSpPr txBox="1">
            <a:spLocks noGrp="1"/>
          </p:cNvSpPr>
          <p:nvPr>
            <p:ph type="body" idx="1"/>
          </p:nvPr>
        </p:nvSpPr>
        <p:spPr>
          <a:xfrm>
            <a:off x="548640" y="3200400"/>
            <a:ext cx="6400800" cy="64008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E1F4FD"/>
              </a:buClr>
              <a:buSzPts val="1800"/>
              <a:buNone/>
            </a:pPr>
            <a:r>
              <a:rPr lang="en-US"/>
              <a:t>EV uptake, charging load and the WA energy transition (Tx / Dx)</a:t>
            </a:r>
            <a:endParaRPr sz="1800"/>
          </a:p>
        </p:txBody>
      </p:sp>
      <p:sp>
        <p:nvSpPr>
          <p:cNvPr id="106" name="Google Shape;106;p1"/>
          <p:cNvSpPr txBox="1">
            <a:spLocks noGrp="1"/>
          </p:cNvSpPr>
          <p:nvPr>
            <p:ph type="body" idx="2"/>
          </p:nvPr>
        </p:nvSpPr>
        <p:spPr>
          <a:xfrm>
            <a:off x="548640" y="4160520"/>
            <a:ext cx="6400800" cy="457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73C5E6"/>
              </a:buClr>
              <a:buSzPts val="1200"/>
              <a:buNone/>
            </a:pPr>
            <a:r>
              <a:rPr lang="en-US" sz="1200">
                <a:solidFill>
                  <a:srgbClr val="73C5E6"/>
                </a:solidFill>
                <a:latin typeface="Montserrat"/>
                <a:ea typeface="Montserrat"/>
                <a:cs typeface="Montserrat"/>
                <a:sym typeface="Montserrat"/>
              </a:rPr>
              <a:t>SEN Modelling Team  |  Perth  |  September 2026</a:t>
            </a: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5"/>
          <p:cNvSpPr txBox="1">
            <a:spLocks noGrp="1"/>
          </p:cNvSpPr>
          <p:nvPr>
            <p:ph type="body" idx="1"/>
          </p:nvPr>
        </p:nvSpPr>
        <p:spPr>
          <a:xfrm>
            <a:off x="548640" y="1188720"/>
            <a:ext cx="2743200" cy="128016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rgbClr val="FFFFFF"/>
              </a:buClr>
              <a:buSzPts val="7200"/>
              <a:buNone/>
            </a:pPr>
            <a:r>
              <a:rPr lang="en-US" sz="7200" b="1">
                <a:solidFill>
                  <a:srgbClr val="FFFFFF"/>
                </a:solidFill>
                <a:latin typeface="Montserrat"/>
                <a:ea typeface="Montserrat"/>
                <a:cs typeface="Montserrat"/>
                <a:sym typeface="Montserrat"/>
              </a:rPr>
              <a:t>01</a:t>
            </a:r>
            <a:endParaRPr sz="7200"/>
          </a:p>
        </p:txBody>
      </p:sp>
      <p:sp>
        <p:nvSpPr>
          <p:cNvPr id="112" name="Google Shape;112;p25"/>
          <p:cNvSpPr txBox="1">
            <a:spLocks noGrp="1"/>
          </p:cNvSpPr>
          <p:nvPr>
            <p:ph type="title"/>
          </p:nvPr>
        </p:nvSpPr>
        <p:spPr>
          <a:xfrm>
            <a:off x="548640" y="2560320"/>
            <a:ext cx="7498080" cy="914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FFFFFF"/>
              </a:buClr>
              <a:buSzPts val="3200"/>
              <a:buFont typeface="Montserrat"/>
              <a:buNone/>
            </a:pPr>
            <a:r>
              <a:rPr lang="en-US"/>
              <a:t>Will EV uptake overwhelm the WA transition?</a:t>
            </a:r>
            <a:endParaRPr sz="3200"/>
          </a:p>
        </p:txBody>
      </p:sp>
      <p:sp>
        <p:nvSpPr>
          <p:cNvPr id="113" name="Google Shape;113;p25"/>
          <p:cNvSpPr txBox="1">
            <a:spLocks noGrp="1"/>
          </p:cNvSpPr>
          <p:nvPr>
            <p:ph type="body" idx="2"/>
          </p:nvPr>
        </p:nvSpPr>
        <p:spPr>
          <a:xfrm>
            <a:off x="548640" y="3566160"/>
            <a:ext cx="6858000" cy="73152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FFFFFF"/>
              </a:buClr>
              <a:buSzPts val="1400"/>
              <a:buNone/>
            </a:pPr>
            <a:r>
              <a:rPr lang="en-US"/>
              <a:t>How many EVs, how much energy, and how does that compare with the SWIS?</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6"/>
          <p:cNvSpPr txBox="1">
            <a:spLocks noGrp="1"/>
          </p:cNvSpPr>
          <p:nvPr>
            <p:ph type="title"/>
          </p:nvPr>
        </p:nvSpPr>
        <p:spPr>
          <a:xfrm>
            <a:off x="457200" y="365760"/>
            <a:ext cx="8229600" cy="73152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B3F63"/>
              </a:buClr>
              <a:buSzPts val="2600"/>
              <a:buFont typeface="Montserrat"/>
              <a:buNone/>
            </a:pPr>
            <a:r>
              <a:rPr lang="en-US" sz="2000" dirty="0"/>
              <a:t>Q1  |  EV uptake is fast, but it is a forecast, not a surprise</a:t>
            </a:r>
            <a:endParaRPr sz="2000" dirty="0"/>
          </a:p>
        </p:txBody>
      </p:sp>
      <p:sp>
        <p:nvSpPr>
          <p:cNvPr id="120" name="Google Shape;120;p26"/>
          <p:cNvSpPr txBox="1">
            <a:spLocks noGrp="1"/>
          </p:cNvSpPr>
          <p:nvPr>
            <p:ph type="body" idx="1"/>
          </p:nvPr>
        </p:nvSpPr>
        <p:spPr>
          <a:xfrm>
            <a:off x="6492240" y="1463040"/>
            <a:ext cx="2011680" cy="36576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0A9D8"/>
              </a:buClr>
              <a:buSzPts val="1300"/>
              <a:buNone/>
            </a:pPr>
            <a:r>
              <a:rPr lang="en-US" sz="1300" b="1">
                <a:solidFill>
                  <a:srgbClr val="00A9D8"/>
                </a:solidFill>
                <a:latin typeface="Montserrat"/>
                <a:ea typeface="Montserrat"/>
                <a:cs typeface="Montserrat"/>
                <a:sym typeface="Montserrat"/>
              </a:rPr>
              <a:t>Key takeaway</a:t>
            </a:r>
            <a:endParaRPr sz="1300"/>
          </a:p>
        </p:txBody>
      </p:sp>
      <p:sp>
        <p:nvSpPr>
          <p:cNvPr id="121" name="Google Shape;121;p26"/>
          <p:cNvSpPr txBox="1">
            <a:spLocks noGrp="1"/>
          </p:cNvSpPr>
          <p:nvPr>
            <p:ph type="body" idx="3"/>
          </p:nvPr>
        </p:nvSpPr>
        <p:spPr>
          <a:xfrm>
            <a:off x="6411595" y="1865102"/>
            <a:ext cx="2172970" cy="2377440"/>
          </a:xfrm>
          <a:prstGeom prst="rect">
            <a:avLst/>
          </a:prstGeom>
          <a:noFill/>
          <a:ln>
            <a:noFill/>
          </a:ln>
        </p:spPr>
        <p:txBody>
          <a:bodyPr spcFirstLastPara="1" wrap="square" lIns="0" tIns="0" rIns="0" bIns="0" anchor="t" anchorCtr="0">
            <a:noAutofit/>
          </a:bodyPr>
          <a:lstStyle/>
          <a:p>
            <a:pPr marL="171450" lvl="0" indent="-171450" algn="l" rtl="0">
              <a:lnSpc>
                <a:spcPct val="100000"/>
              </a:lnSpc>
              <a:spcBef>
                <a:spcPts val="240"/>
              </a:spcBef>
              <a:spcAft>
                <a:spcPts val="0"/>
              </a:spcAft>
              <a:buSzPts val="1200"/>
              <a:buFont typeface="Arial"/>
              <a:buChar char="•"/>
            </a:pPr>
            <a:r>
              <a:rPr lang="en-US" sz="900"/>
              <a:t>Total EVs increase 68x at ~15.6% CAGR over the 30-year outlook.</a:t>
            </a:r>
            <a:endParaRPr/>
          </a:p>
          <a:p>
            <a:pPr marL="171450" lvl="0" indent="-171450" algn="l" rtl="0">
              <a:lnSpc>
                <a:spcPct val="100000"/>
              </a:lnSpc>
              <a:spcBef>
                <a:spcPts val="240"/>
              </a:spcBef>
              <a:spcAft>
                <a:spcPts val="0"/>
              </a:spcAft>
              <a:buSzPts val="1200"/>
              <a:buFont typeface="Arial"/>
              <a:buChar char="•"/>
            </a:pPr>
            <a:r>
              <a:rPr lang="en-US" sz="900"/>
              <a:t>By 2054‑55, Large Residential (28.8%), Medium Residential (24.9%), Large Light Commercial (19.5%) and Small Residential (11.2%) together make up ~85% of the fleet.</a:t>
            </a:r>
            <a:endParaRPr/>
          </a:p>
          <a:p>
            <a:pPr marL="171450" lvl="0" indent="-171450" algn="l" rtl="0">
              <a:lnSpc>
                <a:spcPct val="100000"/>
              </a:lnSpc>
              <a:spcBef>
                <a:spcPts val="240"/>
              </a:spcBef>
              <a:spcAft>
                <a:spcPts val="0"/>
              </a:spcAft>
              <a:buSzPts val="1200"/>
              <a:buFont typeface="Arial"/>
              <a:buChar char="•"/>
            </a:pPr>
            <a:r>
              <a:rPr lang="en-US" sz="900"/>
              <a:t>Heavy vehicles (trucks, buses) stay under 5% combined.</a:t>
            </a:r>
            <a:endParaRPr/>
          </a:p>
          <a:p>
            <a:pPr marL="171450" lvl="0" indent="-171450" algn="l" rtl="0">
              <a:lnSpc>
                <a:spcPct val="100000"/>
              </a:lnSpc>
              <a:spcBef>
                <a:spcPts val="240"/>
              </a:spcBef>
              <a:spcAft>
                <a:spcPts val="0"/>
              </a:spcAft>
              <a:buSzPts val="1200"/>
              <a:buFont typeface="Arial"/>
              <a:buChar char="•"/>
            </a:pPr>
            <a:r>
              <a:rPr lang="en-US" sz="900"/>
              <a:t>Large Light Commercial's share of the fleet climbs from ~3.9% in 2030‑31 to ~19.5% by 2054‑55</a:t>
            </a:r>
            <a:endParaRPr/>
          </a:p>
        </p:txBody>
      </p:sp>
      <p:sp>
        <p:nvSpPr>
          <p:cNvPr id="122" name="Google Shape;122;p26"/>
          <p:cNvSpPr txBox="1">
            <a:spLocks noGrp="1"/>
          </p:cNvSpPr>
          <p:nvPr>
            <p:ph type="sldNum" idx="4294967295"/>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6B7C8A"/>
                </a:solidFill>
                <a:latin typeface="Montserrat"/>
                <a:ea typeface="Montserrat"/>
                <a:cs typeface="Montserrat"/>
                <a:sym typeface="Montserrat"/>
              </a:rPr>
              <a:t>3</a:t>
            </a:fld>
            <a:endParaRPr sz="900" b="0" i="0" u="none" strike="noStrike" cap="none">
              <a:solidFill>
                <a:srgbClr val="6B7C8A"/>
              </a:solidFill>
              <a:latin typeface="Montserrat"/>
              <a:ea typeface="Montserrat"/>
              <a:cs typeface="Montserrat"/>
              <a:sym typeface="Montserrat"/>
            </a:endParaRPr>
          </a:p>
        </p:txBody>
      </p:sp>
      <p:graphicFrame>
        <p:nvGraphicFramePr>
          <p:cNvPr id="123" name="Google Shape;123;p26"/>
          <p:cNvGraphicFramePr/>
          <p:nvPr/>
        </p:nvGraphicFramePr>
        <p:xfrm>
          <a:off x="292100" y="938530"/>
          <a:ext cx="5760000" cy="3600000"/>
        </p:xfrm>
        <a:graphic>
          <a:graphicData uri="http://schemas.openxmlformats.org/drawingml/2006/chart">
            <c:chart xmlns:c="http://schemas.openxmlformats.org/drawingml/2006/chart" xmlns:r="http://schemas.openxmlformats.org/officeDocument/2006/relationships" r:id="rId3"/>
          </a:graphicData>
        </a:graphic>
      </p:graphicFrame>
      <p:sp>
        <p:nvSpPr>
          <p:cNvPr id="124" name="Google Shape;124;p26"/>
          <p:cNvSpPr txBox="1"/>
          <p:nvPr/>
        </p:nvSpPr>
        <p:spPr>
          <a:xfrm>
            <a:off x="2876550" y="4608850"/>
            <a:ext cx="552450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dirty="0">
                <a:solidFill>
                  <a:srgbClr val="000000"/>
                </a:solidFill>
                <a:latin typeface="Montserrat"/>
                <a:ea typeface="Montserrat"/>
                <a:cs typeface="Montserrat"/>
                <a:sym typeface="Montserrat"/>
              </a:rPr>
              <a:t>Source: AEMO, 2025 Inputs, Assumptions and Scenarios Report (IASR), Electric Vehicle workbook, WEM region, Accelerated Transition scenario (CSIRO 2025 EV trajectories developed for AEMO). </a:t>
            </a:r>
            <a:r>
              <a:rPr lang="en-US" sz="700" b="0" i="0" u="sng" strike="noStrike" cap="none" dirty="0">
                <a:solidFill>
                  <a:srgbClr val="000000"/>
                </a:solid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https://www.aemo.com.au/…/2025-26-inputs-assumptions-and-scenarios</a:t>
            </a:r>
            <a:r>
              <a:rPr lang="en-US" sz="700" b="0" i="0" u="none" strike="noStrike" cap="none" dirty="0">
                <a:solidFill>
                  <a:srgbClr val="000000"/>
                </a:solidFill>
                <a:latin typeface="Montserrat"/>
                <a:ea typeface="Montserrat"/>
                <a:cs typeface="Montserrat"/>
                <a:sym typeface="Montserrat"/>
              </a:rPr>
              <a:t>.</a:t>
            </a:r>
            <a:endParaRPr dirty="0"/>
          </a:p>
          <a:p>
            <a:pPr marL="0" marR="0" lvl="0" indent="0" algn="l" rtl="0">
              <a:lnSpc>
                <a:spcPct val="100000"/>
              </a:lnSpc>
              <a:spcBef>
                <a:spcPts val="0"/>
              </a:spcBef>
              <a:spcAft>
                <a:spcPts val="0"/>
              </a:spcAft>
              <a:buNone/>
            </a:pPr>
            <a:r>
              <a:rPr lang="en-US" sz="700" b="0" i="0" u="none" strike="noStrike" cap="none" dirty="0">
                <a:solidFill>
                  <a:srgbClr val="000000"/>
                </a:solidFill>
                <a:latin typeface="Montserrat"/>
                <a:ea typeface="Montserrat"/>
                <a:cs typeface="Montserrat"/>
                <a:sym typeface="Montserrat"/>
              </a:rPr>
              <a:t> </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7"/>
          <p:cNvSpPr txBox="1">
            <a:spLocks noGrp="1"/>
          </p:cNvSpPr>
          <p:nvPr>
            <p:ph type="title"/>
          </p:nvPr>
        </p:nvSpPr>
        <p:spPr>
          <a:xfrm>
            <a:off x="457200" y="365760"/>
            <a:ext cx="8229600" cy="73152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B3F63"/>
              </a:buClr>
              <a:buSzPts val="2600"/>
              <a:buFont typeface="Montserrat"/>
              <a:buNone/>
            </a:pPr>
            <a:r>
              <a:rPr lang="en-US" sz="2000"/>
              <a:t>Q1  |  Even the slow-growth scenario is a ~46x fleet increase by 2055</a:t>
            </a:r>
            <a:endParaRPr sz="2000"/>
          </a:p>
        </p:txBody>
      </p:sp>
      <p:sp>
        <p:nvSpPr>
          <p:cNvPr id="131" name="Google Shape;131;p27"/>
          <p:cNvSpPr txBox="1">
            <a:spLocks noGrp="1"/>
          </p:cNvSpPr>
          <p:nvPr>
            <p:ph type="body" idx="1"/>
          </p:nvPr>
        </p:nvSpPr>
        <p:spPr>
          <a:xfrm>
            <a:off x="6492240" y="1463040"/>
            <a:ext cx="2011680" cy="36576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0A9D8"/>
              </a:buClr>
              <a:buSzPts val="1300"/>
              <a:buNone/>
            </a:pPr>
            <a:r>
              <a:rPr lang="en-US" sz="1300" b="1">
                <a:solidFill>
                  <a:srgbClr val="00A9D8"/>
                </a:solidFill>
                <a:latin typeface="Montserrat"/>
                <a:ea typeface="Montserrat"/>
                <a:cs typeface="Montserrat"/>
                <a:sym typeface="Montserrat"/>
              </a:rPr>
              <a:t>Key takeaway</a:t>
            </a:r>
            <a:endParaRPr sz="1300"/>
          </a:p>
        </p:txBody>
      </p:sp>
      <p:sp>
        <p:nvSpPr>
          <p:cNvPr id="132" name="Google Shape;132;p27"/>
          <p:cNvSpPr txBox="1">
            <a:spLocks noGrp="1"/>
          </p:cNvSpPr>
          <p:nvPr>
            <p:ph type="body" idx="3"/>
          </p:nvPr>
        </p:nvSpPr>
        <p:spPr>
          <a:xfrm>
            <a:off x="6411595" y="1865102"/>
            <a:ext cx="2172970" cy="2377440"/>
          </a:xfrm>
          <a:prstGeom prst="rect">
            <a:avLst/>
          </a:prstGeom>
          <a:noFill/>
          <a:ln>
            <a:noFill/>
          </a:ln>
        </p:spPr>
        <p:txBody>
          <a:bodyPr spcFirstLastPara="1" wrap="square" lIns="0" tIns="0" rIns="0" bIns="0" anchor="t" anchorCtr="0">
            <a:noAutofit/>
          </a:bodyPr>
          <a:lstStyle/>
          <a:p>
            <a:pPr marL="171450" lvl="0" indent="-171450" algn="l" rtl="0">
              <a:lnSpc>
                <a:spcPct val="100000"/>
              </a:lnSpc>
              <a:spcBef>
                <a:spcPts val="240"/>
              </a:spcBef>
              <a:spcAft>
                <a:spcPts val="0"/>
              </a:spcAft>
              <a:buSzPts val="1200"/>
              <a:buFont typeface="Arial"/>
              <a:buChar char="•"/>
            </a:pPr>
            <a:r>
              <a:rPr lang="en-US" sz="800"/>
              <a:t>Overall growth: total EVs grow from ~47,800 in 2025‑26 to ~2.21M by 2054‑55. Roughly a 46x increase over 30 years (~14% CAGR average).</a:t>
            </a:r>
            <a:endParaRPr/>
          </a:p>
          <a:p>
            <a:pPr marL="171450" lvl="0" indent="-171450" algn="l" rtl="0">
              <a:lnSpc>
                <a:spcPct val="100000"/>
              </a:lnSpc>
              <a:spcBef>
                <a:spcPts val="240"/>
              </a:spcBef>
              <a:spcAft>
                <a:spcPts val="0"/>
              </a:spcAft>
              <a:buSzPts val="1200"/>
              <a:buFont typeface="Arial"/>
              <a:buChar char="•"/>
            </a:pPr>
            <a:r>
              <a:rPr lang="en-US" sz="900"/>
              <a:t>Growth decelerates over time: early years grow fastest (~37% CAGR 2025‑26→2030‑31), slowing to ~14% CAGR through the middle period and just ~6% CAGR in the final decade (2044‑45→2054‑55) </a:t>
            </a:r>
            <a:endParaRPr/>
          </a:p>
          <a:p>
            <a:pPr marL="171450" lvl="0" indent="-171450" algn="l" rtl="0">
              <a:lnSpc>
                <a:spcPct val="100000"/>
              </a:lnSpc>
              <a:spcBef>
                <a:spcPts val="240"/>
              </a:spcBef>
              <a:spcAft>
                <a:spcPts val="0"/>
              </a:spcAft>
              <a:buSzPts val="1200"/>
              <a:buFont typeface="Arial"/>
              <a:buChar char="•"/>
            </a:pPr>
            <a:r>
              <a:rPr lang="en-US" sz="900"/>
              <a:t>Residential vehicles dominate but their share erodes: Large/Medium/Small Residential together are ~95% of the fleet in 2025‑26, falling to ~70% by 2054‑55 as commercial and heavy-vehicle segments scale up faster.</a:t>
            </a:r>
            <a:endParaRPr/>
          </a:p>
          <a:p>
            <a:pPr marL="171450" lvl="0" indent="-95250" algn="l" rtl="0">
              <a:lnSpc>
                <a:spcPct val="100000"/>
              </a:lnSpc>
              <a:spcBef>
                <a:spcPts val="240"/>
              </a:spcBef>
              <a:spcAft>
                <a:spcPts val="0"/>
              </a:spcAft>
              <a:buSzPts val="1200"/>
              <a:buFont typeface="Arial"/>
              <a:buNone/>
            </a:pPr>
            <a:endParaRPr sz="900"/>
          </a:p>
        </p:txBody>
      </p:sp>
      <p:sp>
        <p:nvSpPr>
          <p:cNvPr id="133" name="Google Shape;133;p27"/>
          <p:cNvSpPr txBox="1">
            <a:spLocks noGrp="1"/>
          </p:cNvSpPr>
          <p:nvPr>
            <p:ph type="sldNum" idx="4294967295"/>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6B7C8A"/>
                </a:solidFill>
                <a:latin typeface="Montserrat"/>
                <a:ea typeface="Montserrat"/>
                <a:cs typeface="Montserrat"/>
                <a:sym typeface="Montserrat"/>
              </a:rPr>
              <a:t>4</a:t>
            </a:fld>
            <a:endParaRPr sz="900" b="0" i="0" u="none" strike="noStrike" cap="none">
              <a:solidFill>
                <a:srgbClr val="6B7C8A"/>
              </a:solidFill>
              <a:latin typeface="Montserrat"/>
              <a:ea typeface="Montserrat"/>
              <a:cs typeface="Montserrat"/>
              <a:sym typeface="Montserrat"/>
            </a:endParaRPr>
          </a:p>
        </p:txBody>
      </p:sp>
      <p:sp>
        <p:nvSpPr>
          <p:cNvPr id="134" name="Google Shape;134;p27"/>
          <p:cNvSpPr txBox="1"/>
          <p:nvPr/>
        </p:nvSpPr>
        <p:spPr>
          <a:xfrm>
            <a:off x="2876550" y="4608850"/>
            <a:ext cx="552450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rgbClr val="000000"/>
                </a:solidFill>
                <a:latin typeface="Montserrat"/>
                <a:ea typeface="Montserrat"/>
                <a:cs typeface="Montserrat"/>
                <a:sym typeface="Montserrat"/>
              </a:rPr>
              <a:t>Source: AEMO, 2025 Inputs, Assumptions and Scenarios Report (IASR), Electric Vehicle workbook, WEM region, Slower Growth scenario (CSIRO 2025 EV trajectories developed for AEMO). </a:t>
            </a:r>
            <a:r>
              <a:rPr lang="en-US" sz="700" b="0" i="0" u="sng" strike="noStrike" cap="none">
                <a:solidFill>
                  <a:srgbClr val="000000"/>
                </a:solid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https://www.aemo.com.au/…/2025-26-inputs-assumptions-and-scenarios</a:t>
            </a:r>
            <a:r>
              <a:rPr lang="en-US" sz="700" b="0" i="0" u="none" strike="noStrike" cap="none">
                <a:solidFill>
                  <a:srgbClr val="000000"/>
                </a:solidFill>
                <a:latin typeface="Montserrat"/>
                <a:ea typeface="Montserrat"/>
                <a:cs typeface="Montserrat"/>
                <a:sym typeface="Montserrat"/>
              </a:rPr>
              <a:t>.</a:t>
            </a:r>
            <a:endParaRPr/>
          </a:p>
          <a:p>
            <a:pPr marL="0" marR="0" lvl="0" indent="0" algn="l" rtl="0">
              <a:lnSpc>
                <a:spcPct val="100000"/>
              </a:lnSpc>
              <a:spcBef>
                <a:spcPts val="0"/>
              </a:spcBef>
              <a:spcAft>
                <a:spcPts val="0"/>
              </a:spcAft>
              <a:buNone/>
            </a:pPr>
            <a:r>
              <a:rPr lang="en-US" sz="700" b="0" i="0" u="none" strike="noStrike" cap="none">
                <a:solidFill>
                  <a:srgbClr val="000000"/>
                </a:solidFill>
                <a:latin typeface="Montserrat"/>
                <a:ea typeface="Montserrat"/>
                <a:cs typeface="Montserrat"/>
                <a:sym typeface="Montserrat"/>
              </a:rPr>
              <a:t> </a:t>
            </a:r>
            <a:endParaRPr/>
          </a:p>
        </p:txBody>
      </p:sp>
      <p:graphicFrame>
        <p:nvGraphicFramePr>
          <p:cNvPr id="135" name="Google Shape;135;p27"/>
          <p:cNvGraphicFramePr/>
          <p:nvPr/>
        </p:nvGraphicFramePr>
        <p:xfrm>
          <a:off x="330200" y="968482"/>
          <a:ext cx="5760000" cy="36000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8"/>
          <p:cNvSpPr txBox="1">
            <a:spLocks noGrp="1"/>
          </p:cNvSpPr>
          <p:nvPr>
            <p:ph type="title"/>
          </p:nvPr>
        </p:nvSpPr>
        <p:spPr>
          <a:xfrm>
            <a:off x="457200" y="365760"/>
            <a:ext cx="8229600" cy="73152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B3F63"/>
              </a:buClr>
              <a:buSzPts val="2600"/>
              <a:buFont typeface="Montserrat"/>
              <a:buNone/>
            </a:pPr>
            <a:r>
              <a:rPr lang="en-US" sz="2000"/>
              <a:t>Q1  |  EV energy grows ~84x, yet stays a small slice of SWIS consumption</a:t>
            </a:r>
            <a:endParaRPr sz="2000"/>
          </a:p>
        </p:txBody>
      </p:sp>
      <p:sp>
        <p:nvSpPr>
          <p:cNvPr id="142" name="Google Shape;142;p28"/>
          <p:cNvSpPr txBox="1">
            <a:spLocks noGrp="1"/>
          </p:cNvSpPr>
          <p:nvPr>
            <p:ph type="body" idx="1"/>
          </p:nvPr>
        </p:nvSpPr>
        <p:spPr>
          <a:xfrm>
            <a:off x="6492240" y="1463040"/>
            <a:ext cx="2011680" cy="36576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0A9D8"/>
              </a:buClr>
              <a:buSzPts val="1300"/>
              <a:buNone/>
            </a:pPr>
            <a:r>
              <a:rPr lang="en-US" sz="1300" b="1">
                <a:solidFill>
                  <a:srgbClr val="00A9D8"/>
                </a:solidFill>
                <a:latin typeface="Montserrat"/>
                <a:ea typeface="Montserrat"/>
                <a:cs typeface="Montserrat"/>
                <a:sym typeface="Montserrat"/>
              </a:rPr>
              <a:t>Key takeaway</a:t>
            </a:r>
            <a:endParaRPr sz="1300"/>
          </a:p>
        </p:txBody>
      </p:sp>
      <p:sp>
        <p:nvSpPr>
          <p:cNvPr id="143" name="Google Shape;143;p28"/>
          <p:cNvSpPr txBox="1">
            <a:spLocks noGrp="1"/>
          </p:cNvSpPr>
          <p:nvPr>
            <p:ph type="body" idx="3"/>
          </p:nvPr>
        </p:nvSpPr>
        <p:spPr>
          <a:xfrm>
            <a:off x="6411595" y="1865102"/>
            <a:ext cx="2172970" cy="2377440"/>
          </a:xfrm>
          <a:prstGeom prst="rect">
            <a:avLst/>
          </a:prstGeom>
          <a:noFill/>
          <a:ln>
            <a:noFill/>
          </a:ln>
        </p:spPr>
        <p:txBody>
          <a:bodyPr spcFirstLastPara="1" wrap="square" lIns="0" tIns="0" rIns="0" bIns="0" anchor="t" anchorCtr="0">
            <a:noAutofit/>
          </a:bodyPr>
          <a:lstStyle/>
          <a:p>
            <a:pPr marL="171450" lvl="0" indent="-171450" algn="l" rtl="0">
              <a:lnSpc>
                <a:spcPct val="100000"/>
              </a:lnSpc>
              <a:spcBef>
                <a:spcPts val="240"/>
              </a:spcBef>
              <a:spcAft>
                <a:spcPts val="0"/>
              </a:spcAft>
              <a:buSzPts val="1200"/>
              <a:buFont typeface="Arial"/>
              <a:buChar char="•"/>
            </a:pPr>
            <a:r>
              <a:rPr lang="en-US" sz="900"/>
              <a:t>Total consumption scales up ~84x: from ~103 GWh in 2025‑26 to ~8,630 GWh in 2054‑55, reaching ~1,300 GWh by 2035‑36 (the 10‑year mark).</a:t>
            </a:r>
            <a:endParaRPr/>
          </a:p>
          <a:p>
            <a:pPr marL="171450" lvl="0" indent="-171450" algn="l" rtl="0">
              <a:lnSpc>
                <a:spcPct val="100000"/>
              </a:lnSpc>
              <a:spcBef>
                <a:spcPts val="240"/>
              </a:spcBef>
              <a:spcAft>
                <a:spcPts val="0"/>
              </a:spcAft>
              <a:buSzPts val="1200"/>
              <a:buFont typeface="Arial"/>
              <a:buChar char="•"/>
            </a:pPr>
            <a:r>
              <a:rPr lang="en-US" sz="900"/>
              <a:t>Consumption by heavy vehicles dominates. </a:t>
            </a:r>
            <a:endParaRPr/>
          </a:p>
          <a:p>
            <a:pPr marL="171450" lvl="0" indent="-171450" algn="l" rtl="0">
              <a:lnSpc>
                <a:spcPct val="100000"/>
              </a:lnSpc>
              <a:spcBef>
                <a:spcPts val="240"/>
              </a:spcBef>
              <a:spcAft>
                <a:spcPts val="0"/>
              </a:spcAft>
              <a:buSzPts val="1200"/>
              <a:buFont typeface="Arial"/>
              <a:buChar char="•"/>
            </a:pPr>
            <a:r>
              <a:rPr lang="en-US" sz="900"/>
              <a:t>Articulated Trucks and Rigid Trucks are only ~1% of the vehicle fleet by count, but together with Buses they account for ~40% of total energy consumption by 2054‑55, reflecting much higher per-vehicle energy use for freight/heavy vehicles.</a:t>
            </a:r>
            <a:endParaRPr/>
          </a:p>
          <a:p>
            <a:pPr marL="171450" lvl="0" indent="-95250" algn="l" rtl="0">
              <a:lnSpc>
                <a:spcPct val="100000"/>
              </a:lnSpc>
              <a:spcBef>
                <a:spcPts val="240"/>
              </a:spcBef>
              <a:spcAft>
                <a:spcPts val="0"/>
              </a:spcAft>
              <a:buSzPts val="1200"/>
              <a:buFont typeface="Arial"/>
              <a:buNone/>
            </a:pPr>
            <a:endParaRPr sz="900"/>
          </a:p>
        </p:txBody>
      </p:sp>
      <p:sp>
        <p:nvSpPr>
          <p:cNvPr id="144" name="Google Shape;144;p28"/>
          <p:cNvSpPr txBox="1">
            <a:spLocks noGrp="1"/>
          </p:cNvSpPr>
          <p:nvPr>
            <p:ph type="sldNum" idx="4294967295"/>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6B7C8A"/>
                </a:solidFill>
                <a:latin typeface="Montserrat"/>
                <a:ea typeface="Montserrat"/>
                <a:cs typeface="Montserrat"/>
                <a:sym typeface="Montserrat"/>
              </a:rPr>
              <a:t>5</a:t>
            </a:fld>
            <a:endParaRPr sz="900" b="0" i="0" u="none" strike="noStrike" cap="none">
              <a:solidFill>
                <a:srgbClr val="6B7C8A"/>
              </a:solidFill>
              <a:latin typeface="Montserrat"/>
              <a:ea typeface="Montserrat"/>
              <a:cs typeface="Montserrat"/>
              <a:sym typeface="Montserrat"/>
            </a:endParaRPr>
          </a:p>
        </p:txBody>
      </p:sp>
      <p:sp>
        <p:nvSpPr>
          <p:cNvPr id="145" name="Google Shape;145;p28"/>
          <p:cNvSpPr txBox="1"/>
          <p:nvPr/>
        </p:nvSpPr>
        <p:spPr>
          <a:xfrm>
            <a:off x="2876550" y="4608850"/>
            <a:ext cx="552450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rgbClr val="000000"/>
                </a:solidFill>
                <a:latin typeface="Montserrat"/>
                <a:ea typeface="Montserrat"/>
                <a:cs typeface="Montserrat"/>
                <a:sym typeface="Montserrat"/>
              </a:rPr>
              <a:t>Source: AEMO, 2025 Inputs, Assumptions and Scenarios Report (IASR), Electric Vehicle workbook, WEM region, Slower Growth scenario (CSIRO 2025 EV trajectories developed for AEMO). </a:t>
            </a:r>
            <a:r>
              <a:rPr lang="en-US" sz="700" b="0" i="0" u="sng" strike="noStrike" cap="none">
                <a:solidFill>
                  <a:srgbClr val="000000"/>
                </a:solid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https://www.aemo.com.au/…/2025-26-inputs-assumptions-and-scenarios</a:t>
            </a:r>
            <a:r>
              <a:rPr lang="en-US" sz="700" b="0" i="0" u="none" strike="noStrike" cap="none">
                <a:solidFill>
                  <a:srgbClr val="000000"/>
                </a:solidFill>
                <a:latin typeface="Montserrat"/>
                <a:ea typeface="Montserrat"/>
                <a:cs typeface="Montserrat"/>
                <a:sym typeface="Montserrat"/>
              </a:rPr>
              <a:t>.</a:t>
            </a:r>
            <a:endParaRPr/>
          </a:p>
          <a:p>
            <a:pPr marL="0" marR="0" lvl="0" indent="0" algn="l" rtl="0">
              <a:lnSpc>
                <a:spcPct val="100000"/>
              </a:lnSpc>
              <a:spcBef>
                <a:spcPts val="0"/>
              </a:spcBef>
              <a:spcAft>
                <a:spcPts val="0"/>
              </a:spcAft>
              <a:buNone/>
            </a:pPr>
            <a:r>
              <a:rPr lang="en-US" sz="700" b="0" i="0" u="none" strike="noStrike" cap="none">
                <a:solidFill>
                  <a:srgbClr val="000000"/>
                </a:solidFill>
                <a:latin typeface="Montserrat"/>
                <a:ea typeface="Montserrat"/>
                <a:cs typeface="Montserrat"/>
                <a:sym typeface="Montserrat"/>
              </a:rPr>
              <a:t> </a:t>
            </a:r>
            <a:endParaRPr/>
          </a:p>
        </p:txBody>
      </p:sp>
      <p:graphicFrame>
        <p:nvGraphicFramePr>
          <p:cNvPr id="146" name="Google Shape;146;p28"/>
          <p:cNvGraphicFramePr/>
          <p:nvPr/>
        </p:nvGraphicFramePr>
        <p:xfrm>
          <a:off x="196850" y="892400"/>
          <a:ext cx="5760000" cy="36000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457200" y="365760"/>
            <a:ext cx="8229600" cy="7315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B3F63"/>
              </a:buClr>
              <a:buSzPts val="2600"/>
              <a:buFont typeface="Montserrat"/>
              <a:buNone/>
            </a:pPr>
            <a:r>
              <a:rPr lang="en-US" sz="2800">
                <a:solidFill>
                  <a:srgbClr val="1F3F66"/>
                </a:solidFill>
                <a:latin typeface="Arial"/>
                <a:ea typeface="Arial"/>
                <a:cs typeface="Arial"/>
                <a:sym typeface="Arial"/>
              </a:rPr>
              <a:t>How we used the Siren Model</a:t>
            </a:r>
            <a:endParaRPr sz="2800"/>
          </a:p>
        </p:txBody>
      </p:sp>
      <p:sp>
        <p:nvSpPr>
          <p:cNvPr id="114" name="Google Shape;114;p4"/>
          <p:cNvSpPr txBox="1">
            <a:spLocks noGrp="1"/>
          </p:cNvSpPr>
          <p:nvPr>
            <p:ph type="sldNum" idx="12"/>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6B7C8A"/>
                </a:solidFill>
                <a:latin typeface="Montserrat"/>
                <a:ea typeface="Montserrat"/>
                <a:cs typeface="Montserrat"/>
                <a:sym typeface="Montserrat"/>
              </a:rPr>
              <a:t>6</a:t>
            </a:fld>
            <a:endParaRPr sz="900" b="0" i="0" u="none" strike="noStrike" cap="none">
              <a:solidFill>
                <a:srgbClr val="6B7C8A"/>
              </a:solidFill>
              <a:latin typeface="Montserrat"/>
              <a:ea typeface="Montserrat"/>
              <a:cs typeface="Montserrat"/>
              <a:sym typeface="Montserrat"/>
            </a:endParaRPr>
          </a:p>
        </p:txBody>
      </p:sp>
      <p:sp>
        <p:nvSpPr>
          <p:cNvPr id="115" name="Google Shape;115;p4"/>
          <p:cNvSpPr/>
          <p:nvPr/>
        </p:nvSpPr>
        <p:spPr>
          <a:xfrm>
            <a:off x="3703204" y="1353312"/>
            <a:ext cx="1645920" cy="425196"/>
          </a:xfrm>
          <a:prstGeom prst="roundRect">
            <a:avLst>
              <a:gd name="adj" fmla="val 12903"/>
            </a:avLst>
          </a:prstGeom>
          <a:solidFill>
            <a:srgbClr val="FFFFFF"/>
          </a:solidFill>
          <a:ln w="9525" cap="flat" cmpd="sng">
            <a:solidFill>
              <a:srgbClr val="8A94A3"/>
            </a:solidFill>
            <a:prstDash val="solid"/>
            <a:round/>
            <a:headEnd type="none" w="sm" len="sm"/>
            <a:tailEnd type="none" w="sm" len="sm"/>
          </a:ln>
        </p:spPr>
        <p:txBody>
          <a:bodyPr spcFirstLastPara="1" wrap="square" lIns="19050" tIns="19050" rIns="19050" bIns="19050" anchor="ctr" anchorCtr="0">
            <a:noAutofit/>
          </a:bodyPr>
          <a:lstStyle/>
          <a:p>
            <a:pPr marL="0" marR="0" lvl="0" indent="0" algn="ctr" rtl="0">
              <a:lnSpc>
                <a:spcPct val="100000"/>
              </a:lnSpc>
              <a:spcBef>
                <a:spcPts val="0"/>
              </a:spcBef>
              <a:spcAft>
                <a:spcPts val="0"/>
              </a:spcAft>
              <a:buNone/>
            </a:pPr>
            <a:r>
              <a:rPr lang="en-US" sz="975" b="1" i="0" u="none" strike="noStrike" cap="none">
                <a:solidFill>
                  <a:srgbClr val="13294B"/>
                </a:solidFill>
                <a:latin typeface="Arial"/>
                <a:ea typeface="Arial"/>
                <a:cs typeface="Arial"/>
                <a:sym typeface="Arial"/>
              </a:rPr>
              <a:t>Smart charging switch</a:t>
            </a:r>
            <a:endParaRPr sz="975"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r>
              <a:rPr lang="en-US" sz="825" b="0" i="0" u="none" strike="noStrike" cap="none">
                <a:solidFill>
                  <a:srgbClr val="5F6B7A"/>
                </a:solidFill>
                <a:latin typeface="Arial"/>
                <a:ea typeface="Arial"/>
                <a:cs typeface="Arial"/>
                <a:sym typeface="Arial"/>
              </a:rPr>
              <a:t>Same energy, different hours</a:t>
            </a:r>
            <a:endParaRPr sz="975" b="0" i="0" u="none" strike="noStrike" cap="none">
              <a:solidFill>
                <a:srgbClr val="000000"/>
              </a:solidFill>
              <a:latin typeface="Arial"/>
              <a:ea typeface="Arial"/>
              <a:cs typeface="Arial"/>
              <a:sym typeface="Arial"/>
            </a:endParaRPr>
          </a:p>
        </p:txBody>
      </p:sp>
      <p:cxnSp>
        <p:nvCxnSpPr>
          <p:cNvPr id="116" name="Google Shape;116;p4"/>
          <p:cNvCxnSpPr/>
          <p:nvPr/>
        </p:nvCxnSpPr>
        <p:spPr>
          <a:xfrm>
            <a:off x="4526164" y="1799082"/>
            <a:ext cx="0" cy="157734"/>
          </a:xfrm>
          <a:prstGeom prst="straightConnector1">
            <a:avLst/>
          </a:prstGeom>
          <a:noFill/>
          <a:ln w="15875" cap="flat" cmpd="sng">
            <a:solidFill>
              <a:srgbClr val="8A94A3"/>
            </a:solidFill>
            <a:prstDash val="solid"/>
            <a:round/>
            <a:headEnd type="none" w="sm" len="sm"/>
            <a:tailEnd type="triangle" w="med" len="med"/>
          </a:ln>
        </p:spPr>
      </p:cxnSp>
      <p:grpSp>
        <p:nvGrpSpPr>
          <p:cNvPr id="117" name="Google Shape;117;p4"/>
          <p:cNvGrpSpPr/>
          <p:nvPr/>
        </p:nvGrpSpPr>
        <p:grpSpPr>
          <a:xfrm>
            <a:off x="365758" y="1959522"/>
            <a:ext cx="8320811" cy="833970"/>
            <a:chOff x="411480" y="1497750"/>
            <a:chExt cx="8320811" cy="833970"/>
          </a:xfrm>
        </p:grpSpPr>
        <p:sp>
          <p:nvSpPr>
            <p:cNvPr id="118" name="Google Shape;118;p4"/>
            <p:cNvSpPr/>
            <p:nvPr/>
          </p:nvSpPr>
          <p:spPr>
            <a:xfrm>
              <a:off x="411480" y="1508760"/>
              <a:ext cx="1850700" cy="822960"/>
            </a:xfrm>
            <a:prstGeom prst="homePlate">
              <a:avLst>
                <a:gd name="adj" fmla="val 35000"/>
              </a:avLst>
            </a:prstGeom>
            <a:solidFill>
              <a:srgbClr val="FFF2CC"/>
            </a:solidFill>
            <a:ln>
              <a:noFill/>
            </a:ln>
          </p:spPr>
          <p:txBody>
            <a:bodyPr spcFirstLastPara="1" wrap="square" lIns="19050" tIns="28575" rIns="28575" bIns="19050" anchor="ctr" anchorCtr="0">
              <a:noAutofit/>
            </a:bodyPr>
            <a:lstStyle/>
            <a:p>
              <a:pPr marL="0" marR="0" lvl="0" indent="0" algn="ctr" rtl="0">
                <a:lnSpc>
                  <a:spcPct val="100000"/>
                </a:lnSpc>
                <a:spcBef>
                  <a:spcPts val="0"/>
                </a:spcBef>
                <a:spcAft>
                  <a:spcPts val="0"/>
                </a:spcAft>
                <a:buNone/>
              </a:pPr>
              <a:r>
                <a:rPr lang="en-US" sz="1350" b="1" i="0" u="none" strike="noStrike" cap="none">
                  <a:solidFill>
                    <a:srgbClr val="13294B"/>
                  </a:solidFill>
                  <a:latin typeface="Arial"/>
                  <a:ea typeface="Arial"/>
                  <a:cs typeface="Arial"/>
                  <a:sym typeface="Arial"/>
                </a:rPr>
                <a:t>EV Fleet</a:t>
              </a:r>
              <a:endParaRPr sz="1350" b="0" i="0" u="none" strike="noStrike" cap="none">
                <a:solidFill>
                  <a:srgbClr val="000000"/>
                </a:solidFill>
                <a:latin typeface="Arial"/>
                <a:ea typeface="Arial"/>
                <a:cs typeface="Arial"/>
                <a:sym typeface="Arial"/>
              </a:endParaRPr>
            </a:p>
            <a:p>
              <a:pPr marL="0" marR="0" lvl="0" indent="0" algn="ctr" rtl="0">
                <a:lnSpc>
                  <a:spcPct val="100000"/>
                </a:lnSpc>
                <a:spcBef>
                  <a:spcPts val="150"/>
                </a:spcBef>
                <a:spcAft>
                  <a:spcPts val="0"/>
                </a:spcAft>
                <a:buNone/>
              </a:pPr>
              <a:r>
                <a:rPr lang="en-US" sz="900" b="0" i="0" u="none" strike="noStrike" cap="none">
                  <a:solidFill>
                    <a:srgbClr val="2E4468"/>
                  </a:solidFill>
                  <a:latin typeface="Arial"/>
                  <a:ea typeface="Arial"/>
                  <a:cs typeface="Arial"/>
                  <a:sym typeface="Arial"/>
                </a:rPr>
                <a:t>CSIRO paths</a:t>
              </a:r>
              <a:endParaRPr sz="1350" b="0" i="0" u="none" strike="noStrike" cap="none">
                <a:solidFill>
                  <a:srgbClr val="000000"/>
                </a:solidFill>
                <a:latin typeface="Arial"/>
                <a:ea typeface="Arial"/>
                <a:cs typeface="Arial"/>
                <a:sym typeface="Arial"/>
              </a:endParaRPr>
            </a:p>
          </p:txBody>
        </p:sp>
        <p:sp>
          <p:nvSpPr>
            <p:cNvPr id="119" name="Google Shape;119;p4"/>
            <p:cNvSpPr/>
            <p:nvPr/>
          </p:nvSpPr>
          <p:spPr>
            <a:xfrm>
              <a:off x="3655867" y="1497750"/>
              <a:ext cx="1850700" cy="822960"/>
            </a:xfrm>
            <a:prstGeom prst="chevron">
              <a:avLst>
                <a:gd name="adj" fmla="val 35000"/>
              </a:avLst>
            </a:prstGeom>
            <a:solidFill>
              <a:srgbClr val="3AB2DB"/>
            </a:solidFill>
            <a:ln>
              <a:noFill/>
            </a:ln>
          </p:spPr>
          <p:txBody>
            <a:bodyPr spcFirstLastPara="1" wrap="square" lIns="19050" tIns="28575" rIns="28575" bIns="19050" anchor="ctr" anchorCtr="0">
              <a:noAutofit/>
            </a:bodyPr>
            <a:lstStyle/>
            <a:p>
              <a:pPr marL="0" marR="0" lvl="0" indent="0" algn="ctr" rtl="0">
                <a:lnSpc>
                  <a:spcPct val="100000"/>
                </a:lnSpc>
                <a:spcBef>
                  <a:spcPts val="0"/>
                </a:spcBef>
                <a:spcAft>
                  <a:spcPts val="0"/>
                </a:spcAft>
                <a:buNone/>
              </a:pPr>
              <a:r>
                <a:rPr lang="en-US" sz="1350" b="1" i="0" u="none" strike="noStrike" cap="none">
                  <a:solidFill>
                    <a:srgbClr val="13294B"/>
                  </a:solidFill>
                  <a:latin typeface="Arial"/>
                  <a:ea typeface="Arial"/>
                  <a:cs typeface="Arial"/>
                  <a:sym typeface="Arial"/>
                </a:rPr>
                <a:t>Energy</a:t>
              </a:r>
              <a:endParaRPr sz="1350" b="0" i="0" u="none" strike="noStrike" cap="none">
                <a:solidFill>
                  <a:srgbClr val="000000"/>
                </a:solidFill>
                <a:latin typeface="Arial"/>
                <a:ea typeface="Arial"/>
                <a:cs typeface="Arial"/>
                <a:sym typeface="Arial"/>
              </a:endParaRPr>
            </a:p>
            <a:p>
              <a:pPr marL="0" marR="0" lvl="0" indent="0" algn="ctr" rtl="0">
                <a:lnSpc>
                  <a:spcPct val="100000"/>
                </a:lnSpc>
                <a:spcBef>
                  <a:spcPts val="150"/>
                </a:spcBef>
                <a:spcAft>
                  <a:spcPts val="0"/>
                </a:spcAft>
                <a:buNone/>
              </a:pPr>
              <a:r>
                <a:rPr lang="en-US" sz="900" b="0" i="0" u="none" strike="noStrike" cap="none">
                  <a:solidFill>
                    <a:srgbClr val="2E4468"/>
                  </a:solidFill>
                  <a:latin typeface="Arial"/>
                  <a:ea typeface="Arial"/>
                  <a:cs typeface="Arial"/>
                  <a:sym typeface="Arial"/>
                </a:rPr>
                <a:t>CSIRO annual kWh</a:t>
              </a:r>
              <a:endParaRPr sz="1350" b="0" i="0" u="none" strike="noStrike" cap="none">
                <a:solidFill>
                  <a:srgbClr val="000000"/>
                </a:solidFill>
                <a:latin typeface="Arial"/>
                <a:ea typeface="Arial"/>
                <a:cs typeface="Arial"/>
                <a:sym typeface="Arial"/>
              </a:endParaRPr>
            </a:p>
          </p:txBody>
        </p:sp>
        <p:sp>
          <p:nvSpPr>
            <p:cNvPr id="120" name="Google Shape;120;p4"/>
            <p:cNvSpPr/>
            <p:nvPr/>
          </p:nvSpPr>
          <p:spPr>
            <a:xfrm>
              <a:off x="5269928" y="1507081"/>
              <a:ext cx="1850700" cy="822960"/>
            </a:xfrm>
            <a:prstGeom prst="chevron">
              <a:avLst>
                <a:gd name="adj" fmla="val 35000"/>
              </a:avLst>
            </a:prstGeom>
            <a:solidFill>
              <a:srgbClr val="5CB474"/>
            </a:solidFill>
            <a:ln>
              <a:noFill/>
            </a:ln>
          </p:spPr>
          <p:txBody>
            <a:bodyPr spcFirstLastPara="1" wrap="square" lIns="19050" tIns="28575" rIns="28575" bIns="19050" anchor="ctr" anchorCtr="0">
              <a:noAutofit/>
            </a:bodyPr>
            <a:lstStyle/>
            <a:p>
              <a:pPr marL="0" marR="0" lvl="0" indent="0" algn="ctr" rtl="0">
                <a:lnSpc>
                  <a:spcPct val="100000"/>
                </a:lnSpc>
                <a:spcBef>
                  <a:spcPts val="0"/>
                </a:spcBef>
                <a:spcAft>
                  <a:spcPts val="0"/>
                </a:spcAft>
                <a:buNone/>
              </a:pPr>
              <a:r>
                <a:rPr lang="en-US" sz="1350" b="1" i="0" u="none" strike="noStrike" cap="none">
                  <a:solidFill>
                    <a:srgbClr val="13294B"/>
                  </a:solidFill>
                  <a:latin typeface="Arial"/>
                  <a:ea typeface="Arial"/>
                  <a:cs typeface="Arial"/>
                  <a:sym typeface="Arial"/>
                </a:rPr>
                <a:t>Shape</a:t>
              </a:r>
              <a:endParaRPr sz="1350" b="0" i="0" u="none" strike="noStrike" cap="none">
                <a:solidFill>
                  <a:srgbClr val="000000"/>
                </a:solidFill>
                <a:latin typeface="Arial"/>
                <a:ea typeface="Arial"/>
                <a:cs typeface="Arial"/>
                <a:sym typeface="Arial"/>
              </a:endParaRPr>
            </a:p>
            <a:p>
              <a:pPr marL="0" marR="0" lvl="0" indent="0" algn="ctr" rtl="0">
                <a:lnSpc>
                  <a:spcPct val="100000"/>
                </a:lnSpc>
                <a:spcBef>
                  <a:spcPts val="150"/>
                </a:spcBef>
                <a:spcAft>
                  <a:spcPts val="0"/>
                </a:spcAft>
                <a:buNone/>
              </a:pPr>
              <a:r>
                <a:rPr lang="en-US" sz="900" b="0" i="0" u="none" strike="noStrike" cap="none">
                  <a:solidFill>
                    <a:srgbClr val="2E4468"/>
                  </a:solidFill>
                  <a:latin typeface="Arial"/>
                  <a:ea typeface="Arial"/>
                  <a:cs typeface="Arial"/>
                  <a:sym typeface="Arial"/>
                </a:rPr>
                <a:t>AEMO, half-hourly profiles </a:t>
              </a:r>
              <a:endParaRPr sz="1350" b="0" i="0" u="none" strike="noStrike" cap="none">
                <a:solidFill>
                  <a:srgbClr val="000000"/>
                </a:solidFill>
                <a:latin typeface="Arial"/>
                <a:ea typeface="Arial"/>
                <a:cs typeface="Arial"/>
                <a:sym typeface="Arial"/>
              </a:endParaRPr>
            </a:p>
          </p:txBody>
        </p:sp>
        <p:sp>
          <p:nvSpPr>
            <p:cNvPr id="121" name="Google Shape;121;p4"/>
            <p:cNvSpPr/>
            <p:nvPr/>
          </p:nvSpPr>
          <p:spPr>
            <a:xfrm>
              <a:off x="2038339" y="1508760"/>
              <a:ext cx="1850700" cy="822960"/>
            </a:xfrm>
            <a:prstGeom prst="chevron">
              <a:avLst>
                <a:gd name="adj" fmla="val 35000"/>
              </a:avLst>
            </a:prstGeom>
            <a:solidFill>
              <a:srgbClr val="FDC21C"/>
            </a:solidFill>
            <a:ln>
              <a:noFill/>
            </a:ln>
          </p:spPr>
          <p:txBody>
            <a:bodyPr spcFirstLastPara="1" wrap="square" lIns="19050" tIns="28575" rIns="28575" bIns="19050" anchor="ctr" anchorCtr="0">
              <a:noAutofit/>
            </a:bodyPr>
            <a:lstStyle/>
            <a:p>
              <a:pPr marL="0" marR="0" lvl="0" indent="0" algn="ctr" rtl="0">
                <a:lnSpc>
                  <a:spcPct val="100000"/>
                </a:lnSpc>
                <a:spcBef>
                  <a:spcPts val="0"/>
                </a:spcBef>
                <a:spcAft>
                  <a:spcPts val="0"/>
                </a:spcAft>
                <a:buNone/>
              </a:pPr>
              <a:r>
                <a:rPr lang="en-US" sz="1350" b="1" i="0" u="none" strike="noStrike" cap="none">
                  <a:solidFill>
                    <a:srgbClr val="13294B"/>
                  </a:solidFill>
                  <a:latin typeface="Arial"/>
                  <a:ea typeface="Arial"/>
                  <a:cs typeface="Arial"/>
                  <a:sym typeface="Arial"/>
                </a:rPr>
                <a:t>Place</a:t>
              </a:r>
              <a:endParaRPr sz="1350" b="0" i="0" u="none" strike="noStrike" cap="none">
                <a:solidFill>
                  <a:srgbClr val="000000"/>
                </a:solidFill>
                <a:latin typeface="Arial"/>
                <a:ea typeface="Arial"/>
                <a:cs typeface="Arial"/>
                <a:sym typeface="Arial"/>
              </a:endParaRPr>
            </a:p>
            <a:p>
              <a:pPr marL="0" marR="0" lvl="0" indent="0" algn="ctr" rtl="0">
                <a:lnSpc>
                  <a:spcPct val="100000"/>
                </a:lnSpc>
                <a:spcBef>
                  <a:spcPts val="150"/>
                </a:spcBef>
                <a:spcAft>
                  <a:spcPts val="0"/>
                </a:spcAft>
                <a:buNone/>
              </a:pPr>
              <a:r>
                <a:rPr lang="en-US" sz="900" b="0" i="0" u="none" strike="noStrike" cap="none">
                  <a:solidFill>
                    <a:srgbClr val="2E4468"/>
                  </a:solidFill>
                  <a:latin typeface="Arial"/>
                  <a:ea typeface="Arial"/>
                  <a:cs typeface="Arial"/>
                  <a:sym typeface="Arial"/>
                </a:rPr>
                <a:t>SWIS boundary</a:t>
              </a:r>
              <a:endParaRPr sz="1350" b="0" i="0" u="none" strike="noStrike" cap="none">
                <a:solidFill>
                  <a:srgbClr val="000000"/>
                </a:solidFill>
                <a:latin typeface="Arial"/>
                <a:ea typeface="Arial"/>
                <a:cs typeface="Arial"/>
                <a:sym typeface="Arial"/>
              </a:endParaRPr>
            </a:p>
          </p:txBody>
        </p:sp>
        <p:sp>
          <p:nvSpPr>
            <p:cNvPr id="122" name="Google Shape;122;p4"/>
            <p:cNvSpPr/>
            <p:nvPr/>
          </p:nvSpPr>
          <p:spPr>
            <a:xfrm>
              <a:off x="6881591" y="1508760"/>
              <a:ext cx="1850700" cy="822960"/>
            </a:xfrm>
            <a:prstGeom prst="chevron">
              <a:avLst>
                <a:gd name="adj" fmla="val 35000"/>
              </a:avLst>
            </a:prstGeom>
            <a:solidFill>
              <a:srgbClr val="D8ECDC"/>
            </a:solidFill>
            <a:ln>
              <a:noFill/>
            </a:ln>
          </p:spPr>
          <p:txBody>
            <a:bodyPr spcFirstLastPara="1" wrap="square" lIns="19050" tIns="28575" rIns="28575" bIns="19050" anchor="ctr" anchorCtr="0">
              <a:noAutofit/>
            </a:bodyPr>
            <a:lstStyle/>
            <a:p>
              <a:pPr marL="0" marR="0" lvl="0" indent="0" algn="ctr" rtl="0">
                <a:lnSpc>
                  <a:spcPct val="100000"/>
                </a:lnSpc>
                <a:spcBef>
                  <a:spcPts val="0"/>
                </a:spcBef>
                <a:spcAft>
                  <a:spcPts val="0"/>
                </a:spcAft>
                <a:buNone/>
              </a:pPr>
              <a:r>
                <a:rPr lang="en-US" sz="1350" b="1" i="0" u="none" strike="noStrike" cap="none">
                  <a:solidFill>
                    <a:srgbClr val="13294B"/>
                  </a:solidFill>
                  <a:latin typeface="Arial"/>
                  <a:ea typeface="Arial"/>
                  <a:cs typeface="Arial"/>
                  <a:sym typeface="Arial"/>
                </a:rPr>
                <a:t>Net load</a:t>
              </a:r>
              <a:endParaRPr sz="1350" b="0" i="0" u="none" strike="noStrike" cap="none">
                <a:solidFill>
                  <a:srgbClr val="000000"/>
                </a:solidFill>
                <a:latin typeface="Arial"/>
                <a:ea typeface="Arial"/>
                <a:cs typeface="Arial"/>
                <a:sym typeface="Arial"/>
              </a:endParaRPr>
            </a:p>
            <a:p>
              <a:pPr marL="0" marR="0" lvl="0" indent="0" algn="ctr" rtl="0">
                <a:lnSpc>
                  <a:spcPct val="100000"/>
                </a:lnSpc>
                <a:spcBef>
                  <a:spcPts val="150"/>
                </a:spcBef>
                <a:spcAft>
                  <a:spcPts val="0"/>
                </a:spcAft>
                <a:buNone/>
              </a:pPr>
              <a:r>
                <a:rPr lang="en-US" sz="900" b="0" i="0" u="none" strike="noStrike" cap="none">
                  <a:solidFill>
                    <a:srgbClr val="2E4468"/>
                  </a:solidFill>
                  <a:latin typeface="Arial"/>
                  <a:ea typeface="Arial"/>
                  <a:cs typeface="Arial"/>
                  <a:sym typeface="Arial"/>
                </a:rPr>
                <a:t>Added to demand</a:t>
              </a:r>
              <a:endParaRPr sz="1350" b="0" i="0" u="none" strike="noStrike" cap="none">
                <a:solidFill>
                  <a:srgbClr val="000000"/>
                </a:solidFill>
                <a:latin typeface="Arial"/>
                <a:ea typeface="Arial"/>
                <a:cs typeface="Arial"/>
                <a:sym typeface="Arial"/>
              </a:endParaRPr>
            </a:p>
          </p:txBody>
        </p:sp>
      </p:grpSp>
      <p:sp>
        <p:nvSpPr>
          <p:cNvPr id="123" name="Google Shape;123;p4"/>
          <p:cNvSpPr/>
          <p:nvPr/>
        </p:nvSpPr>
        <p:spPr>
          <a:xfrm>
            <a:off x="365758" y="2964942"/>
            <a:ext cx="4046220" cy="1234440"/>
          </a:xfrm>
          <a:prstGeom prst="roundRect">
            <a:avLst>
              <a:gd name="adj" fmla="val 5556"/>
            </a:avLst>
          </a:prstGeom>
          <a:solidFill>
            <a:srgbClr val="1F3F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txBox="1"/>
          <p:nvPr/>
        </p:nvSpPr>
        <p:spPr>
          <a:xfrm>
            <a:off x="571498" y="3119247"/>
            <a:ext cx="3634740" cy="99441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900" b="1" i="0" u="none" strike="noStrike" cap="none">
                <a:solidFill>
                  <a:srgbClr val="BFD2E8"/>
                </a:solidFill>
                <a:latin typeface="Arial"/>
                <a:ea typeface="Arial"/>
                <a:cs typeface="Arial"/>
                <a:sym typeface="Arial"/>
              </a:rPr>
              <a:t>TRACK</a:t>
            </a:r>
            <a:endParaRPr sz="900" b="0" i="0" u="none" strike="noStrike" cap="none">
              <a:solidFill>
                <a:srgbClr val="000000"/>
              </a:solidFill>
              <a:latin typeface="Arial"/>
              <a:ea typeface="Arial"/>
              <a:cs typeface="Arial"/>
              <a:sym typeface="Arial"/>
            </a:endParaRPr>
          </a:p>
          <a:p>
            <a:pPr marL="0" marR="0" lvl="0" indent="0" algn="l" rtl="0">
              <a:lnSpc>
                <a:spcPct val="100000"/>
              </a:lnSpc>
              <a:spcBef>
                <a:spcPts val="375"/>
              </a:spcBef>
              <a:spcAft>
                <a:spcPts val="0"/>
              </a:spcAft>
              <a:buNone/>
            </a:pPr>
            <a:r>
              <a:rPr lang="en-US" sz="1350" b="1" i="0" u="none" strike="noStrike" cap="none">
                <a:solidFill>
                  <a:srgbClr val="FFFFFF"/>
                </a:solidFill>
                <a:latin typeface="Arial"/>
                <a:ea typeface="Arial"/>
                <a:cs typeface="Arial"/>
                <a:sym typeface="Arial"/>
              </a:rPr>
              <a:t>Is WA following the forecasts?</a:t>
            </a:r>
            <a:endParaRPr sz="900" b="0" i="0" u="none" strike="noStrike" cap="none">
              <a:solidFill>
                <a:srgbClr val="000000"/>
              </a:solidFill>
              <a:latin typeface="Arial"/>
              <a:ea typeface="Arial"/>
              <a:cs typeface="Arial"/>
              <a:sym typeface="Arial"/>
            </a:endParaRPr>
          </a:p>
          <a:p>
            <a:pPr marL="0" marR="0" lvl="0" indent="0" algn="l" rtl="0">
              <a:lnSpc>
                <a:spcPct val="100000"/>
              </a:lnSpc>
              <a:spcBef>
                <a:spcPts val="375"/>
              </a:spcBef>
              <a:spcAft>
                <a:spcPts val="0"/>
              </a:spcAft>
              <a:buNone/>
            </a:pPr>
            <a:r>
              <a:rPr lang="en-US" sz="975" b="0" i="0" u="none" strike="noStrike" cap="none">
                <a:solidFill>
                  <a:srgbClr val="E6EDF5"/>
                </a:solidFill>
                <a:latin typeface="Arial"/>
                <a:ea typeface="Arial"/>
                <a:cs typeface="Arial"/>
                <a:sym typeface="Arial"/>
              </a:rPr>
              <a:t>Compares Transport WA's real EV numbers with CSIRO's Low / Medium / High projections </a:t>
            </a:r>
            <a:endParaRPr sz="900" b="0" i="0" u="none" strike="noStrike" cap="none">
              <a:solidFill>
                <a:srgbClr val="000000"/>
              </a:solidFill>
              <a:latin typeface="Arial"/>
              <a:ea typeface="Arial"/>
              <a:cs typeface="Arial"/>
              <a:sym typeface="Arial"/>
            </a:endParaRPr>
          </a:p>
        </p:txBody>
      </p:sp>
      <p:sp>
        <p:nvSpPr>
          <p:cNvPr id="125" name="Google Shape;125;p4"/>
          <p:cNvSpPr/>
          <p:nvPr/>
        </p:nvSpPr>
        <p:spPr>
          <a:xfrm>
            <a:off x="4640580" y="2964942"/>
            <a:ext cx="4046220" cy="1234440"/>
          </a:xfrm>
          <a:prstGeom prst="roundRect">
            <a:avLst>
              <a:gd name="adj" fmla="val 5556"/>
            </a:avLst>
          </a:prstGeom>
          <a:solidFill>
            <a:srgbClr val="1F3F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4"/>
          <p:cNvSpPr txBox="1"/>
          <p:nvPr/>
        </p:nvSpPr>
        <p:spPr>
          <a:xfrm>
            <a:off x="4906600" y="3084957"/>
            <a:ext cx="3634740" cy="99441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900" b="1" i="0" u="none" strike="noStrike" cap="none">
                <a:solidFill>
                  <a:srgbClr val="BFD2E8"/>
                </a:solidFill>
                <a:latin typeface="Arial"/>
                <a:ea typeface="Arial"/>
                <a:cs typeface="Arial"/>
                <a:sym typeface="Arial"/>
              </a:rPr>
              <a:t>EXPLORE</a:t>
            </a:r>
            <a:endParaRPr sz="900" b="0" i="0" u="none" strike="noStrike" cap="none">
              <a:solidFill>
                <a:srgbClr val="000000"/>
              </a:solidFill>
              <a:latin typeface="Arial"/>
              <a:ea typeface="Arial"/>
              <a:cs typeface="Arial"/>
              <a:sym typeface="Arial"/>
            </a:endParaRPr>
          </a:p>
          <a:p>
            <a:pPr marL="0" marR="0" lvl="0" indent="0" algn="l" rtl="0">
              <a:lnSpc>
                <a:spcPct val="100000"/>
              </a:lnSpc>
              <a:spcBef>
                <a:spcPts val="375"/>
              </a:spcBef>
              <a:spcAft>
                <a:spcPts val="0"/>
              </a:spcAft>
              <a:buNone/>
            </a:pPr>
            <a:r>
              <a:rPr lang="en-US" sz="1350" b="1" i="0" u="none" strike="noStrike" cap="none">
                <a:solidFill>
                  <a:srgbClr val="FFFFFF"/>
                </a:solidFill>
                <a:latin typeface="Arial"/>
                <a:ea typeface="Arial"/>
                <a:cs typeface="Arial"/>
                <a:sym typeface="Arial"/>
              </a:rPr>
              <a:t>How does EV charging change the grid's path to renewables?</a:t>
            </a:r>
            <a:endParaRPr sz="900" b="0" i="0" u="none" strike="noStrike" cap="none">
              <a:solidFill>
                <a:srgbClr val="000000"/>
              </a:solidFill>
              <a:latin typeface="Arial"/>
              <a:ea typeface="Arial"/>
              <a:cs typeface="Arial"/>
              <a:sym typeface="Arial"/>
            </a:endParaRPr>
          </a:p>
          <a:p>
            <a:pPr marL="0" marR="0" lvl="0" indent="0" algn="l" rtl="0">
              <a:lnSpc>
                <a:spcPct val="100000"/>
              </a:lnSpc>
              <a:spcBef>
                <a:spcPts val="375"/>
              </a:spcBef>
              <a:spcAft>
                <a:spcPts val="0"/>
              </a:spcAft>
              <a:buNone/>
            </a:pPr>
            <a:r>
              <a:rPr lang="en-US" sz="975" b="0" i="0" u="none" strike="noStrike" cap="none">
                <a:solidFill>
                  <a:srgbClr val="E6EDF5"/>
                </a:solidFill>
                <a:latin typeface="Arial"/>
                <a:ea typeface="Arial"/>
                <a:cs typeface="Arial"/>
                <a:sym typeface="Arial"/>
              </a:rPr>
              <a:t>Runs the grid under slow, medium and fast uptake, with smart charging on or off.</a:t>
            </a:r>
            <a:endParaRPr sz="9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5"/>
          <p:cNvSpPr txBox="1">
            <a:spLocks noGrp="1"/>
          </p:cNvSpPr>
          <p:nvPr>
            <p:ph type="title"/>
          </p:nvPr>
        </p:nvSpPr>
        <p:spPr>
          <a:xfrm>
            <a:off x="457200" y="365760"/>
            <a:ext cx="8229600" cy="73152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B3F63"/>
              </a:buClr>
              <a:buSzPts val="2600"/>
              <a:buFont typeface="Montserrat"/>
              <a:buNone/>
            </a:pPr>
            <a:r>
              <a:rPr lang="en-US" sz="2000"/>
              <a:t>Electric vehicle uptake in Western Australia has surged significantly</a:t>
            </a:r>
            <a:endParaRPr sz="2000"/>
          </a:p>
        </p:txBody>
      </p:sp>
      <p:sp>
        <p:nvSpPr>
          <p:cNvPr id="133" name="Google Shape;133;p5"/>
          <p:cNvSpPr txBox="1">
            <a:spLocks noGrp="1"/>
          </p:cNvSpPr>
          <p:nvPr>
            <p:ph type="body" idx="1"/>
          </p:nvPr>
        </p:nvSpPr>
        <p:spPr>
          <a:xfrm>
            <a:off x="6492240" y="1463040"/>
            <a:ext cx="2011680" cy="36576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0A9D8"/>
              </a:buClr>
              <a:buSzPts val="1300"/>
              <a:buNone/>
            </a:pPr>
            <a:r>
              <a:rPr lang="en-US" sz="1300" b="1">
                <a:solidFill>
                  <a:srgbClr val="00A9D8"/>
                </a:solidFill>
                <a:latin typeface="Montserrat"/>
                <a:ea typeface="Montserrat"/>
                <a:cs typeface="Montserrat"/>
                <a:sym typeface="Montserrat"/>
              </a:rPr>
              <a:t>Key takeaway</a:t>
            </a:r>
            <a:endParaRPr sz="1300"/>
          </a:p>
        </p:txBody>
      </p:sp>
      <p:sp>
        <p:nvSpPr>
          <p:cNvPr id="134" name="Google Shape;134;p5"/>
          <p:cNvSpPr txBox="1">
            <a:spLocks noGrp="1"/>
          </p:cNvSpPr>
          <p:nvPr>
            <p:ph type="body" idx="3"/>
          </p:nvPr>
        </p:nvSpPr>
        <p:spPr>
          <a:xfrm>
            <a:off x="6492240" y="1874520"/>
            <a:ext cx="2011680" cy="23774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240"/>
              </a:spcBef>
              <a:spcAft>
                <a:spcPts val="0"/>
              </a:spcAft>
              <a:buSzPts val="1200"/>
              <a:buNone/>
            </a:pPr>
            <a:r>
              <a:rPr lang="en-US" sz="1600" b="1"/>
              <a:t>63,000+</a:t>
            </a:r>
            <a:endParaRPr/>
          </a:p>
          <a:p>
            <a:pPr marL="0" lvl="0" indent="0" algn="l" rtl="0">
              <a:lnSpc>
                <a:spcPct val="100000"/>
              </a:lnSpc>
              <a:spcBef>
                <a:spcPts val="240"/>
              </a:spcBef>
              <a:spcAft>
                <a:spcPts val="0"/>
              </a:spcAft>
              <a:buSzPts val="1200"/>
              <a:buNone/>
            </a:pPr>
            <a:r>
              <a:rPr lang="en-US" sz="900">
                <a:solidFill>
                  <a:srgbClr val="3D4A4E"/>
                </a:solidFill>
                <a:latin typeface="Montserrat"/>
                <a:ea typeface="Montserrat"/>
                <a:cs typeface="Montserrat"/>
                <a:sym typeface="Montserrat"/>
              </a:rPr>
              <a:t>EVs in WA by June 2026, up 66% from 38,000 a year earlier</a:t>
            </a:r>
            <a:endParaRPr/>
          </a:p>
          <a:p>
            <a:pPr marL="0" lvl="0" indent="0" algn="l" rtl="0">
              <a:lnSpc>
                <a:spcPct val="100000"/>
              </a:lnSpc>
              <a:spcBef>
                <a:spcPts val="240"/>
              </a:spcBef>
              <a:spcAft>
                <a:spcPts val="0"/>
              </a:spcAft>
              <a:buSzPts val="1200"/>
              <a:buNone/>
            </a:pPr>
            <a:r>
              <a:rPr lang="en-US" sz="1600" b="1"/>
              <a:t>1 in 4 </a:t>
            </a:r>
            <a:endParaRPr/>
          </a:p>
          <a:p>
            <a:pPr marL="0" lvl="0" indent="0" algn="l" rtl="0">
              <a:lnSpc>
                <a:spcPct val="100000"/>
              </a:lnSpc>
              <a:spcBef>
                <a:spcPts val="240"/>
              </a:spcBef>
              <a:spcAft>
                <a:spcPts val="0"/>
              </a:spcAft>
              <a:buSzPts val="1200"/>
              <a:buNone/>
            </a:pPr>
            <a:r>
              <a:rPr lang="en-US" sz="900"/>
              <a:t>new light vehicles licensed in WA in Q2 2026 was an EV, up from about 1 in 9 a year earlier</a:t>
            </a:r>
            <a:endParaRPr sz="900">
              <a:solidFill>
                <a:srgbClr val="3D4A4E"/>
              </a:solidFill>
              <a:latin typeface="Montserrat"/>
              <a:ea typeface="Montserrat"/>
              <a:cs typeface="Montserrat"/>
              <a:sym typeface="Montserrat"/>
            </a:endParaRPr>
          </a:p>
          <a:p>
            <a:pPr marL="0" lvl="0" indent="0" algn="l" rtl="0">
              <a:lnSpc>
                <a:spcPct val="100000"/>
              </a:lnSpc>
              <a:spcBef>
                <a:spcPts val="240"/>
              </a:spcBef>
              <a:spcAft>
                <a:spcPts val="0"/>
              </a:spcAft>
              <a:buSzPts val="1200"/>
              <a:buNone/>
            </a:pPr>
            <a:r>
              <a:rPr lang="en-US" sz="1600" b="1"/>
              <a:t>2.4×</a:t>
            </a:r>
            <a:endParaRPr/>
          </a:p>
          <a:p>
            <a:pPr marL="0" lvl="0" indent="0" algn="l" rtl="0">
              <a:lnSpc>
                <a:spcPct val="100000"/>
              </a:lnSpc>
              <a:spcBef>
                <a:spcPts val="240"/>
              </a:spcBef>
              <a:spcAft>
                <a:spcPts val="0"/>
              </a:spcAft>
              <a:buSzPts val="1200"/>
              <a:buNone/>
            </a:pPr>
            <a:r>
              <a:rPr lang="en-US" sz="900">
                <a:solidFill>
                  <a:srgbClr val="3D4A4E"/>
                </a:solidFill>
                <a:latin typeface="Montserrat"/>
                <a:ea typeface="Montserrat"/>
                <a:cs typeface="Montserrat"/>
                <a:sym typeface="Montserrat"/>
              </a:rPr>
              <a:t>CSIRO's middle forecast: WA had 47,025 EVs at December 2025 against a projected 19,956</a:t>
            </a:r>
            <a:endParaRPr/>
          </a:p>
          <a:p>
            <a:pPr marL="0" lvl="0" indent="0" algn="l" rtl="0">
              <a:lnSpc>
                <a:spcPct val="100000"/>
              </a:lnSpc>
              <a:spcBef>
                <a:spcPts val="240"/>
              </a:spcBef>
              <a:spcAft>
                <a:spcPts val="0"/>
              </a:spcAft>
              <a:buSzPts val="1200"/>
              <a:buNone/>
            </a:pPr>
            <a:endParaRPr sz="1600" b="1">
              <a:solidFill>
                <a:srgbClr val="1F6F6A"/>
              </a:solidFill>
              <a:latin typeface="Source Serif 4"/>
              <a:ea typeface="Source Serif 4"/>
              <a:cs typeface="Source Serif 4"/>
              <a:sym typeface="Source Serif 4"/>
            </a:endParaRPr>
          </a:p>
          <a:p>
            <a:pPr marL="0" lvl="0" indent="0" algn="l" rtl="0">
              <a:lnSpc>
                <a:spcPct val="100000"/>
              </a:lnSpc>
              <a:spcBef>
                <a:spcPts val="240"/>
              </a:spcBef>
              <a:spcAft>
                <a:spcPts val="0"/>
              </a:spcAft>
              <a:buSzPts val="1200"/>
              <a:buNone/>
            </a:pPr>
            <a:endParaRPr sz="1600" b="1">
              <a:solidFill>
                <a:srgbClr val="1F6F6A"/>
              </a:solidFill>
              <a:latin typeface="Source Serif 4"/>
              <a:ea typeface="Source Serif 4"/>
              <a:cs typeface="Source Serif 4"/>
              <a:sym typeface="Source Serif 4"/>
            </a:endParaRPr>
          </a:p>
          <a:p>
            <a:pPr marL="0" lvl="0" indent="0" algn="l" rtl="0">
              <a:lnSpc>
                <a:spcPct val="100000"/>
              </a:lnSpc>
              <a:spcBef>
                <a:spcPts val="240"/>
              </a:spcBef>
              <a:spcAft>
                <a:spcPts val="0"/>
              </a:spcAft>
              <a:buSzPts val="1200"/>
              <a:buNone/>
            </a:pPr>
            <a:endParaRPr sz="1600"/>
          </a:p>
          <a:p>
            <a:pPr marL="0" lvl="0" indent="0" algn="l" rtl="0">
              <a:lnSpc>
                <a:spcPct val="100000"/>
              </a:lnSpc>
              <a:spcBef>
                <a:spcPts val="240"/>
              </a:spcBef>
              <a:spcAft>
                <a:spcPts val="0"/>
              </a:spcAft>
              <a:buSzPts val="1200"/>
              <a:buNone/>
            </a:pPr>
            <a:endParaRPr sz="1600" b="1"/>
          </a:p>
        </p:txBody>
      </p:sp>
      <p:sp>
        <p:nvSpPr>
          <p:cNvPr id="135" name="Google Shape;135;p5"/>
          <p:cNvSpPr txBox="1">
            <a:spLocks noGrp="1"/>
          </p:cNvSpPr>
          <p:nvPr>
            <p:ph type="sldNum" idx="12"/>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6B7C8A"/>
                </a:solidFill>
                <a:latin typeface="Montserrat"/>
                <a:ea typeface="Montserrat"/>
                <a:cs typeface="Montserrat"/>
                <a:sym typeface="Montserrat"/>
              </a:rPr>
              <a:t>7</a:t>
            </a:fld>
            <a:endParaRPr sz="900" b="0" i="0" u="none" strike="noStrike" cap="none">
              <a:solidFill>
                <a:srgbClr val="6B7C8A"/>
              </a:solidFill>
              <a:latin typeface="Montserrat"/>
              <a:ea typeface="Montserrat"/>
              <a:cs typeface="Montserrat"/>
              <a:sym typeface="Montserrat"/>
            </a:endParaRPr>
          </a:p>
        </p:txBody>
      </p:sp>
      <p:sp>
        <p:nvSpPr>
          <p:cNvPr id="136" name="Google Shape;136;p5"/>
          <p:cNvSpPr txBox="1"/>
          <p:nvPr/>
        </p:nvSpPr>
        <p:spPr>
          <a:xfrm>
            <a:off x="3036346" y="4673885"/>
            <a:ext cx="5524500" cy="20770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rgbClr val="5F6B7A"/>
                </a:solidFill>
                <a:highlight>
                  <a:srgbClr val="FFFF00"/>
                </a:highlight>
                <a:latin typeface="Arial"/>
                <a:ea typeface="Arial"/>
                <a:cs typeface="Arial"/>
                <a:sym typeface="Arial"/>
              </a:rPr>
              <a:t>Data: CSIRO EV projections by postcode; Transport WA licensing data. Platform: Siren Web.</a:t>
            </a:r>
            <a:endParaRPr sz="700" b="0" i="0" u="none" strike="noStrike" cap="none">
              <a:solidFill>
                <a:srgbClr val="000000"/>
              </a:solidFill>
              <a:highlight>
                <a:srgbClr val="FFFF00"/>
              </a:highlight>
              <a:latin typeface="Arial"/>
              <a:ea typeface="Arial"/>
              <a:cs typeface="Arial"/>
              <a:sym typeface="Arial"/>
            </a:endParaRPr>
          </a:p>
        </p:txBody>
      </p:sp>
      <p:pic>
        <p:nvPicPr>
          <p:cNvPr id="137" name="Google Shape;137;p5"/>
          <p:cNvPicPr preferRelativeResize="0"/>
          <p:nvPr/>
        </p:nvPicPr>
        <p:blipFill rotWithShape="1">
          <a:blip r:embed="rId3">
            <a:alphaModFix/>
          </a:blip>
          <a:srcRect/>
          <a:stretch/>
        </p:blipFill>
        <p:spPr>
          <a:xfrm>
            <a:off x="640080" y="1355463"/>
            <a:ext cx="4792532" cy="2591260"/>
          </a:xfrm>
          <a:prstGeom prst="rect">
            <a:avLst/>
          </a:prstGeom>
          <a:noFill/>
          <a:ln>
            <a:noFill/>
          </a:ln>
        </p:spPr>
      </p:pic>
      <p:grpSp>
        <p:nvGrpSpPr>
          <p:cNvPr id="138" name="Google Shape;138;p5"/>
          <p:cNvGrpSpPr/>
          <p:nvPr/>
        </p:nvGrpSpPr>
        <p:grpSpPr>
          <a:xfrm>
            <a:off x="5546911" y="51768"/>
            <a:ext cx="3514831" cy="135685"/>
            <a:chOff x="411480" y="1480056"/>
            <a:chExt cx="8320811" cy="851664"/>
          </a:xfrm>
        </p:grpSpPr>
        <p:sp>
          <p:nvSpPr>
            <p:cNvPr id="139" name="Google Shape;139;p5"/>
            <p:cNvSpPr/>
            <p:nvPr/>
          </p:nvSpPr>
          <p:spPr>
            <a:xfrm>
              <a:off x="411480" y="1508760"/>
              <a:ext cx="1850700" cy="822960"/>
            </a:xfrm>
            <a:prstGeom prst="homePlate">
              <a:avLst>
                <a:gd name="adj" fmla="val 35000"/>
              </a:avLst>
            </a:prstGeom>
            <a:solidFill>
              <a:srgbClr val="4EB3D8"/>
            </a:solidFill>
            <a:ln>
              <a:noFill/>
            </a:ln>
          </p:spPr>
          <p:txBody>
            <a:bodyPr spcFirstLastPara="1" wrap="square" lIns="19050" tIns="28575" rIns="28575" bIns="19050" anchor="ctr" anchorCtr="0">
              <a:noAutofit/>
            </a:bodyPr>
            <a:lstStyle/>
            <a:p>
              <a:pPr marL="0" marR="0" lvl="0" indent="0" algn="ctr" rtl="0">
                <a:lnSpc>
                  <a:spcPct val="100000"/>
                </a:lnSpc>
                <a:spcBef>
                  <a:spcPts val="0"/>
                </a:spcBef>
                <a:spcAft>
                  <a:spcPts val="0"/>
                </a:spcAft>
                <a:buNone/>
              </a:pPr>
              <a:r>
                <a:rPr lang="en-US" sz="1000" b="0" i="0" u="none" strike="noStrike" cap="none">
                  <a:solidFill>
                    <a:srgbClr val="13294B"/>
                  </a:solidFill>
                  <a:latin typeface="Arial"/>
                  <a:ea typeface="Arial"/>
                  <a:cs typeface="Arial"/>
                  <a:sym typeface="Arial"/>
                </a:rPr>
                <a:t>EV Fleet</a:t>
              </a:r>
              <a:endParaRPr sz="1000" b="0" i="0" u="none" strike="noStrike" cap="none">
                <a:solidFill>
                  <a:srgbClr val="000000"/>
                </a:solidFill>
                <a:latin typeface="Arial"/>
                <a:ea typeface="Arial"/>
                <a:cs typeface="Arial"/>
                <a:sym typeface="Arial"/>
              </a:endParaRPr>
            </a:p>
          </p:txBody>
        </p:sp>
        <p:sp>
          <p:nvSpPr>
            <p:cNvPr id="140" name="Google Shape;140;p5"/>
            <p:cNvSpPr/>
            <p:nvPr/>
          </p:nvSpPr>
          <p:spPr>
            <a:xfrm>
              <a:off x="5264065" y="1480056"/>
              <a:ext cx="1850699" cy="822960"/>
            </a:xfrm>
            <a:prstGeom prst="chevron">
              <a:avLst>
                <a:gd name="adj" fmla="val 35000"/>
              </a:avLst>
            </a:prstGeom>
            <a:solidFill>
              <a:srgbClr val="E9F7FD"/>
            </a:solidFill>
            <a:ln>
              <a:noFill/>
            </a:ln>
          </p:spPr>
          <p:txBody>
            <a:bodyPr spcFirstLastPara="1" wrap="square" lIns="19050" tIns="28575" rIns="28575" bIns="19050" anchor="ctr" anchorCtr="0">
              <a:noAutofit/>
            </a:bodyPr>
            <a:lstStyle/>
            <a:p>
              <a:pPr marL="0" marR="0" lvl="0" indent="0" algn="ctr" rtl="0">
                <a:lnSpc>
                  <a:spcPct val="100000"/>
                </a:lnSpc>
                <a:spcBef>
                  <a:spcPts val="0"/>
                </a:spcBef>
                <a:spcAft>
                  <a:spcPts val="0"/>
                </a:spcAft>
                <a:buNone/>
              </a:pPr>
              <a:r>
                <a:rPr lang="en-US" sz="1000" b="0" i="0" u="none" strike="noStrike" cap="none">
                  <a:solidFill>
                    <a:srgbClr val="9CC2E5"/>
                  </a:solidFill>
                  <a:latin typeface="Arial"/>
                  <a:ea typeface="Arial"/>
                  <a:cs typeface="Arial"/>
                  <a:sym typeface="Arial"/>
                </a:rPr>
                <a:t>Energy</a:t>
              </a:r>
              <a:endParaRPr sz="1000" b="0" i="0" u="none" strike="noStrike" cap="none">
                <a:solidFill>
                  <a:srgbClr val="9CC2E5"/>
                </a:solidFill>
                <a:latin typeface="Arial"/>
                <a:ea typeface="Arial"/>
                <a:cs typeface="Arial"/>
                <a:sym typeface="Arial"/>
              </a:endParaRPr>
            </a:p>
          </p:txBody>
        </p:sp>
        <p:sp>
          <p:nvSpPr>
            <p:cNvPr id="141" name="Google Shape;141;p5"/>
            <p:cNvSpPr/>
            <p:nvPr/>
          </p:nvSpPr>
          <p:spPr>
            <a:xfrm>
              <a:off x="3646536" y="1508760"/>
              <a:ext cx="1850700" cy="822960"/>
            </a:xfrm>
            <a:prstGeom prst="chevron">
              <a:avLst>
                <a:gd name="adj" fmla="val 35000"/>
              </a:avLst>
            </a:prstGeom>
            <a:solidFill>
              <a:srgbClr val="E9F7FD"/>
            </a:solidFill>
            <a:ln>
              <a:noFill/>
            </a:ln>
          </p:spPr>
          <p:txBody>
            <a:bodyPr spcFirstLastPara="1" wrap="square" lIns="19050" tIns="28575" rIns="28575" bIns="19050" anchor="ctr" anchorCtr="0">
              <a:noAutofit/>
            </a:bodyPr>
            <a:lstStyle/>
            <a:p>
              <a:pPr marL="0" marR="0" lvl="0" indent="0" algn="ctr" rtl="0">
                <a:lnSpc>
                  <a:spcPct val="100000"/>
                </a:lnSpc>
                <a:spcBef>
                  <a:spcPts val="0"/>
                </a:spcBef>
                <a:spcAft>
                  <a:spcPts val="0"/>
                </a:spcAft>
                <a:buNone/>
              </a:pPr>
              <a:r>
                <a:rPr lang="en-US" sz="1000" b="0" i="0" u="none" strike="noStrike" cap="none">
                  <a:solidFill>
                    <a:srgbClr val="9CC2E5"/>
                  </a:solidFill>
                  <a:latin typeface="Arial"/>
                  <a:ea typeface="Arial"/>
                  <a:cs typeface="Arial"/>
                  <a:sym typeface="Arial"/>
                </a:rPr>
                <a:t>Shape</a:t>
              </a:r>
              <a:endParaRPr sz="1000" b="0" i="0" u="none" strike="noStrike" cap="none">
                <a:solidFill>
                  <a:srgbClr val="9CC2E5"/>
                </a:solidFill>
                <a:latin typeface="Arial"/>
                <a:ea typeface="Arial"/>
                <a:cs typeface="Arial"/>
                <a:sym typeface="Arial"/>
              </a:endParaRPr>
            </a:p>
          </p:txBody>
        </p:sp>
        <p:sp>
          <p:nvSpPr>
            <p:cNvPr id="142" name="Google Shape;142;p5"/>
            <p:cNvSpPr/>
            <p:nvPr/>
          </p:nvSpPr>
          <p:spPr>
            <a:xfrm>
              <a:off x="2151731" y="1508760"/>
              <a:ext cx="1850699" cy="822960"/>
            </a:xfrm>
            <a:prstGeom prst="chevron">
              <a:avLst>
                <a:gd name="adj" fmla="val 35000"/>
              </a:avLst>
            </a:prstGeom>
            <a:solidFill>
              <a:srgbClr val="4EB3D8"/>
            </a:solidFill>
            <a:ln>
              <a:noFill/>
            </a:ln>
          </p:spPr>
          <p:txBody>
            <a:bodyPr spcFirstLastPara="1" wrap="square" lIns="19050" tIns="28575" rIns="28575" bIns="19050" anchor="ctr" anchorCtr="0">
              <a:noAutofit/>
            </a:bodyPr>
            <a:lstStyle/>
            <a:p>
              <a:pPr marL="0" marR="0" lvl="0" indent="0" algn="ctr" rtl="0">
                <a:lnSpc>
                  <a:spcPct val="100000"/>
                </a:lnSpc>
                <a:spcBef>
                  <a:spcPts val="0"/>
                </a:spcBef>
                <a:spcAft>
                  <a:spcPts val="0"/>
                </a:spcAft>
                <a:buNone/>
              </a:pPr>
              <a:r>
                <a:rPr lang="en-US" sz="1000" b="0" i="0" u="none" strike="noStrike" cap="none">
                  <a:solidFill>
                    <a:srgbClr val="13294B"/>
                  </a:solidFill>
                  <a:latin typeface="Arial"/>
                  <a:ea typeface="Arial"/>
                  <a:cs typeface="Arial"/>
                  <a:sym typeface="Arial"/>
                </a:rPr>
                <a:t>Place</a:t>
              </a:r>
              <a:endParaRPr/>
            </a:p>
          </p:txBody>
        </p:sp>
        <p:sp>
          <p:nvSpPr>
            <p:cNvPr id="143" name="Google Shape;143;p5"/>
            <p:cNvSpPr/>
            <p:nvPr/>
          </p:nvSpPr>
          <p:spPr>
            <a:xfrm>
              <a:off x="6881591" y="1508760"/>
              <a:ext cx="1850700" cy="822960"/>
            </a:xfrm>
            <a:prstGeom prst="chevron">
              <a:avLst>
                <a:gd name="adj" fmla="val 35000"/>
              </a:avLst>
            </a:prstGeom>
            <a:solidFill>
              <a:srgbClr val="E9F7FD"/>
            </a:solidFill>
            <a:ln>
              <a:noFill/>
            </a:ln>
          </p:spPr>
          <p:txBody>
            <a:bodyPr spcFirstLastPara="1" wrap="square" lIns="19050" tIns="28575" rIns="28575" bIns="19050" anchor="ctr" anchorCtr="0">
              <a:noAutofit/>
            </a:bodyPr>
            <a:lstStyle/>
            <a:p>
              <a:pPr marL="0" marR="0" lvl="0" indent="0" algn="ctr" rtl="0">
                <a:lnSpc>
                  <a:spcPct val="100000"/>
                </a:lnSpc>
                <a:spcBef>
                  <a:spcPts val="0"/>
                </a:spcBef>
                <a:spcAft>
                  <a:spcPts val="0"/>
                </a:spcAft>
                <a:buNone/>
              </a:pPr>
              <a:r>
                <a:rPr lang="en-US" sz="1000" b="0" i="0" u="none" strike="noStrike" cap="none">
                  <a:solidFill>
                    <a:srgbClr val="9CC2E5"/>
                  </a:solidFill>
                  <a:latin typeface="Arial"/>
                  <a:ea typeface="Arial"/>
                  <a:cs typeface="Arial"/>
                  <a:sym typeface="Arial"/>
                </a:rPr>
                <a:t>Net load</a:t>
              </a:r>
              <a:endParaRPr sz="1000" b="0" i="0" u="none" strike="noStrike" cap="none">
                <a:solidFill>
                  <a:srgbClr val="9CC2E5"/>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9"/>
          <p:cNvSpPr txBox="1">
            <a:spLocks noGrp="1"/>
          </p:cNvSpPr>
          <p:nvPr>
            <p:ph type="title"/>
          </p:nvPr>
        </p:nvSpPr>
        <p:spPr>
          <a:xfrm>
            <a:off x="457200" y="365760"/>
            <a:ext cx="8229600" cy="73152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B3F63"/>
              </a:buClr>
              <a:buSzPts val="2600"/>
              <a:buFont typeface="Montserrat"/>
              <a:buNone/>
            </a:pPr>
            <a:r>
              <a:rPr lang="en-US"/>
              <a:t>Q1  |  Putting EV load in SWIS context</a:t>
            </a:r>
            <a:endParaRPr sz="2600"/>
          </a:p>
        </p:txBody>
      </p:sp>
      <p:sp>
        <p:nvSpPr>
          <p:cNvPr id="152" name="Google Shape;152;p29"/>
          <p:cNvSpPr txBox="1">
            <a:spLocks noGrp="1"/>
          </p:cNvSpPr>
          <p:nvPr>
            <p:ph type="body" idx="1"/>
          </p:nvPr>
        </p:nvSpPr>
        <p:spPr>
          <a:xfrm>
            <a:off x="685800" y="1417320"/>
            <a:ext cx="2194560"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0A9D8"/>
              </a:buClr>
              <a:buSzPts val="3000"/>
              <a:buNone/>
            </a:pPr>
            <a:r>
              <a:rPr lang="en-US"/>
              <a:t>26.0 TWh</a:t>
            </a:r>
            <a:endParaRPr sz="3000"/>
          </a:p>
        </p:txBody>
      </p:sp>
      <p:sp>
        <p:nvSpPr>
          <p:cNvPr id="153" name="Google Shape;153;p29"/>
          <p:cNvSpPr txBox="1">
            <a:spLocks noGrp="1"/>
          </p:cNvSpPr>
          <p:nvPr>
            <p:ph type="body" idx="2"/>
          </p:nvPr>
        </p:nvSpPr>
        <p:spPr>
          <a:xfrm>
            <a:off x="685800" y="2377440"/>
            <a:ext cx="2194560" cy="685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173647"/>
              </a:buClr>
              <a:buSzPts val="1200"/>
              <a:buNone/>
            </a:pPr>
            <a:r>
              <a:rPr lang="en-US"/>
              <a:t>SWIS annual consumption, 2035  (AEMO 2026 WEM ESOO, Expected)</a:t>
            </a:r>
            <a:endParaRPr sz="1200"/>
          </a:p>
        </p:txBody>
      </p:sp>
      <p:sp>
        <p:nvSpPr>
          <p:cNvPr id="154" name="Google Shape;154;p29"/>
          <p:cNvSpPr txBox="1">
            <a:spLocks noGrp="1"/>
          </p:cNvSpPr>
          <p:nvPr>
            <p:ph type="body" idx="3"/>
          </p:nvPr>
        </p:nvSpPr>
        <p:spPr>
          <a:xfrm>
            <a:off x="3474720" y="1417320"/>
            <a:ext cx="2194560"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5DB474"/>
              </a:buClr>
              <a:buSzPts val="3000"/>
              <a:buNone/>
            </a:pPr>
            <a:r>
              <a:rPr lang="en-US"/>
              <a:t>5–12 %</a:t>
            </a:r>
            <a:endParaRPr sz="3000"/>
          </a:p>
        </p:txBody>
      </p:sp>
      <p:sp>
        <p:nvSpPr>
          <p:cNvPr id="155" name="Google Shape;155;p29"/>
          <p:cNvSpPr txBox="1">
            <a:spLocks noGrp="1"/>
          </p:cNvSpPr>
          <p:nvPr>
            <p:ph type="body" idx="4"/>
          </p:nvPr>
        </p:nvSpPr>
        <p:spPr>
          <a:xfrm>
            <a:off x="3474720" y="2377440"/>
            <a:ext cx="2194560" cy="685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173647"/>
              </a:buClr>
              <a:buSzPts val="1200"/>
              <a:buNone/>
            </a:pPr>
            <a:r>
              <a:rPr lang="en-US"/>
              <a:t>EV share of SWIS consumption, 2035  (1.3 to 3.2 TWh of EV charging)</a:t>
            </a:r>
            <a:endParaRPr sz="1200"/>
          </a:p>
        </p:txBody>
      </p:sp>
      <p:sp>
        <p:nvSpPr>
          <p:cNvPr id="156" name="Google Shape;156;p29"/>
          <p:cNvSpPr txBox="1">
            <a:spLocks noGrp="1"/>
          </p:cNvSpPr>
          <p:nvPr>
            <p:ph type="body" idx="5"/>
          </p:nvPr>
        </p:nvSpPr>
        <p:spPr>
          <a:xfrm>
            <a:off x="6263640" y="1417320"/>
            <a:ext cx="2194560"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B3F63"/>
              </a:buClr>
              <a:buSzPts val="3000"/>
              <a:buNone/>
            </a:pPr>
            <a:r>
              <a:rPr lang="en-US" sz="2400"/>
              <a:t>0.2–0.4 GW</a:t>
            </a:r>
            <a:endParaRPr sz="3000"/>
          </a:p>
        </p:txBody>
      </p:sp>
      <p:sp>
        <p:nvSpPr>
          <p:cNvPr id="157" name="Google Shape;157;p29"/>
          <p:cNvSpPr txBox="1">
            <a:spLocks noGrp="1"/>
          </p:cNvSpPr>
          <p:nvPr>
            <p:ph type="body" idx="6"/>
          </p:nvPr>
        </p:nvSpPr>
        <p:spPr>
          <a:xfrm>
            <a:off x="6263640" y="2377440"/>
            <a:ext cx="2194560" cy="6858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173647"/>
              </a:buClr>
              <a:buSzPts val="1200"/>
              <a:buNone/>
            </a:pPr>
            <a:r>
              <a:rPr lang="en-US"/>
              <a:t>EV load at the evening peak if unmanaged, 2035  (range across scenarios)</a:t>
            </a:r>
            <a:endParaRPr sz="1200"/>
          </a:p>
        </p:txBody>
      </p:sp>
      <p:sp>
        <p:nvSpPr>
          <p:cNvPr id="158" name="Google Shape;158;p29"/>
          <p:cNvSpPr txBox="1">
            <a:spLocks noGrp="1"/>
          </p:cNvSpPr>
          <p:nvPr>
            <p:ph type="body" idx="7"/>
          </p:nvPr>
        </p:nvSpPr>
        <p:spPr>
          <a:xfrm>
            <a:off x="457200" y="3383280"/>
            <a:ext cx="8229600" cy="118872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0B3F63"/>
              </a:buClr>
              <a:buSzPts val="1500"/>
              <a:buNone/>
            </a:pPr>
            <a:r>
              <a:rPr lang="en-US" b="1"/>
              <a:t>Verdict: No. EVs are 5–12% of SWIS consumption in 2035 and draw 0.2–0.4 GW of the ~6.0 GW peak if unmanaged (managed: ~60% less). ESOO already includes ~2 TWh of EV load, so the net effect on the peak is only −2% to +3%. The risk is timing, not volume.</a:t>
            </a:r>
            <a:endParaRPr sz="1500"/>
          </a:p>
        </p:txBody>
      </p:sp>
      <p:sp>
        <p:nvSpPr>
          <p:cNvPr id="159" name="Google Shape;159;p29"/>
          <p:cNvSpPr txBox="1">
            <a:spLocks noGrp="1"/>
          </p:cNvSpPr>
          <p:nvPr>
            <p:ph type="sldNum" idx="4294967295"/>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6B7C8A"/>
                </a:solidFill>
                <a:latin typeface="Montserrat"/>
                <a:ea typeface="Montserrat"/>
                <a:cs typeface="Montserrat"/>
                <a:sym typeface="Montserrat"/>
              </a:rPr>
              <a:t>8</a:t>
            </a:fld>
            <a:endParaRPr sz="900" b="0" i="0" u="none" strike="noStrike" cap="none">
              <a:solidFill>
                <a:srgbClr val="6B7C8A"/>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8"/>
          <p:cNvSpPr txBox="1">
            <a:spLocks noGrp="1"/>
          </p:cNvSpPr>
          <p:nvPr>
            <p:ph type="title"/>
          </p:nvPr>
        </p:nvSpPr>
        <p:spPr>
          <a:xfrm>
            <a:off x="457200" y="365760"/>
            <a:ext cx="8229600" cy="73152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B3F63"/>
              </a:buClr>
              <a:buSzPts val="2600"/>
              <a:buFont typeface="Montserrat"/>
              <a:buNone/>
            </a:pPr>
            <a:r>
              <a:rPr lang="en-US" sz="2000"/>
              <a:t>Q1  |  ESOO Expected plus EV load, 2035</a:t>
            </a:r>
            <a:endParaRPr sz="2000"/>
          </a:p>
        </p:txBody>
      </p:sp>
      <p:sp>
        <p:nvSpPr>
          <p:cNvPr id="144" name="Google Shape;144;p28"/>
          <p:cNvSpPr txBox="1">
            <a:spLocks noGrp="1"/>
          </p:cNvSpPr>
          <p:nvPr>
            <p:ph type="sldNum" idx="4294967295"/>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6B7C8A"/>
                </a:solidFill>
                <a:latin typeface="Montserrat"/>
                <a:ea typeface="Montserrat"/>
                <a:cs typeface="Montserrat"/>
                <a:sym typeface="Montserrat"/>
              </a:rPr>
              <a:t>9</a:t>
            </a:fld>
            <a:endParaRPr sz="900" b="0" i="0" u="none" strike="noStrike" cap="none">
              <a:solidFill>
                <a:srgbClr val="6B7C8A"/>
              </a:solidFill>
              <a:latin typeface="Montserrat"/>
              <a:ea typeface="Montserrat"/>
              <a:cs typeface="Montserrat"/>
              <a:sym typeface="Montserrat"/>
            </a:endParaRPr>
          </a:p>
        </p:txBody>
      </p:sp>
      <p:sp>
        <p:nvSpPr>
          <p:cNvPr id="145" name="Source 145"/>
          <p:cNvSpPr txBox="1"/>
          <p:nvPr/>
        </p:nvSpPr>
        <p:spPr>
          <a:xfrm>
            <a:off x="2876550" y="4608850"/>
            <a:ext cx="5524500" cy="400000"/>
          </a:xfrm>
          <a:prstGeom prst="rect">
            <a:avLst/>
          </a:prstGeom>
          <a:noFill/>
          <a:ln>
            <a:noFill/>
          </a:ln>
        </p:spPr>
        <p:txBody>
          <a:bodyPr spcFirstLastPara="1" wrap="square" lIns="91425" tIns="45700" rIns="91425" bIns="45700" anchor="t" anchorCtr="0">
            <a:noAutofit/>
          </a:bodyPr>
          <a:lstStyle/>
          <a:p>
            <a:pPr marL="0" lvl="0" indent="0" algn="l" rtl="0">
              <a:buNone/>
            </a:pPr>
            <a:r>
              <a:rPr lang="en-US" sz="700" b="0" i="0">
                <a:solidFill>
                  <a:srgbClr val="000000"/>
                </a:solidFill>
                <a:latin typeface="Montserrat"/>
                <a:ea typeface="Montserrat"/>
                <a:cs typeface="Montserrat"/>
                <a:sym typeface="Montserrat"/>
              </a:rPr>
              <a:t>Source: SEN analysis. AEMO 2026 WEM ESOO (Expected, POE10; operational basis derived from underlying); AEMO 2025 IASR EV workbook, WEM region (CSIRO 2025 trajectories: annual energy and charging shapes).</a:t>
            </a:r>
          </a:p>
        </p:txBody>
      </p:sp>
      <p:graphicFrame>
        <p:nvGraphicFramePr>
          <p:cNvPr id="201" name="EV scenario summary table"/>
          <p:cNvGraphicFramePr>
            <a:graphicFrameLocks noGrp="1"/>
          </p:cNvGraphicFramePr>
          <p:nvPr/>
        </p:nvGraphicFramePr>
        <p:xfrm>
          <a:off x="457200" y="1143000"/>
          <a:ext cx="8229600" cy="2334672"/>
        </p:xfrm>
        <a:graphic>
          <a:graphicData uri="http://schemas.openxmlformats.org/drawingml/2006/table">
            <a:tbl>
              <a:tblPr firstRow="1"/>
              <a:tblGrid>
                <a:gridCol w="1750000">
                  <a:extLst>
                    <a:ext uri="{9D8B030D-6E8A-4147-A177-3AD203B41FA5}">
                      <a16:colId xmlns:a16="http://schemas.microsoft.com/office/drawing/2014/main" val="20000"/>
                    </a:ext>
                  </a:extLst>
                </a:gridCol>
                <a:gridCol w="900000">
                  <a:extLst>
                    <a:ext uri="{9D8B030D-6E8A-4147-A177-3AD203B41FA5}">
                      <a16:colId xmlns:a16="http://schemas.microsoft.com/office/drawing/2014/main" val="20001"/>
                    </a:ext>
                  </a:extLst>
                </a:gridCol>
                <a:gridCol w="800000">
                  <a:extLst>
                    <a:ext uri="{9D8B030D-6E8A-4147-A177-3AD203B41FA5}">
                      <a16:colId xmlns:a16="http://schemas.microsoft.com/office/drawing/2014/main" val="20002"/>
                    </a:ext>
                  </a:extLst>
                </a:gridCol>
                <a:gridCol w="850000">
                  <a:extLst>
                    <a:ext uri="{9D8B030D-6E8A-4147-A177-3AD203B41FA5}">
                      <a16:colId xmlns:a16="http://schemas.microsoft.com/office/drawing/2014/main" val="20003"/>
                    </a:ext>
                  </a:extLst>
                </a:gridCol>
                <a:gridCol w="1050000">
                  <a:extLst>
                    <a:ext uri="{9D8B030D-6E8A-4147-A177-3AD203B41FA5}">
                      <a16:colId xmlns:a16="http://schemas.microsoft.com/office/drawing/2014/main" val="20004"/>
                    </a:ext>
                  </a:extLst>
                </a:gridCol>
                <a:gridCol w="950000">
                  <a:extLst>
                    <a:ext uri="{9D8B030D-6E8A-4147-A177-3AD203B41FA5}">
                      <a16:colId xmlns:a16="http://schemas.microsoft.com/office/drawing/2014/main" val="20005"/>
                    </a:ext>
                  </a:extLst>
                </a:gridCol>
                <a:gridCol w="900000">
                  <a:extLst>
                    <a:ext uri="{9D8B030D-6E8A-4147-A177-3AD203B41FA5}">
                      <a16:colId xmlns:a16="http://schemas.microsoft.com/office/drawing/2014/main" val="20006"/>
                    </a:ext>
                  </a:extLst>
                </a:gridCol>
                <a:gridCol w="1029600">
                  <a:extLst>
                    <a:ext uri="{9D8B030D-6E8A-4147-A177-3AD203B41FA5}">
                      <a16:colId xmlns:a16="http://schemas.microsoft.com/office/drawing/2014/main" val="20007"/>
                    </a:ext>
                  </a:extLst>
                </a:gridCol>
              </a:tblGrid>
              <a:tr h="470000">
                <a:tc>
                  <a:txBody>
                    <a:bodyPr/>
                    <a:lstStyle/>
                    <a:p>
                      <a:pPr algn="l"/>
                      <a:r>
                        <a:rPr lang="en-US" sz="800" b="1">
                          <a:solidFill>
                            <a:srgbClr val="FFFFFF"/>
                          </a:solidFill>
                          <a:latin typeface="Montserrat"/>
                          <a:ea typeface="Montserrat"/>
                          <a:cs typeface="Montserrat"/>
                          <a:sym typeface="Montserrat"/>
                        </a:rPr>
                        <a:t>Scenario</a:t>
                      </a:r>
                    </a:p>
                  </a:txBody>
                  <a:tcPr marL="45720" marR="45720" marT="27432" marB="27432" anchor="ctr">
                    <a:lnL w="0">
                      <a:noFill/>
                    </a:lnL>
                    <a:lnR w="0">
                      <a:noFill/>
                    </a:lnR>
                    <a:lnT w="0">
                      <a:noFill/>
                    </a:lnT>
                    <a:lnB w="6350">
                      <a:solidFill>
                        <a:srgbClr val="D9E2E8"/>
                      </a:solidFill>
                    </a:lnB>
                    <a:solidFill>
                      <a:srgbClr val="0B3F63"/>
                    </a:solidFill>
                  </a:tcPr>
                </a:tc>
                <a:tc>
                  <a:txBody>
                    <a:bodyPr/>
                    <a:lstStyle/>
                    <a:p>
                      <a:pPr algn="l"/>
                      <a:r>
                        <a:rPr lang="en-US" sz="800" b="1">
                          <a:solidFill>
                            <a:srgbClr val="FFFFFF"/>
                          </a:solidFill>
                          <a:latin typeface="Montserrat"/>
                          <a:ea typeface="Montserrat"/>
                          <a:cs typeface="Montserrat"/>
                          <a:sym typeface="Montserrat"/>
                        </a:rPr>
                        <a:t>Charging</a:t>
                      </a:r>
                    </a:p>
                  </a:txBody>
                  <a:tcPr marL="45720" marR="45720" marT="27432" marB="27432" anchor="ctr">
                    <a:lnL w="0">
                      <a:noFill/>
                    </a:lnL>
                    <a:lnR w="0">
                      <a:noFill/>
                    </a:lnR>
                    <a:lnT w="0">
                      <a:noFill/>
                    </a:lnT>
                    <a:lnB w="6350">
                      <a:solidFill>
                        <a:srgbClr val="D9E2E8"/>
                      </a:solidFill>
                    </a:lnB>
                    <a:solidFill>
                      <a:srgbClr val="0B3F63"/>
                    </a:solidFill>
                  </a:tcPr>
                </a:tc>
                <a:tc>
                  <a:txBody>
                    <a:bodyPr/>
                    <a:lstStyle/>
                    <a:p>
                      <a:pPr algn="ctr"/>
                      <a:r>
                        <a:rPr lang="en-US" sz="800" b="1">
                          <a:solidFill>
                            <a:srgbClr val="FFFFFF"/>
                          </a:solidFill>
                          <a:latin typeface="Montserrat"/>
                          <a:ea typeface="Montserrat"/>
                          <a:cs typeface="Montserrat"/>
                          <a:sym typeface="Montserrat"/>
                        </a:rPr>
                        <a:t>EV energy (GWh)</a:t>
                      </a:r>
                    </a:p>
                  </a:txBody>
                  <a:tcPr marL="45720" marR="45720" marT="27432" marB="27432" anchor="ctr">
                    <a:lnL w="0">
                      <a:noFill/>
                    </a:lnL>
                    <a:lnR w="0">
                      <a:noFill/>
                    </a:lnR>
                    <a:lnT w="0">
                      <a:noFill/>
                    </a:lnT>
                    <a:lnB w="6350">
                      <a:solidFill>
                        <a:srgbClr val="D9E2E8"/>
                      </a:solidFill>
                    </a:lnB>
                    <a:solidFill>
                      <a:srgbClr val="0B3F63"/>
                    </a:solidFill>
                  </a:tcPr>
                </a:tc>
                <a:tc>
                  <a:txBody>
                    <a:bodyPr/>
                    <a:lstStyle/>
                    <a:p>
                      <a:pPr algn="ctr"/>
                      <a:r>
                        <a:rPr lang="en-US" sz="800" b="1">
                          <a:solidFill>
                            <a:srgbClr val="FFFFFF"/>
                          </a:solidFill>
                          <a:latin typeface="Montserrat"/>
                          <a:ea typeface="Montserrat"/>
                          <a:cs typeface="Montserrat"/>
                          <a:sym typeface="Montserrat"/>
                        </a:rPr>
                        <a:t>Share of SWIS use</a:t>
                      </a:r>
                    </a:p>
                  </a:txBody>
                  <a:tcPr marL="45720" marR="45720" marT="27432" marB="27432" anchor="ctr">
                    <a:lnL w="0">
                      <a:noFill/>
                    </a:lnL>
                    <a:lnR w="0">
                      <a:noFill/>
                    </a:lnR>
                    <a:lnT w="0">
                      <a:noFill/>
                    </a:lnT>
                    <a:lnB w="6350">
                      <a:solidFill>
                        <a:srgbClr val="D9E2E8"/>
                      </a:solidFill>
                    </a:lnB>
                    <a:solidFill>
                      <a:srgbClr val="0B3F63"/>
                    </a:solidFill>
                  </a:tcPr>
                </a:tc>
                <a:tc>
                  <a:txBody>
                    <a:bodyPr/>
                    <a:lstStyle/>
                    <a:p>
                      <a:pPr algn="ctr"/>
                      <a:r>
                        <a:rPr lang="en-US" sz="800" b="1">
                          <a:solidFill>
                            <a:srgbClr val="FFFFFF"/>
                          </a:solidFill>
                          <a:latin typeface="Montserrat"/>
                          <a:ea typeface="Montserrat"/>
                          <a:cs typeface="Montserrat"/>
                          <a:sym typeface="Montserrat"/>
                        </a:rPr>
                        <a:t>EV load at system peak (MW)</a:t>
                      </a:r>
                    </a:p>
                  </a:txBody>
                  <a:tcPr marL="45720" marR="45720" marT="27432" marB="27432" anchor="ctr">
                    <a:lnL w="0">
                      <a:noFill/>
                    </a:lnL>
                    <a:lnR w="0">
                      <a:noFill/>
                    </a:lnR>
                    <a:lnT w="0">
                      <a:noFill/>
                    </a:lnT>
                    <a:lnB w="6350">
                      <a:solidFill>
                        <a:srgbClr val="D9E2E8"/>
                      </a:solidFill>
                    </a:lnB>
                    <a:solidFill>
                      <a:srgbClr val="0B3F63"/>
                    </a:solidFill>
                  </a:tcPr>
                </a:tc>
                <a:tc>
                  <a:txBody>
                    <a:bodyPr/>
                    <a:lstStyle/>
                    <a:p>
                      <a:pPr algn="ctr"/>
                      <a:r>
                        <a:rPr lang="en-US" sz="800" b="1">
                          <a:solidFill>
                            <a:srgbClr val="FFFFFF"/>
                          </a:solidFill>
                          <a:latin typeface="Montserrat"/>
                          <a:ea typeface="Montserrat"/>
                          <a:cs typeface="Montserrat"/>
                          <a:sym typeface="Montserrat"/>
                        </a:rPr>
                        <a:t>Net system peak (MW)</a:t>
                      </a:r>
                    </a:p>
                  </a:txBody>
                  <a:tcPr marL="45720" marR="45720" marT="27432" marB="27432" anchor="ctr">
                    <a:lnL w="0">
                      <a:noFill/>
                    </a:lnL>
                    <a:lnR w="0">
                      <a:noFill/>
                    </a:lnR>
                    <a:lnT w="0">
                      <a:noFill/>
                    </a:lnT>
                    <a:lnB w="6350">
                      <a:solidFill>
                        <a:srgbClr val="D9E2E8"/>
                      </a:solidFill>
                    </a:lnB>
                    <a:solidFill>
                      <a:srgbClr val="0B3F63"/>
                    </a:solidFill>
                  </a:tcPr>
                </a:tc>
                <a:tc>
                  <a:txBody>
                    <a:bodyPr/>
                    <a:lstStyle/>
                    <a:p>
                      <a:pPr algn="ctr"/>
                      <a:r>
                        <a:rPr lang="en-US" sz="800" b="1">
                          <a:solidFill>
                            <a:srgbClr val="FFFFFF"/>
                          </a:solidFill>
                          <a:latin typeface="Montserrat"/>
                          <a:ea typeface="Montserrat"/>
                          <a:cs typeface="Montserrat"/>
                          <a:sym typeface="Montserrat"/>
                        </a:rPr>
                        <a:t>Peak vs ESOO</a:t>
                      </a:r>
                    </a:p>
                  </a:txBody>
                  <a:tcPr marL="45720" marR="45720" marT="27432" marB="27432" anchor="ctr">
                    <a:lnL w="0">
                      <a:noFill/>
                    </a:lnL>
                    <a:lnR w="0">
                      <a:noFill/>
                    </a:lnR>
                    <a:lnT w="0">
                      <a:noFill/>
                    </a:lnT>
                    <a:lnB w="6350">
                      <a:solidFill>
                        <a:srgbClr val="D9E2E8"/>
                      </a:solidFill>
                    </a:lnB>
                    <a:solidFill>
                      <a:srgbClr val="0B3F63"/>
                    </a:solidFill>
                  </a:tcPr>
                </a:tc>
                <a:tc>
                  <a:txBody>
                    <a:bodyPr/>
                    <a:lstStyle/>
                    <a:p>
                      <a:pPr algn="ctr"/>
                      <a:r>
                        <a:rPr lang="en-US" sz="800" b="1">
                          <a:solidFill>
                            <a:srgbClr val="FFFFFF"/>
                          </a:solidFill>
                          <a:latin typeface="Montserrat"/>
                          <a:ea typeface="Montserrat"/>
                          <a:cs typeface="Montserrat"/>
                          <a:sym typeface="Montserrat"/>
                        </a:rPr>
                        <a:t>Net minimum (MW)</a:t>
                      </a:r>
                    </a:p>
                  </a:txBody>
                  <a:tcPr marL="45720" marR="45720" marT="27432" marB="27432" anchor="ctr">
                    <a:lnL w="0">
                      <a:noFill/>
                    </a:lnL>
                    <a:lnR w="0">
                      <a:noFill/>
                    </a:lnR>
                    <a:lnT w="0">
                      <a:noFill/>
                    </a:lnT>
                    <a:lnB w="6350">
                      <a:solidFill>
                        <a:srgbClr val="D9E2E8"/>
                      </a:solidFill>
                    </a:lnB>
                    <a:solidFill>
                      <a:srgbClr val="0B3F63"/>
                    </a:solidFill>
                  </a:tcPr>
                </a:tc>
                <a:extLst>
                  <a:ext uri="{0D108BD9-81ED-4DB2-BD59-A6C34878D82A}">
                    <a16:rowId xmlns:a16="http://schemas.microsoft.com/office/drawing/2014/main" val="10000"/>
                  </a:ext>
                </a:extLst>
              </a:tr>
              <a:tr h="265000">
                <a:tc>
                  <a:txBody>
                    <a:bodyPr/>
                    <a:lstStyle/>
                    <a:p>
                      <a:pPr algn="l"/>
                      <a:r>
                        <a:rPr lang="en-US" sz="900" b="1">
                          <a:solidFill>
                            <a:srgbClr val="173647"/>
                          </a:solidFill>
                          <a:latin typeface="Montserrat"/>
                          <a:ea typeface="Montserrat"/>
                          <a:cs typeface="Montserrat"/>
                          <a:sym typeface="Montserrat"/>
                        </a:rPr>
                        <a:t>ESOO 2026 Expected</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EEF2F5"/>
                    </a:solidFill>
                  </a:tcPr>
                </a:tc>
                <a:tc>
                  <a:txBody>
                    <a:bodyPr/>
                    <a:lstStyle/>
                    <a:p>
                      <a:pPr algn="l"/>
                      <a:r>
                        <a:rPr lang="en-US" sz="900" b="1">
                          <a:solidFill>
                            <a:srgbClr val="173647"/>
                          </a:solidFill>
                          <a:latin typeface="Montserrat"/>
                          <a:ea typeface="Montserrat"/>
                          <a:cs typeface="Montserrat"/>
                          <a:sym typeface="Montserrat"/>
                        </a:rPr>
                        <a:t>published</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EEF2F5"/>
                    </a:solidFill>
                  </a:tcPr>
                </a:tc>
                <a:tc>
                  <a:txBody>
                    <a:bodyPr/>
                    <a:lstStyle/>
                    <a:p>
                      <a:pPr algn="ctr"/>
                      <a:r>
                        <a:rPr lang="en-US" sz="900" b="1">
                          <a:solidFill>
                            <a:srgbClr val="173647"/>
                          </a:solidFill>
                          <a:latin typeface="Montserrat"/>
                          <a:ea typeface="Montserrat"/>
                          <a:cs typeface="Montserrat"/>
                          <a:sym typeface="Montserrat"/>
                        </a:rPr>
                        <a:t>1,994</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EEF2F5"/>
                    </a:solidFill>
                  </a:tcPr>
                </a:tc>
                <a:tc>
                  <a:txBody>
                    <a:bodyPr/>
                    <a:lstStyle/>
                    <a:p>
                      <a:pPr algn="ctr"/>
                      <a:r>
                        <a:rPr lang="en-US" sz="900" b="1">
                          <a:solidFill>
                            <a:srgbClr val="173647"/>
                          </a:solidFill>
                          <a:latin typeface="Montserrat"/>
                          <a:ea typeface="Montserrat"/>
                          <a:cs typeface="Montserrat"/>
                          <a:sym typeface="Montserrat"/>
                        </a:rPr>
                        <a:t>7.7%</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EEF2F5"/>
                    </a:solidFill>
                  </a:tcPr>
                </a:tc>
                <a:tc>
                  <a:txBody>
                    <a:bodyPr/>
                    <a:lstStyle/>
                    <a:p>
                      <a:pPr algn="ctr"/>
                      <a:r>
                        <a:rPr lang="en-US" sz="900" b="1">
                          <a:solidFill>
                            <a:srgbClr val="173647"/>
                          </a:solidFill>
                          <a:latin typeface="Montserrat"/>
                          <a:ea typeface="Montserrat"/>
                          <a:cs typeface="Montserrat"/>
                          <a:sym typeface="Montserrat"/>
                        </a:rPr>
                        <a:t>213</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EEF2F5"/>
                    </a:solidFill>
                  </a:tcPr>
                </a:tc>
                <a:tc>
                  <a:txBody>
                    <a:bodyPr/>
                    <a:lstStyle/>
                    <a:p>
                      <a:pPr algn="ctr"/>
                      <a:r>
                        <a:rPr lang="en-US" sz="900" b="1">
                          <a:solidFill>
                            <a:srgbClr val="173647"/>
                          </a:solidFill>
                          <a:latin typeface="Montserrat"/>
                          <a:ea typeface="Montserrat"/>
                          <a:cs typeface="Montserrat"/>
                          <a:sym typeface="Montserrat"/>
                        </a:rPr>
                        <a:t>6,016</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EEF2F5"/>
                    </a:solidFill>
                  </a:tcPr>
                </a:tc>
                <a:tc>
                  <a:txBody>
                    <a:bodyPr/>
                    <a:lstStyle/>
                    <a:p>
                      <a:pPr algn="ctr"/>
                      <a:r>
                        <a:rPr lang="en-US" sz="900" b="1">
                          <a:solidFill>
                            <a:srgbClr val="173647"/>
                          </a:solidFill>
                          <a:latin typeface="Montserrat"/>
                          <a:ea typeface="Montserrat"/>
                          <a:cs typeface="Montserrat"/>
                          <a:sym typeface="Montserrat"/>
                        </a:rPr>
                        <a:t>–</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EEF2F5"/>
                    </a:solidFill>
                  </a:tcPr>
                </a:tc>
                <a:tc>
                  <a:txBody>
                    <a:bodyPr/>
                    <a:lstStyle/>
                    <a:p>
                      <a:pPr algn="ctr"/>
                      <a:r>
                        <a:rPr lang="en-US" sz="900" b="1">
                          <a:solidFill>
                            <a:srgbClr val="173647"/>
                          </a:solidFill>
                          <a:latin typeface="Montserrat"/>
                          <a:ea typeface="Montserrat"/>
                          <a:cs typeface="Montserrat"/>
                          <a:sym typeface="Montserrat"/>
                        </a:rPr>
                        <a:t>−93</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EEF2F5"/>
                    </a:solidFill>
                  </a:tcPr>
                </a:tc>
                <a:extLst>
                  <a:ext uri="{0D108BD9-81ED-4DB2-BD59-A6C34878D82A}">
                    <a16:rowId xmlns:a16="http://schemas.microsoft.com/office/drawing/2014/main" val="10001"/>
                  </a:ext>
                </a:extLst>
              </a:tr>
              <a:tr h="265000">
                <a:tc>
                  <a:txBody>
                    <a:bodyPr/>
                    <a:lstStyle/>
                    <a:p>
                      <a:pPr algn="l"/>
                      <a:r>
                        <a:rPr lang="en-US" sz="900" b="1">
                          <a:solidFill>
                            <a:srgbClr val="173647"/>
                          </a:solidFill>
                          <a:latin typeface="Montserrat"/>
                          <a:ea typeface="Montserrat"/>
                          <a:cs typeface="Montserrat"/>
                          <a:sym typeface="Montserrat"/>
                        </a:rPr>
                        <a:t>Slower Growth</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l"/>
                      <a:r>
                        <a:rPr lang="en-US" sz="900" b="0">
                          <a:solidFill>
                            <a:srgbClr val="173647"/>
                          </a:solidFill>
                          <a:latin typeface="Montserrat"/>
                          <a:ea typeface="Montserrat"/>
                          <a:cs typeface="Montserrat"/>
                          <a:sym typeface="Montserrat"/>
                        </a:rPr>
                        <a:t>Unmanaged</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1,301</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5.0%</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168</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5,971</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−0.7%</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−173</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extLst>
                  <a:ext uri="{0D108BD9-81ED-4DB2-BD59-A6C34878D82A}">
                    <a16:rowId xmlns:a16="http://schemas.microsoft.com/office/drawing/2014/main" val="10002"/>
                  </a:ext>
                </a:extLst>
              </a:tr>
              <a:tr h="265000">
                <a:tc>
                  <a:txBody>
                    <a:bodyPr/>
                    <a:lstStyle/>
                    <a:p>
                      <a:pPr algn="l"/>
                      <a:endParaRP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l"/>
                      <a:r>
                        <a:rPr lang="en-US" sz="900" b="0">
                          <a:solidFill>
                            <a:srgbClr val="173647"/>
                          </a:solidFill>
                          <a:latin typeface="Montserrat"/>
                          <a:ea typeface="Montserrat"/>
                          <a:cs typeface="Montserrat"/>
                          <a:sym typeface="Montserrat"/>
                        </a:rPr>
                        <a:t>Managed</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1,301</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5.0%</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70</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5,873</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−2.4%</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−248</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extLst>
                  <a:ext uri="{0D108BD9-81ED-4DB2-BD59-A6C34878D82A}">
                    <a16:rowId xmlns:a16="http://schemas.microsoft.com/office/drawing/2014/main" val="10003"/>
                  </a:ext>
                </a:extLst>
              </a:tr>
              <a:tr h="265000">
                <a:tc>
                  <a:txBody>
                    <a:bodyPr/>
                    <a:lstStyle/>
                    <a:p>
                      <a:pPr algn="l"/>
                      <a:r>
                        <a:rPr lang="en-US" sz="900" b="1">
                          <a:solidFill>
                            <a:srgbClr val="173647"/>
                          </a:solidFill>
                          <a:latin typeface="Montserrat"/>
                          <a:ea typeface="Montserrat"/>
                          <a:cs typeface="Montserrat"/>
                          <a:sym typeface="Montserrat"/>
                        </a:rPr>
                        <a:t>Step Change</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F4FAFD"/>
                    </a:solidFill>
                  </a:tcPr>
                </a:tc>
                <a:tc>
                  <a:txBody>
                    <a:bodyPr/>
                    <a:lstStyle/>
                    <a:p>
                      <a:pPr algn="l"/>
                      <a:r>
                        <a:rPr lang="en-US" sz="900" b="0">
                          <a:solidFill>
                            <a:srgbClr val="173647"/>
                          </a:solidFill>
                          <a:latin typeface="Montserrat"/>
                          <a:ea typeface="Montserrat"/>
                          <a:cs typeface="Montserrat"/>
                          <a:sym typeface="Montserrat"/>
                        </a:rPr>
                        <a:t>Unmanaged</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F4FAFD"/>
                    </a:solidFill>
                  </a:tcPr>
                </a:tc>
                <a:tc>
                  <a:txBody>
                    <a:bodyPr/>
                    <a:lstStyle/>
                    <a:p>
                      <a:pPr algn="ctr"/>
                      <a:r>
                        <a:rPr lang="en-US" sz="900" b="0">
                          <a:solidFill>
                            <a:srgbClr val="173647"/>
                          </a:solidFill>
                          <a:latin typeface="Montserrat"/>
                          <a:ea typeface="Montserrat"/>
                          <a:cs typeface="Montserrat"/>
                          <a:sym typeface="Montserrat"/>
                        </a:rPr>
                        <a:t>1,994</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F4FAFD"/>
                    </a:solidFill>
                  </a:tcPr>
                </a:tc>
                <a:tc>
                  <a:txBody>
                    <a:bodyPr/>
                    <a:lstStyle/>
                    <a:p>
                      <a:pPr algn="ctr"/>
                      <a:r>
                        <a:rPr lang="en-US" sz="900" b="0">
                          <a:solidFill>
                            <a:srgbClr val="173647"/>
                          </a:solidFill>
                          <a:latin typeface="Montserrat"/>
                          <a:ea typeface="Montserrat"/>
                          <a:cs typeface="Montserrat"/>
                          <a:sym typeface="Montserrat"/>
                        </a:rPr>
                        <a:t>7.7%</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F4FAFD"/>
                    </a:solidFill>
                  </a:tcPr>
                </a:tc>
                <a:tc>
                  <a:txBody>
                    <a:bodyPr/>
                    <a:lstStyle/>
                    <a:p>
                      <a:pPr algn="ctr"/>
                      <a:r>
                        <a:rPr lang="en-US" sz="900" b="0">
                          <a:solidFill>
                            <a:srgbClr val="173647"/>
                          </a:solidFill>
                          <a:latin typeface="Montserrat"/>
                          <a:ea typeface="Montserrat"/>
                          <a:cs typeface="Montserrat"/>
                          <a:sym typeface="Montserrat"/>
                        </a:rPr>
                        <a:t>257</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F4FAFD"/>
                    </a:solidFill>
                  </a:tcPr>
                </a:tc>
                <a:tc>
                  <a:txBody>
                    <a:bodyPr/>
                    <a:lstStyle/>
                    <a:p>
                      <a:pPr algn="ctr"/>
                      <a:r>
                        <a:rPr lang="en-US" sz="900" b="0">
                          <a:solidFill>
                            <a:srgbClr val="173647"/>
                          </a:solidFill>
                          <a:latin typeface="Montserrat"/>
                          <a:ea typeface="Montserrat"/>
                          <a:cs typeface="Montserrat"/>
                          <a:sym typeface="Montserrat"/>
                        </a:rPr>
                        <a:t>6,060</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F4FAFD"/>
                    </a:solidFill>
                  </a:tcPr>
                </a:tc>
                <a:tc>
                  <a:txBody>
                    <a:bodyPr/>
                    <a:lstStyle/>
                    <a:p>
                      <a:pPr algn="ctr"/>
                      <a:r>
                        <a:rPr lang="en-US" sz="900" b="0">
                          <a:solidFill>
                            <a:srgbClr val="173647"/>
                          </a:solidFill>
                          <a:latin typeface="Montserrat"/>
                          <a:ea typeface="Montserrat"/>
                          <a:cs typeface="Montserrat"/>
                          <a:sym typeface="Montserrat"/>
                        </a:rPr>
                        <a:t>+0.7%</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F4FAFD"/>
                    </a:solidFill>
                  </a:tcPr>
                </a:tc>
                <a:tc>
                  <a:txBody>
                    <a:bodyPr/>
                    <a:lstStyle/>
                    <a:p>
                      <a:pPr algn="ctr"/>
                      <a:r>
                        <a:rPr lang="en-US" sz="900" b="0">
                          <a:solidFill>
                            <a:srgbClr val="173647"/>
                          </a:solidFill>
                          <a:latin typeface="Montserrat"/>
                          <a:ea typeface="Montserrat"/>
                          <a:cs typeface="Montserrat"/>
                          <a:sym typeface="Montserrat"/>
                        </a:rPr>
                        <a:t>−59</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F4FAFD"/>
                    </a:solidFill>
                  </a:tcPr>
                </a:tc>
                <a:extLst>
                  <a:ext uri="{0D108BD9-81ED-4DB2-BD59-A6C34878D82A}">
                    <a16:rowId xmlns:a16="http://schemas.microsoft.com/office/drawing/2014/main" val="10004"/>
                  </a:ext>
                </a:extLst>
              </a:tr>
              <a:tr h="265000">
                <a:tc>
                  <a:txBody>
                    <a:bodyPr/>
                    <a:lstStyle/>
                    <a:p>
                      <a:pPr algn="l"/>
                      <a:endParaRP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F4FAFD"/>
                    </a:solidFill>
                  </a:tcPr>
                </a:tc>
                <a:tc>
                  <a:txBody>
                    <a:bodyPr/>
                    <a:lstStyle/>
                    <a:p>
                      <a:pPr algn="l"/>
                      <a:r>
                        <a:rPr lang="en-US" sz="900" b="0">
                          <a:solidFill>
                            <a:srgbClr val="173647"/>
                          </a:solidFill>
                          <a:latin typeface="Montserrat"/>
                          <a:ea typeface="Montserrat"/>
                          <a:cs typeface="Montserrat"/>
                          <a:sym typeface="Montserrat"/>
                        </a:rPr>
                        <a:t>Managed</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F4FAFD"/>
                    </a:solidFill>
                  </a:tcPr>
                </a:tc>
                <a:tc>
                  <a:txBody>
                    <a:bodyPr/>
                    <a:lstStyle/>
                    <a:p>
                      <a:pPr algn="ctr"/>
                      <a:r>
                        <a:rPr lang="en-US" sz="900" b="0">
                          <a:solidFill>
                            <a:srgbClr val="173647"/>
                          </a:solidFill>
                          <a:latin typeface="Montserrat"/>
                          <a:ea typeface="Montserrat"/>
                          <a:cs typeface="Montserrat"/>
                          <a:sym typeface="Montserrat"/>
                        </a:rPr>
                        <a:t>1,994</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F4FAFD"/>
                    </a:solidFill>
                  </a:tcPr>
                </a:tc>
                <a:tc>
                  <a:txBody>
                    <a:bodyPr/>
                    <a:lstStyle/>
                    <a:p>
                      <a:pPr algn="ctr"/>
                      <a:r>
                        <a:rPr lang="en-US" sz="900" b="0">
                          <a:solidFill>
                            <a:srgbClr val="173647"/>
                          </a:solidFill>
                          <a:latin typeface="Montserrat"/>
                          <a:ea typeface="Montserrat"/>
                          <a:cs typeface="Montserrat"/>
                          <a:sym typeface="Montserrat"/>
                        </a:rPr>
                        <a:t>7.7%</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F4FAFD"/>
                    </a:solidFill>
                  </a:tcPr>
                </a:tc>
                <a:tc>
                  <a:txBody>
                    <a:bodyPr/>
                    <a:lstStyle/>
                    <a:p>
                      <a:pPr algn="ctr"/>
                      <a:r>
                        <a:rPr lang="en-US" sz="900" b="0">
                          <a:solidFill>
                            <a:srgbClr val="173647"/>
                          </a:solidFill>
                          <a:latin typeface="Montserrat"/>
                          <a:ea typeface="Montserrat"/>
                          <a:cs typeface="Montserrat"/>
                          <a:sym typeface="Montserrat"/>
                        </a:rPr>
                        <a:t>108</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F4FAFD"/>
                    </a:solidFill>
                  </a:tcPr>
                </a:tc>
                <a:tc>
                  <a:txBody>
                    <a:bodyPr/>
                    <a:lstStyle/>
                    <a:p>
                      <a:pPr algn="ctr"/>
                      <a:r>
                        <a:rPr lang="en-US" sz="900" b="0">
                          <a:solidFill>
                            <a:srgbClr val="173647"/>
                          </a:solidFill>
                          <a:latin typeface="Montserrat"/>
                          <a:ea typeface="Montserrat"/>
                          <a:cs typeface="Montserrat"/>
                          <a:sym typeface="Montserrat"/>
                        </a:rPr>
                        <a:t>5,911</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F4FAFD"/>
                    </a:solidFill>
                  </a:tcPr>
                </a:tc>
                <a:tc>
                  <a:txBody>
                    <a:bodyPr/>
                    <a:lstStyle/>
                    <a:p>
                      <a:pPr algn="ctr"/>
                      <a:r>
                        <a:rPr lang="en-US" sz="900" b="0">
                          <a:solidFill>
                            <a:srgbClr val="173647"/>
                          </a:solidFill>
                          <a:latin typeface="Montserrat"/>
                          <a:ea typeface="Montserrat"/>
                          <a:cs typeface="Montserrat"/>
                          <a:sym typeface="Montserrat"/>
                        </a:rPr>
                        <a:t>−1.7%</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F4FAFD"/>
                    </a:solidFill>
                  </a:tcPr>
                </a:tc>
                <a:tc>
                  <a:txBody>
                    <a:bodyPr/>
                    <a:lstStyle/>
                    <a:p>
                      <a:pPr algn="ctr"/>
                      <a:r>
                        <a:rPr lang="en-US" sz="900" b="0">
                          <a:solidFill>
                            <a:srgbClr val="173647"/>
                          </a:solidFill>
                          <a:latin typeface="Montserrat"/>
                          <a:ea typeface="Montserrat"/>
                          <a:cs typeface="Montserrat"/>
                          <a:sym typeface="Montserrat"/>
                        </a:rPr>
                        <a:t>−174</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solidFill>
                      <a:srgbClr val="F4FAFD"/>
                    </a:solidFill>
                  </a:tcPr>
                </a:tc>
                <a:extLst>
                  <a:ext uri="{0D108BD9-81ED-4DB2-BD59-A6C34878D82A}">
                    <a16:rowId xmlns:a16="http://schemas.microsoft.com/office/drawing/2014/main" val="10005"/>
                  </a:ext>
                </a:extLst>
              </a:tr>
              <a:tr h="265000">
                <a:tc>
                  <a:txBody>
                    <a:bodyPr/>
                    <a:lstStyle/>
                    <a:p>
                      <a:pPr algn="l"/>
                      <a:r>
                        <a:rPr lang="en-US" sz="900" b="1">
                          <a:solidFill>
                            <a:srgbClr val="173647"/>
                          </a:solidFill>
                          <a:latin typeface="Montserrat"/>
                          <a:ea typeface="Montserrat"/>
                          <a:cs typeface="Montserrat"/>
                          <a:sym typeface="Montserrat"/>
                        </a:rPr>
                        <a:t>Accelerated Transition</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l"/>
                      <a:r>
                        <a:rPr lang="en-US" sz="900" b="0">
                          <a:solidFill>
                            <a:srgbClr val="173647"/>
                          </a:solidFill>
                          <a:latin typeface="Montserrat"/>
                          <a:ea typeface="Montserrat"/>
                          <a:cs typeface="Montserrat"/>
                          <a:sym typeface="Montserrat"/>
                        </a:rPr>
                        <a:t>Unmanaged</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3,225</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12.4%</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416</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6,219</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+3.4%</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144</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extLst>
                  <a:ext uri="{0D108BD9-81ED-4DB2-BD59-A6C34878D82A}">
                    <a16:rowId xmlns:a16="http://schemas.microsoft.com/office/drawing/2014/main" val="10006"/>
                  </a:ext>
                </a:extLst>
              </a:tr>
              <a:tr h="265000">
                <a:tc>
                  <a:txBody>
                    <a:bodyPr/>
                    <a:lstStyle/>
                    <a:p>
                      <a:pPr algn="l"/>
                      <a:endParaRP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l"/>
                      <a:r>
                        <a:rPr lang="en-US" sz="900" b="0">
                          <a:solidFill>
                            <a:srgbClr val="173647"/>
                          </a:solidFill>
                          <a:latin typeface="Montserrat"/>
                          <a:ea typeface="Montserrat"/>
                          <a:cs typeface="Montserrat"/>
                          <a:sym typeface="Montserrat"/>
                        </a:rPr>
                        <a:t>Managed</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3,225</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12.4%</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174</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5,977</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−0.6%</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tc>
                  <a:txBody>
                    <a:bodyPr/>
                    <a:lstStyle/>
                    <a:p>
                      <a:pPr algn="ctr"/>
                      <a:r>
                        <a:rPr lang="en-US" sz="900" b="0">
                          <a:solidFill>
                            <a:srgbClr val="173647"/>
                          </a:solidFill>
                          <a:latin typeface="Montserrat"/>
                          <a:ea typeface="Montserrat"/>
                          <a:cs typeface="Montserrat"/>
                          <a:sym typeface="Montserrat"/>
                        </a:rPr>
                        <a:t>−42</a:t>
                      </a:r>
                    </a:p>
                  </a:txBody>
                  <a:tcPr marL="45720" marR="45720" marT="27432" marB="27432" anchor="ctr">
                    <a:lnL w="0">
                      <a:noFill/>
                    </a:lnL>
                    <a:lnR w="0">
                      <a:noFill/>
                    </a:lnR>
                    <a:lnT w="6350" cap="flat" cmpd="sng" algn="ctr">
                      <a:solidFill>
                        <a:srgbClr val="D9E2E8"/>
                      </a:solidFill>
                      <a:prstDash val="solid"/>
                      <a:round/>
                      <a:headEnd type="none" w="med" len="med"/>
                      <a:tailEnd type="none" w="med" len="med"/>
                    </a:lnT>
                    <a:lnB w="6350">
                      <a:solidFill>
                        <a:srgbClr val="D9E2E8"/>
                      </a:solidFill>
                    </a:lnB>
                    <a:noFill/>
                  </a:tcPr>
                </a:tc>
                <a:extLst>
                  <a:ext uri="{0D108BD9-81ED-4DB2-BD59-A6C34878D82A}">
                    <a16:rowId xmlns:a16="http://schemas.microsoft.com/office/drawing/2014/main" val="10007"/>
                  </a:ext>
                </a:extLst>
              </a:tr>
            </a:tbl>
          </a:graphicData>
        </a:graphic>
      </p:graphicFrame>
      <p:sp>
        <p:nvSpPr>
          <p:cNvPr id="202" name="Note 202"/>
          <p:cNvSpPr txBox="1"/>
          <p:nvPr/>
        </p:nvSpPr>
        <p:spPr>
          <a:xfrm>
            <a:off x="457200" y="3568000"/>
            <a:ext cx="8229600" cy="992000"/>
          </a:xfrm>
          <a:prstGeom prst="rect">
            <a:avLst/>
          </a:prstGeom>
          <a:noFill/>
          <a:ln>
            <a:noFill/>
          </a:ln>
        </p:spPr>
        <p:txBody>
          <a:bodyPr wrap="square" lIns="0" tIns="0" rIns="0" bIns="0" anchor="t">
            <a:noAutofit/>
          </a:bodyPr>
          <a:lstStyle/>
          <a:p>
            <a:pPr marL="0" lvl="0" indent="0" algn="l" rtl="0">
              <a:spcBef>
                <a:spcPts val="300"/>
              </a:spcBef>
              <a:buNone/>
            </a:pPr>
            <a:r>
              <a:rPr lang="en-US" sz="1100" b="1">
                <a:solidFill>
                  <a:srgbClr val="173647"/>
                </a:solidFill>
                <a:latin typeface="Montserrat"/>
                <a:ea typeface="Montserrat"/>
                <a:cs typeface="Montserrat"/>
                <a:sym typeface="Montserrat"/>
              </a:rPr>
              <a:t>EVs are 5–12% of SWIS energy, yet swapping them into ESOO moves the 2035 peak by only −2% to +3%.</a:t>
            </a:r>
          </a:p>
          <a:p>
            <a:pPr marL="0" lvl="0" indent="0" algn="l" rtl="0">
              <a:spcBef>
                <a:spcPts val="300"/>
              </a:spcBef>
              <a:buNone/>
            </a:pPr>
            <a:r>
              <a:rPr lang="en-US" sz="800" b="0">
                <a:solidFill>
                  <a:srgbClr val="173647"/>
                </a:solidFill>
                <a:latin typeface="Montserrat"/>
                <a:ea typeface="Montserrat"/>
                <a:cs typeface="Montserrat"/>
                <a:sym typeface="Montserrat"/>
              </a:rPr>
              <a:t>Base: ESOO 2026 Expected, POE10, 2035-36, operational basis: 6,016 MW peak at 6:30 pm, 26.0 TWh (from 32.1 TWh underlying). It already contains ~2.0 TWh of EV charging (IASR Step Change: 2026 ESOO fleet ~717,000 vs 688,000), so each row removes that EV load before adding its own. Share is EV energy over operational consumption. Peak day: Mon 15 Jan 2035 = the 1-in-10 peak day.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8"/>
          <p:cNvSpPr txBox="1">
            <a:spLocks noGrp="1"/>
          </p:cNvSpPr>
          <p:nvPr>
            <p:ph type="title"/>
          </p:nvPr>
        </p:nvSpPr>
        <p:spPr>
          <a:xfrm>
            <a:off x="457200" y="365760"/>
            <a:ext cx="8229600" cy="73152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B3F63"/>
              </a:buClr>
              <a:buSzPts val="2600"/>
              <a:buFont typeface="Montserrat"/>
              <a:buNone/>
            </a:pPr>
            <a:r>
              <a:rPr lang="en-US" sz="2000"/>
              <a:t>Q1  |  Unmanaged charging lifts the peak by up to ~3%</a:t>
            </a:r>
            <a:endParaRPr sz="2000"/>
          </a:p>
        </p:txBody>
      </p:sp>
      <p:sp>
        <p:nvSpPr>
          <p:cNvPr id="142" name="Google Shape;142;p28"/>
          <p:cNvSpPr txBox="1">
            <a:spLocks noGrp="1"/>
          </p:cNvSpPr>
          <p:nvPr>
            <p:ph type="body" idx="1"/>
          </p:nvPr>
        </p:nvSpPr>
        <p:spPr>
          <a:xfrm>
            <a:off x="6492240" y="1463040"/>
            <a:ext cx="2011680" cy="36576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0A9D8"/>
              </a:buClr>
              <a:buSzPts val="1300"/>
              <a:buNone/>
            </a:pPr>
            <a:r>
              <a:rPr lang="en-US" sz="1300" b="1">
                <a:solidFill>
                  <a:srgbClr val="00A9D8"/>
                </a:solidFill>
                <a:latin typeface="Montserrat"/>
                <a:ea typeface="Montserrat"/>
                <a:cs typeface="Montserrat"/>
                <a:sym typeface="Montserrat"/>
              </a:rPr>
              <a:t>Key takeaway</a:t>
            </a:r>
            <a:endParaRPr sz="1300"/>
          </a:p>
        </p:txBody>
      </p:sp>
      <p:sp>
        <p:nvSpPr>
          <p:cNvPr id="143" name="Google Shape;143;p28"/>
          <p:cNvSpPr txBox="1">
            <a:spLocks noGrp="1"/>
          </p:cNvSpPr>
          <p:nvPr>
            <p:ph type="body" idx="3"/>
          </p:nvPr>
        </p:nvSpPr>
        <p:spPr>
          <a:xfrm>
            <a:off x="6411595" y="1865102"/>
            <a:ext cx="2172970" cy="2377440"/>
          </a:xfrm>
          <a:prstGeom prst="rect">
            <a:avLst/>
          </a:prstGeom>
          <a:noFill/>
          <a:ln>
            <a:noFill/>
          </a:ln>
        </p:spPr>
        <p:txBody>
          <a:bodyPr spcFirstLastPara="1" wrap="square" lIns="0" tIns="0" rIns="0" bIns="0" anchor="t" anchorCtr="0">
            <a:noAutofit/>
          </a:bodyPr>
          <a:lstStyle/>
          <a:p>
            <a:pPr marL="171450" lvl="0" indent="-171450" algn="l" rtl="0">
              <a:lnSpc>
                <a:spcPct val="100000"/>
              </a:lnSpc>
              <a:spcBef>
                <a:spcPts val="240"/>
              </a:spcBef>
              <a:spcAft>
                <a:spcPts val="0"/>
              </a:spcAft>
              <a:buSzPts val="1200"/>
              <a:buFont typeface="Arial"/>
              <a:buChar char="•"/>
            </a:pPr>
            <a:r>
              <a:rPr lang="en-US" sz="900"/>
              <a:t>At the ~6.0 GW peak (about 6:30 pm), unmanaged EVs draw ~170 MW (Slower Growth), ~260 MW (Step Change) and ~420 MW (Accelerated Transition).</a:t>
            </a:r>
            <a:endParaRPr/>
          </a:p>
          <a:p>
            <a:pPr marL="171450" lvl="0" indent="-171450" algn="l" rtl="0">
              <a:lnSpc>
                <a:spcPct val="100000"/>
              </a:lnSpc>
              <a:spcBef>
                <a:spcPts val="240"/>
              </a:spcBef>
              <a:spcAft>
                <a:spcPts val="0"/>
              </a:spcAft>
              <a:buSzPts val="1200"/>
              <a:buFont typeface="Arial"/>
              <a:buChar char="•"/>
            </a:pPr>
            <a:r>
              <a:rPr lang="en-US" sz="900"/>
              <a:t>ESOO already includes ~210 MW of EV load at the peak, so swapping in each scenario moves the net peak by −0.7%, +0.7% and +3.4%.</a:t>
            </a:r>
            <a:endParaRPr/>
          </a:p>
          <a:p>
            <a:pPr marL="171450" lvl="0" indent="-171450" algn="l" rtl="0">
              <a:lnSpc>
                <a:spcPct val="100000"/>
              </a:lnSpc>
              <a:spcBef>
                <a:spcPts val="240"/>
              </a:spcBef>
              <a:spcAft>
                <a:spcPts val="0"/>
              </a:spcAft>
              <a:buSzPts val="1200"/>
              <a:buFont typeface="Arial"/>
              <a:buChar char="•"/>
            </a:pPr>
            <a:r>
              <a:rPr lang="en-US" sz="800"/>
              <a:t>Peak day: Mon 15 Jan 2035, the day the synthesised trace reaches the 1-in-10 summer peak. Its shape is 2025's SCADA peak day moved to the same weekday in 2035 – illustrative, not a forecast date.</a:t>
            </a:r>
            <a:endParaRPr/>
          </a:p>
        </p:txBody>
      </p:sp>
      <p:sp>
        <p:nvSpPr>
          <p:cNvPr id="144" name="Google Shape;144;p28"/>
          <p:cNvSpPr txBox="1">
            <a:spLocks noGrp="1"/>
          </p:cNvSpPr>
          <p:nvPr>
            <p:ph type="sldNum" idx="4294967295"/>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6B7C8A"/>
                </a:solidFill>
                <a:latin typeface="Montserrat"/>
                <a:ea typeface="Montserrat"/>
                <a:cs typeface="Montserrat"/>
                <a:sym typeface="Montserrat"/>
              </a:rPr>
              <a:t>10</a:t>
            </a:fld>
            <a:endParaRPr sz="900" b="0" i="0" u="none" strike="noStrike" cap="none">
              <a:solidFill>
                <a:srgbClr val="6B7C8A"/>
              </a:solidFill>
              <a:latin typeface="Montserrat"/>
              <a:ea typeface="Montserrat"/>
              <a:cs typeface="Montserrat"/>
              <a:sym typeface="Montserrat"/>
            </a:endParaRPr>
          </a:p>
        </p:txBody>
      </p:sp>
      <p:sp>
        <p:nvSpPr>
          <p:cNvPr id="145" name="Source 145"/>
          <p:cNvSpPr txBox="1"/>
          <p:nvPr/>
        </p:nvSpPr>
        <p:spPr>
          <a:xfrm>
            <a:off x="2876550" y="4608850"/>
            <a:ext cx="5524500" cy="400000"/>
          </a:xfrm>
          <a:prstGeom prst="rect">
            <a:avLst/>
          </a:prstGeom>
          <a:noFill/>
          <a:ln>
            <a:noFill/>
          </a:ln>
        </p:spPr>
        <p:txBody>
          <a:bodyPr spcFirstLastPara="1" wrap="square" lIns="91425" tIns="45700" rIns="91425" bIns="45700" anchor="t" anchorCtr="0">
            <a:noAutofit/>
          </a:bodyPr>
          <a:lstStyle/>
          <a:p>
            <a:pPr marL="0" lvl="0" indent="0" algn="l" rtl="0">
              <a:buNone/>
            </a:pPr>
            <a:r>
              <a:rPr lang="en-US" sz="700" b="0" i="0">
                <a:solidFill>
                  <a:srgbClr val="000000"/>
                </a:solidFill>
                <a:latin typeface="Montserrat"/>
                <a:ea typeface="Montserrat"/>
                <a:cs typeface="Montserrat"/>
                <a:sym typeface="Montserrat"/>
              </a:rPr>
              <a:t>Source: SEN analysis. AEMO 2026 WEM ESOO (Expected, POE10; operational basis derived from underlying); AEMO 2025 IASR EV workbook, WEM region (CSIRO 2025 trajectories: annual energy and charging shapes). EV load added to a 2035 half-hourly demand trace on the AWST clock, with the EV load already inside ESOO removed first.</a:t>
            </a:r>
          </a:p>
        </p:txBody>
      </p:sp>
      <p:graphicFrame>
        <p:nvGraphicFramePr>
          <p:cNvPr id="146" name="Google Shape;146;p28"/>
          <p:cNvGraphicFramePr/>
          <p:nvPr/>
        </p:nvGraphicFramePr>
        <p:xfrm>
          <a:off x="196850" y="892400"/>
          <a:ext cx="5760000" cy="3600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8"/>
          <p:cNvSpPr txBox="1">
            <a:spLocks noGrp="1"/>
          </p:cNvSpPr>
          <p:nvPr>
            <p:ph type="title"/>
          </p:nvPr>
        </p:nvSpPr>
        <p:spPr>
          <a:xfrm>
            <a:off x="457200" y="365760"/>
            <a:ext cx="8229600" cy="73152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B3F63"/>
              </a:buClr>
              <a:buSzPts val="2600"/>
              <a:buFont typeface="Montserrat"/>
              <a:buNone/>
            </a:pPr>
            <a:r>
              <a:rPr lang="en-US" sz="2000"/>
              <a:t>Q1  |  Managed charging keeps the peak below ESOO</a:t>
            </a:r>
            <a:endParaRPr sz="2000"/>
          </a:p>
        </p:txBody>
      </p:sp>
      <p:sp>
        <p:nvSpPr>
          <p:cNvPr id="142" name="Google Shape;142;p28"/>
          <p:cNvSpPr txBox="1">
            <a:spLocks noGrp="1"/>
          </p:cNvSpPr>
          <p:nvPr>
            <p:ph type="body" idx="1"/>
          </p:nvPr>
        </p:nvSpPr>
        <p:spPr>
          <a:xfrm>
            <a:off x="6492240" y="1463040"/>
            <a:ext cx="2011680" cy="36576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0A9D8"/>
              </a:buClr>
              <a:buSzPts val="1300"/>
              <a:buNone/>
            </a:pPr>
            <a:r>
              <a:rPr lang="en-US" sz="1300" b="1">
                <a:solidFill>
                  <a:srgbClr val="00A9D8"/>
                </a:solidFill>
                <a:latin typeface="Montserrat"/>
                <a:ea typeface="Montserrat"/>
                <a:cs typeface="Montserrat"/>
                <a:sym typeface="Montserrat"/>
              </a:rPr>
              <a:t>Key takeaway</a:t>
            </a:r>
            <a:endParaRPr sz="1300"/>
          </a:p>
        </p:txBody>
      </p:sp>
      <p:sp>
        <p:nvSpPr>
          <p:cNvPr id="143" name="Google Shape;143;p28"/>
          <p:cNvSpPr txBox="1">
            <a:spLocks noGrp="1"/>
          </p:cNvSpPr>
          <p:nvPr>
            <p:ph type="body" idx="3"/>
          </p:nvPr>
        </p:nvSpPr>
        <p:spPr>
          <a:xfrm>
            <a:off x="6411595" y="1865102"/>
            <a:ext cx="2172970" cy="2377440"/>
          </a:xfrm>
          <a:prstGeom prst="rect">
            <a:avLst/>
          </a:prstGeom>
          <a:noFill/>
          <a:ln>
            <a:noFill/>
          </a:ln>
        </p:spPr>
        <p:txBody>
          <a:bodyPr spcFirstLastPara="1" wrap="square" lIns="0" tIns="0" rIns="0" bIns="0" anchor="t" anchorCtr="0">
            <a:noAutofit/>
          </a:bodyPr>
          <a:lstStyle/>
          <a:p>
            <a:pPr marL="171450" lvl="0" indent="-171450" algn="l" rtl="0">
              <a:lnSpc>
                <a:spcPct val="100000"/>
              </a:lnSpc>
              <a:spcBef>
                <a:spcPts val="240"/>
              </a:spcBef>
              <a:spcAft>
                <a:spcPts val="0"/>
              </a:spcAft>
              <a:buSzPts val="1200"/>
              <a:buFont typeface="Arial"/>
              <a:buChar char="•"/>
            </a:pPr>
            <a:r>
              <a:rPr lang="en-US" sz="900"/>
              <a:t>Managed charging (time-of-use, off-peak and solar) draws only ~70, ~110 and ~170 MW at the peak.</a:t>
            </a:r>
            <a:endParaRPr/>
          </a:p>
          <a:p>
            <a:pPr marL="171450" lvl="0" indent="-171450" algn="l" rtl="0">
              <a:lnSpc>
                <a:spcPct val="100000"/>
              </a:lnSpc>
              <a:spcBef>
                <a:spcPts val="240"/>
              </a:spcBef>
              <a:spcAft>
                <a:spcPts val="0"/>
              </a:spcAft>
              <a:buSzPts val="1200"/>
              <a:buFont typeface="Arial"/>
              <a:buChar char="•"/>
            </a:pPr>
            <a:r>
              <a:rPr lang="en-US" sz="900"/>
              <a:t>Against ESOO's built-in charging mix the net peak falls 2.4%, 1.7% and 0.6%: even the extra energy in Accelerated Transition is charged away from 6:30 pm.</a:t>
            </a:r>
            <a:endParaRPr/>
          </a:p>
          <a:p>
            <a:pPr marL="171450" lvl="0" indent="-171450" algn="l" rtl="0">
              <a:lnSpc>
                <a:spcPct val="100000"/>
              </a:lnSpc>
              <a:spcBef>
                <a:spcPts val="240"/>
              </a:spcBef>
              <a:spcAft>
                <a:spcPts val="0"/>
              </a:spcAft>
              <a:buSzPts val="1200"/>
              <a:buFont typeface="Arial"/>
              <a:buChar char="•"/>
            </a:pPr>
            <a:r>
              <a:rPr lang="en-US" sz="800"/>
              <a:t>Peak day: Mon 15 Jan 2035, the day the synthesised trace reaches the 1-in-10 summer peak. Its shape is 2025's SCADA peak day moved to the same weekday in 2035 – illustrative, not a forecast date.</a:t>
            </a:r>
            <a:endParaRPr/>
          </a:p>
        </p:txBody>
      </p:sp>
      <p:sp>
        <p:nvSpPr>
          <p:cNvPr id="144" name="Google Shape;144;p28"/>
          <p:cNvSpPr txBox="1">
            <a:spLocks noGrp="1"/>
          </p:cNvSpPr>
          <p:nvPr>
            <p:ph type="sldNum" idx="4294967295"/>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6B7C8A"/>
                </a:solidFill>
                <a:latin typeface="Montserrat"/>
                <a:ea typeface="Montserrat"/>
                <a:cs typeface="Montserrat"/>
                <a:sym typeface="Montserrat"/>
              </a:rPr>
              <a:t>11</a:t>
            </a:fld>
            <a:endParaRPr sz="900" b="0" i="0" u="none" strike="noStrike" cap="none">
              <a:solidFill>
                <a:srgbClr val="6B7C8A"/>
              </a:solidFill>
              <a:latin typeface="Montserrat"/>
              <a:ea typeface="Montserrat"/>
              <a:cs typeface="Montserrat"/>
              <a:sym typeface="Montserrat"/>
            </a:endParaRPr>
          </a:p>
        </p:txBody>
      </p:sp>
      <p:sp>
        <p:nvSpPr>
          <p:cNvPr id="145" name="Source 145"/>
          <p:cNvSpPr txBox="1"/>
          <p:nvPr/>
        </p:nvSpPr>
        <p:spPr>
          <a:xfrm>
            <a:off x="2876550" y="4608850"/>
            <a:ext cx="5524500" cy="400000"/>
          </a:xfrm>
          <a:prstGeom prst="rect">
            <a:avLst/>
          </a:prstGeom>
          <a:noFill/>
          <a:ln>
            <a:noFill/>
          </a:ln>
        </p:spPr>
        <p:txBody>
          <a:bodyPr spcFirstLastPara="1" wrap="square" lIns="91425" tIns="45700" rIns="91425" bIns="45700" anchor="t" anchorCtr="0">
            <a:noAutofit/>
          </a:bodyPr>
          <a:lstStyle/>
          <a:p>
            <a:pPr marL="0" lvl="0" indent="0" algn="l" rtl="0">
              <a:buNone/>
            </a:pPr>
            <a:r>
              <a:rPr lang="en-US" sz="700" b="0" i="0">
                <a:solidFill>
                  <a:srgbClr val="000000"/>
                </a:solidFill>
                <a:latin typeface="Montserrat"/>
                <a:ea typeface="Montserrat"/>
                <a:cs typeface="Montserrat"/>
                <a:sym typeface="Montserrat"/>
              </a:rPr>
              <a:t>Source: SEN analysis. AEMO 2026 WEM ESOO (Expected, POE10; operational basis derived from underlying); AEMO 2025 IASR EV workbook, WEM region (CSIRO 2025 trajectories: annual energy and charging shapes). EV load added to a 2035 half-hourly demand trace on the AWST clock, with the EV load already inside ESOO removed first.</a:t>
            </a:r>
          </a:p>
        </p:txBody>
      </p:sp>
      <p:graphicFrame>
        <p:nvGraphicFramePr>
          <p:cNvPr id="146" name="Google Shape;146;p28"/>
          <p:cNvGraphicFramePr/>
          <p:nvPr/>
        </p:nvGraphicFramePr>
        <p:xfrm>
          <a:off x="196850" y="892400"/>
          <a:ext cx="5760000" cy="36000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7"/>
          <p:cNvSpPr txBox="1">
            <a:spLocks noGrp="1"/>
          </p:cNvSpPr>
          <p:nvPr>
            <p:ph type="title"/>
          </p:nvPr>
        </p:nvSpPr>
        <p:spPr>
          <a:xfrm>
            <a:off x="457200" y="365760"/>
            <a:ext cx="8229600" cy="7315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B3F63"/>
              </a:buClr>
              <a:buSzPts val="2600"/>
              <a:buFont typeface="Montserrat"/>
              <a:buNone/>
            </a:pPr>
            <a:r>
              <a:rPr lang="en-US"/>
              <a:t>Managed vs Unmanaged Charging </a:t>
            </a:r>
            <a:endParaRPr/>
          </a:p>
        </p:txBody>
      </p:sp>
      <p:sp>
        <p:nvSpPr>
          <p:cNvPr id="187" name="Google Shape;187;p7"/>
          <p:cNvSpPr txBox="1">
            <a:spLocks noGrp="1"/>
          </p:cNvSpPr>
          <p:nvPr>
            <p:ph type="body" idx="1"/>
          </p:nvPr>
        </p:nvSpPr>
        <p:spPr>
          <a:xfrm>
            <a:off x="685800" y="1463040"/>
            <a:ext cx="3520440" cy="4572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320"/>
              </a:spcBef>
              <a:spcAft>
                <a:spcPts val="0"/>
              </a:spcAft>
              <a:buClr>
                <a:srgbClr val="00A9D8"/>
              </a:buClr>
              <a:buSzPts val="1600"/>
              <a:buFont typeface="Arial"/>
              <a:buNone/>
            </a:pPr>
            <a:r>
              <a:rPr lang="en-US"/>
              <a:t>Impacts of Unmanaged Charging</a:t>
            </a:r>
            <a:endParaRPr/>
          </a:p>
        </p:txBody>
      </p:sp>
      <p:sp>
        <p:nvSpPr>
          <p:cNvPr id="188" name="Google Shape;188;p7"/>
          <p:cNvSpPr txBox="1">
            <a:spLocks noGrp="1"/>
          </p:cNvSpPr>
          <p:nvPr>
            <p:ph type="body" idx="2"/>
          </p:nvPr>
        </p:nvSpPr>
        <p:spPr>
          <a:xfrm>
            <a:off x="685800" y="2011680"/>
            <a:ext cx="3520440" cy="2194560"/>
          </a:xfrm>
          <a:prstGeom prst="rect">
            <a:avLst/>
          </a:prstGeom>
          <a:noFill/>
          <a:ln>
            <a:noFill/>
          </a:ln>
        </p:spPr>
        <p:txBody>
          <a:bodyPr spcFirstLastPara="1" wrap="square" lIns="91425" tIns="45700" rIns="91425" bIns="45700" anchor="t" anchorCtr="0">
            <a:noAutofit/>
          </a:bodyPr>
          <a:lstStyle/>
          <a:p>
            <a:pPr marL="457200" marR="0" lvl="0" indent="-311150" algn="l" rtl="0">
              <a:lnSpc>
                <a:spcPct val="100000"/>
              </a:lnSpc>
              <a:spcBef>
                <a:spcPts val="260"/>
              </a:spcBef>
              <a:spcAft>
                <a:spcPts val="0"/>
              </a:spcAft>
              <a:buClr>
                <a:srgbClr val="173647"/>
              </a:buClr>
              <a:buSzPts val="1300"/>
              <a:buFont typeface="Arial"/>
              <a:buChar char="•"/>
            </a:pPr>
            <a:r>
              <a:rPr lang="en-US"/>
              <a:t>Peak Load Surges</a:t>
            </a:r>
            <a:endParaRPr/>
          </a:p>
          <a:p>
            <a:pPr marL="457200" marR="0" lvl="0" indent="-311150" algn="l" rtl="0">
              <a:lnSpc>
                <a:spcPct val="100000"/>
              </a:lnSpc>
              <a:spcBef>
                <a:spcPts val="260"/>
              </a:spcBef>
              <a:spcAft>
                <a:spcPts val="0"/>
              </a:spcAft>
              <a:buClr>
                <a:srgbClr val="173647"/>
              </a:buClr>
              <a:buSzPts val="1300"/>
              <a:buFont typeface="Arial"/>
              <a:buChar char="•"/>
            </a:pPr>
            <a:r>
              <a:rPr lang="en-US"/>
              <a:t>Increases System Costs</a:t>
            </a:r>
            <a:endParaRPr/>
          </a:p>
          <a:p>
            <a:pPr marL="457200" marR="0" lvl="0" indent="-311150" algn="l" rtl="0">
              <a:lnSpc>
                <a:spcPct val="100000"/>
              </a:lnSpc>
              <a:spcBef>
                <a:spcPts val="260"/>
              </a:spcBef>
              <a:spcAft>
                <a:spcPts val="0"/>
              </a:spcAft>
              <a:buClr>
                <a:srgbClr val="173647"/>
              </a:buClr>
              <a:buSzPts val="1300"/>
              <a:buFont typeface="Arial"/>
              <a:buChar char="•"/>
            </a:pPr>
            <a:r>
              <a:rPr lang="en-US"/>
              <a:t>Higher Emissions</a:t>
            </a:r>
            <a:endParaRPr/>
          </a:p>
        </p:txBody>
      </p:sp>
      <p:sp>
        <p:nvSpPr>
          <p:cNvPr id="189" name="Google Shape;189;p7"/>
          <p:cNvSpPr txBox="1">
            <a:spLocks noGrp="1"/>
          </p:cNvSpPr>
          <p:nvPr>
            <p:ph type="body" idx="3"/>
          </p:nvPr>
        </p:nvSpPr>
        <p:spPr>
          <a:xfrm>
            <a:off x="4937760" y="1463040"/>
            <a:ext cx="3520440" cy="4572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320"/>
              </a:spcBef>
              <a:spcAft>
                <a:spcPts val="0"/>
              </a:spcAft>
              <a:buClr>
                <a:srgbClr val="5DB474"/>
              </a:buClr>
              <a:buSzPts val="1600"/>
              <a:buFont typeface="Arial"/>
              <a:buNone/>
            </a:pPr>
            <a:r>
              <a:rPr lang="en-US"/>
              <a:t>Benefits of Managed &amp; Smart Charging</a:t>
            </a:r>
            <a:endParaRPr/>
          </a:p>
        </p:txBody>
      </p:sp>
      <p:sp>
        <p:nvSpPr>
          <p:cNvPr id="190" name="Google Shape;190;p7"/>
          <p:cNvSpPr txBox="1">
            <a:spLocks noGrp="1"/>
          </p:cNvSpPr>
          <p:nvPr>
            <p:ph type="body" idx="4"/>
          </p:nvPr>
        </p:nvSpPr>
        <p:spPr>
          <a:xfrm>
            <a:off x="4937760" y="2011680"/>
            <a:ext cx="3520440" cy="2194560"/>
          </a:xfrm>
          <a:prstGeom prst="rect">
            <a:avLst/>
          </a:prstGeom>
          <a:noFill/>
          <a:ln>
            <a:noFill/>
          </a:ln>
        </p:spPr>
        <p:txBody>
          <a:bodyPr spcFirstLastPara="1" wrap="square" lIns="91425" tIns="45700" rIns="91425" bIns="45700" anchor="t" anchorCtr="0">
            <a:noAutofit/>
          </a:bodyPr>
          <a:lstStyle/>
          <a:p>
            <a:pPr marL="457200" marR="0" lvl="0" indent="-311150" algn="l" rtl="0">
              <a:lnSpc>
                <a:spcPct val="100000"/>
              </a:lnSpc>
              <a:spcBef>
                <a:spcPts val="260"/>
              </a:spcBef>
              <a:spcAft>
                <a:spcPts val="0"/>
              </a:spcAft>
              <a:buClr>
                <a:srgbClr val="173647"/>
              </a:buClr>
              <a:buSzPts val="1300"/>
              <a:buFont typeface="Arial"/>
              <a:buChar char="•"/>
            </a:pPr>
            <a:r>
              <a:rPr lang="en-US"/>
              <a:t>Daytime Solar Absorption</a:t>
            </a:r>
            <a:endParaRPr/>
          </a:p>
          <a:p>
            <a:pPr marL="457200" marR="0" lvl="0" indent="-311150" algn="l" rtl="0">
              <a:lnSpc>
                <a:spcPct val="100000"/>
              </a:lnSpc>
              <a:spcBef>
                <a:spcPts val="260"/>
              </a:spcBef>
              <a:spcAft>
                <a:spcPts val="0"/>
              </a:spcAft>
              <a:buClr>
                <a:srgbClr val="173647"/>
              </a:buClr>
              <a:buSzPts val="1300"/>
              <a:buFont typeface="Arial"/>
              <a:buChar char="•"/>
            </a:pPr>
            <a:r>
              <a:rPr lang="en-US"/>
              <a:t>Off-Peak Overnight Recovery</a:t>
            </a:r>
            <a:endParaRPr/>
          </a:p>
          <a:p>
            <a:pPr marL="457200" marR="0" lvl="0" indent="-311150" algn="l" rtl="0">
              <a:lnSpc>
                <a:spcPct val="100000"/>
              </a:lnSpc>
              <a:spcBef>
                <a:spcPts val="260"/>
              </a:spcBef>
              <a:spcAft>
                <a:spcPts val="0"/>
              </a:spcAft>
              <a:buClr>
                <a:srgbClr val="173647"/>
              </a:buClr>
              <a:buSzPts val="1300"/>
              <a:buFont typeface="Arial"/>
              <a:buChar char="•"/>
            </a:pPr>
            <a:r>
              <a:rPr lang="en-US"/>
              <a:t>Peak Demand Mitigation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9"/>
          <p:cNvSpPr txBox="1">
            <a:spLocks noGrp="1"/>
          </p:cNvSpPr>
          <p:nvPr>
            <p:ph type="title"/>
          </p:nvPr>
        </p:nvSpPr>
        <p:spPr>
          <a:xfrm>
            <a:off x="457200" y="365760"/>
            <a:ext cx="8229600" cy="73152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B3F63"/>
              </a:buClr>
              <a:buSzPts val="2600"/>
              <a:buFont typeface="Montserrat"/>
              <a:buNone/>
            </a:pPr>
            <a:r>
              <a:rPr lang="en-US" sz="2000"/>
              <a:t>Charging behaviour can lower environmental and financial costs</a:t>
            </a:r>
            <a:endParaRPr/>
          </a:p>
        </p:txBody>
      </p:sp>
      <p:sp>
        <p:nvSpPr>
          <p:cNvPr id="216" name="Google Shape;216;p9"/>
          <p:cNvSpPr txBox="1">
            <a:spLocks noGrp="1"/>
          </p:cNvSpPr>
          <p:nvPr>
            <p:ph type="body" idx="1"/>
          </p:nvPr>
        </p:nvSpPr>
        <p:spPr>
          <a:xfrm>
            <a:off x="685800" y="1417320"/>
            <a:ext cx="2194560" cy="914400"/>
          </a:xfrm>
          <a:prstGeom prst="rect">
            <a:avLst/>
          </a:prstGeom>
          <a:noFill/>
          <a:ln>
            <a:noFill/>
          </a:ln>
        </p:spPr>
        <p:txBody>
          <a:bodyPr spcFirstLastPara="1" wrap="square" lIns="91425" tIns="45700" rIns="91425" bIns="45700" anchor="t" anchorCtr="0">
            <a:noAutofit/>
          </a:bodyPr>
          <a:lstStyle/>
          <a:p>
            <a:pPr marL="457200" lvl="0" indent="-228600" algn="r" rtl="0">
              <a:lnSpc>
                <a:spcPct val="100000"/>
              </a:lnSpc>
              <a:spcBef>
                <a:spcPts val="600"/>
              </a:spcBef>
              <a:spcAft>
                <a:spcPts val="0"/>
              </a:spcAft>
              <a:buSzPts val="3000"/>
              <a:buNone/>
            </a:pPr>
            <a:r>
              <a:rPr lang="en-US" sz="2000"/>
              <a:t>Stay out of rush hour</a:t>
            </a:r>
            <a:endParaRPr sz="2000"/>
          </a:p>
        </p:txBody>
      </p:sp>
      <p:sp>
        <p:nvSpPr>
          <p:cNvPr id="217" name="Google Shape;217;p9"/>
          <p:cNvSpPr txBox="1">
            <a:spLocks noGrp="1"/>
          </p:cNvSpPr>
          <p:nvPr>
            <p:ph type="body" idx="2"/>
          </p:nvPr>
        </p:nvSpPr>
        <p:spPr>
          <a:xfrm>
            <a:off x="685800" y="2377440"/>
            <a:ext cx="2194560" cy="685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240"/>
              </a:spcBef>
              <a:spcAft>
                <a:spcPts val="0"/>
              </a:spcAft>
              <a:buClr>
                <a:srgbClr val="173647"/>
              </a:buClr>
              <a:buSzPts val="1200"/>
              <a:buFont typeface="Arial"/>
              <a:buNone/>
            </a:pPr>
            <a:endParaRPr/>
          </a:p>
        </p:txBody>
      </p:sp>
      <p:sp>
        <p:nvSpPr>
          <p:cNvPr id="218" name="Google Shape;218;p9"/>
          <p:cNvSpPr txBox="1">
            <a:spLocks noGrp="1"/>
          </p:cNvSpPr>
          <p:nvPr>
            <p:ph type="body" idx="3"/>
          </p:nvPr>
        </p:nvSpPr>
        <p:spPr>
          <a:xfrm>
            <a:off x="3474720" y="1417320"/>
            <a:ext cx="2194560" cy="914400"/>
          </a:xfrm>
          <a:prstGeom prst="rect">
            <a:avLst/>
          </a:prstGeom>
          <a:noFill/>
          <a:ln>
            <a:noFill/>
          </a:ln>
        </p:spPr>
        <p:txBody>
          <a:bodyPr spcFirstLastPara="1" wrap="square" lIns="91425" tIns="45700" rIns="91425" bIns="45700" anchor="t" anchorCtr="0">
            <a:noAutofit/>
          </a:bodyPr>
          <a:lstStyle/>
          <a:p>
            <a:pPr marL="457200" lvl="0" indent="-228600" algn="r" rtl="0">
              <a:lnSpc>
                <a:spcPct val="100000"/>
              </a:lnSpc>
              <a:spcBef>
                <a:spcPts val="600"/>
              </a:spcBef>
              <a:spcAft>
                <a:spcPts val="0"/>
              </a:spcAft>
              <a:buSzPts val="3000"/>
              <a:buNone/>
            </a:pPr>
            <a:r>
              <a:rPr lang="en-US" sz="2000"/>
              <a:t>Charge with the sun</a:t>
            </a:r>
            <a:endParaRPr/>
          </a:p>
        </p:txBody>
      </p:sp>
      <p:sp>
        <p:nvSpPr>
          <p:cNvPr id="219" name="Google Shape;219;p9"/>
          <p:cNvSpPr txBox="1">
            <a:spLocks noGrp="1"/>
          </p:cNvSpPr>
          <p:nvPr>
            <p:ph type="body" idx="4"/>
          </p:nvPr>
        </p:nvSpPr>
        <p:spPr>
          <a:xfrm>
            <a:off x="3474720" y="2377440"/>
            <a:ext cx="2194560" cy="685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240"/>
              </a:spcBef>
              <a:spcAft>
                <a:spcPts val="0"/>
              </a:spcAft>
              <a:buClr>
                <a:srgbClr val="173647"/>
              </a:buClr>
              <a:buSzPts val="1200"/>
              <a:buFont typeface="Arial"/>
              <a:buNone/>
            </a:pPr>
            <a:endParaRPr/>
          </a:p>
        </p:txBody>
      </p:sp>
      <p:sp>
        <p:nvSpPr>
          <p:cNvPr id="220" name="Google Shape;220;p9"/>
          <p:cNvSpPr txBox="1">
            <a:spLocks noGrp="1"/>
          </p:cNvSpPr>
          <p:nvPr>
            <p:ph type="body" idx="5"/>
          </p:nvPr>
        </p:nvSpPr>
        <p:spPr>
          <a:xfrm>
            <a:off x="6263640" y="1417320"/>
            <a:ext cx="2194560" cy="914400"/>
          </a:xfrm>
          <a:prstGeom prst="rect">
            <a:avLst/>
          </a:prstGeom>
          <a:noFill/>
          <a:ln>
            <a:noFill/>
          </a:ln>
        </p:spPr>
        <p:txBody>
          <a:bodyPr spcFirstLastPara="1" wrap="square" lIns="91425" tIns="45700" rIns="91425" bIns="45700" anchor="t" anchorCtr="0">
            <a:noAutofit/>
          </a:bodyPr>
          <a:lstStyle/>
          <a:p>
            <a:pPr marL="457200" lvl="0" indent="-228600" algn="r" rtl="0">
              <a:lnSpc>
                <a:spcPct val="100000"/>
              </a:lnSpc>
              <a:spcBef>
                <a:spcPts val="600"/>
              </a:spcBef>
              <a:spcAft>
                <a:spcPts val="0"/>
              </a:spcAft>
              <a:buSzPts val="3000"/>
              <a:buNone/>
            </a:pPr>
            <a:r>
              <a:rPr lang="en-US" sz="2000"/>
              <a:t>Give back (V2G)</a:t>
            </a:r>
            <a:endParaRPr/>
          </a:p>
        </p:txBody>
      </p:sp>
      <p:sp>
        <p:nvSpPr>
          <p:cNvPr id="221" name="Google Shape;221;p9"/>
          <p:cNvSpPr txBox="1">
            <a:spLocks noGrp="1"/>
          </p:cNvSpPr>
          <p:nvPr>
            <p:ph type="body" idx="6"/>
          </p:nvPr>
        </p:nvSpPr>
        <p:spPr>
          <a:xfrm>
            <a:off x="6263640" y="2377440"/>
            <a:ext cx="2194560" cy="6858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240"/>
              </a:spcBef>
              <a:spcAft>
                <a:spcPts val="0"/>
              </a:spcAft>
              <a:buClr>
                <a:srgbClr val="173647"/>
              </a:buClr>
              <a:buSzPts val="1200"/>
              <a:buFont typeface="Arial"/>
              <a:buNone/>
            </a:pPr>
            <a:endParaRPr/>
          </a:p>
        </p:txBody>
      </p:sp>
      <p:sp>
        <p:nvSpPr>
          <p:cNvPr id="222" name="Google Shape;222;p9"/>
          <p:cNvSpPr txBox="1">
            <a:spLocks noGrp="1"/>
          </p:cNvSpPr>
          <p:nvPr>
            <p:ph type="body" idx="7"/>
          </p:nvPr>
        </p:nvSpPr>
        <p:spPr>
          <a:xfrm>
            <a:off x="457200" y="3474720"/>
            <a:ext cx="8229600" cy="9144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300"/>
              </a:spcBef>
              <a:spcAft>
                <a:spcPts val="0"/>
              </a:spcAft>
              <a:buClr>
                <a:srgbClr val="0B3F63"/>
              </a:buClr>
              <a:buSzPts val="1500"/>
              <a:buFont typeface="Arial"/>
              <a:buNone/>
            </a:pPr>
            <a:endParaRPr/>
          </a:p>
        </p:txBody>
      </p:sp>
      <p:sp>
        <p:nvSpPr>
          <p:cNvPr id="223" name="Google Shape;223;p9"/>
          <p:cNvSpPr txBox="1">
            <a:spLocks noGrp="1"/>
          </p:cNvSpPr>
          <p:nvPr>
            <p:ph type="sldNum" idx="12"/>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6B7C8A"/>
                </a:solidFill>
                <a:latin typeface="Montserrat"/>
                <a:ea typeface="Montserrat"/>
                <a:cs typeface="Montserrat"/>
                <a:sym typeface="Montserrat"/>
              </a:rPr>
              <a:t>13</a:t>
            </a:fld>
            <a:endParaRPr sz="900" b="0" i="0" u="none" strike="noStrike" cap="none">
              <a:solidFill>
                <a:srgbClr val="6B7C8A"/>
              </a:solidFill>
              <a:latin typeface="Montserrat"/>
              <a:ea typeface="Montserrat"/>
              <a:cs typeface="Montserrat"/>
              <a:sym typeface="Montserrat"/>
            </a:endParaRPr>
          </a:p>
        </p:txBody>
      </p:sp>
      <p:sp>
        <p:nvSpPr>
          <p:cNvPr id="224" name="Google Shape;224;p9"/>
          <p:cNvSpPr txBox="1"/>
          <p:nvPr/>
        </p:nvSpPr>
        <p:spPr>
          <a:xfrm>
            <a:off x="2876550" y="4608850"/>
            <a:ext cx="552450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700"/>
              <a:buFont typeface="Arial"/>
              <a:buNone/>
            </a:pPr>
            <a:r>
              <a:rPr lang="en-US" sz="700" b="0" i="0" u="none" strike="noStrike" cap="none">
                <a:solidFill>
                  <a:srgbClr val="000000"/>
                </a:solidFill>
                <a:latin typeface="Montserrat"/>
                <a:ea typeface="Montserrat"/>
                <a:cs typeface="Montserrat"/>
                <a:sym typeface="Montserrat"/>
              </a:rPr>
              <a:t>Source: Australian Electricity Market Operator. “2026 Integrated System Plan (ISP).” June 25, 2026. </a:t>
            </a:r>
            <a:r>
              <a:rPr lang="en-US" sz="700" b="0" i="0" u="sng" strike="noStrike" cap="none">
                <a:solidFill>
                  <a:srgbClr val="000000"/>
                </a:solid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https://www.aemo.com.au/energy-systems/major-publications/integrated-system-plan-isp/2026-integrated-system-plan-isp</a:t>
            </a:r>
            <a:r>
              <a:rPr lang="en-US" sz="700" b="0" i="0" u="none" strike="noStrike" cap="none">
                <a:solidFill>
                  <a:srgbClr val="000000"/>
                </a:solidFill>
                <a:latin typeface="Montserrat"/>
                <a:ea typeface="Montserrat"/>
                <a:cs typeface="Montserrat"/>
                <a:sym typeface="Montserrat"/>
              </a:rPr>
              <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700"/>
              <a:buFont typeface="Arial"/>
              <a:buNone/>
            </a:pPr>
            <a:r>
              <a:rPr lang="en-US" sz="700" b="0" i="0" u="none" strike="noStrike" cap="none">
                <a:solidFill>
                  <a:srgbClr val="000000"/>
                </a:solidFill>
                <a:latin typeface="Montserrat"/>
                <a:ea typeface="Montserrat"/>
                <a:cs typeface="Montserrat"/>
                <a:sym typeface="Montserrat"/>
              </a:rPr>
              <a:t> </a:t>
            </a:r>
            <a:endParaRPr sz="1400" b="0" i="0" u="none" strike="noStrike" cap="none">
              <a:solidFill>
                <a:srgbClr val="000000"/>
              </a:solidFill>
              <a:latin typeface="Arial"/>
              <a:ea typeface="Arial"/>
              <a:cs typeface="Arial"/>
              <a:sym typeface="Arial"/>
            </a:endParaRPr>
          </a:p>
        </p:txBody>
      </p:sp>
      <p:pic>
        <p:nvPicPr>
          <p:cNvPr id="225" name="Google Shape;225;p9"/>
          <p:cNvPicPr preferRelativeResize="0"/>
          <p:nvPr/>
        </p:nvPicPr>
        <p:blipFill rotWithShape="1">
          <a:blip r:embed="rId4">
            <a:alphaModFix/>
          </a:blip>
          <a:srcRect l="1988" t="4293" r="71891" b="50182"/>
          <a:stretch/>
        </p:blipFill>
        <p:spPr>
          <a:xfrm>
            <a:off x="383200" y="1249975"/>
            <a:ext cx="1185444" cy="1162149"/>
          </a:xfrm>
          <a:prstGeom prst="rect">
            <a:avLst/>
          </a:prstGeom>
          <a:noFill/>
          <a:ln>
            <a:noFill/>
          </a:ln>
        </p:spPr>
      </p:pic>
      <p:pic>
        <p:nvPicPr>
          <p:cNvPr id="226" name="Google Shape;226;p9"/>
          <p:cNvPicPr preferRelativeResize="0"/>
          <p:nvPr/>
        </p:nvPicPr>
        <p:blipFill rotWithShape="1">
          <a:blip r:embed="rId4">
            <a:alphaModFix/>
          </a:blip>
          <a:srcRect l="27463" r="44520" b="50908"/>
          <a:stretch/>
        </p:blipFill>
        <p:spPr>
          <a:xfrm>
            <a:off x="3180088" y="1196649"/>
            <a:ext cx="1185449" cy="1268813"/>
          </a:xfrm>
          <a:prstGeom prst="rect">
            <a:avLst/>
          </a:prstGeom>
          <a:noFill/>
          <a:ln>
            <a:noFill/>
          </a:ln>
        </p:spPr>
      </p:pic>
      <p:pic>
        <p:nvPicPr>
          <p:cNvPr id="227" name="Google Shape;227;p9"/>
          <p:cNvPicPr preferRelativeResize="0"/>
          <p:nvPr/>
        </p:nvPicPr>
        <p:blipFill rotWithShape="1">
          <a:blip r:embed="rId4">
            <a:alphaModFix/>
          </a:blip>
          <a:srcRect l="8732" t="47670" r="52163" b="5640"/>
          <a:stretch/>
        </p:blipFill>
        <p:spPr>
          <a:xfrm>
            <a:off x="6015300" y="1249976"/>
            <a:ext cx="1730560" cy="116214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0"/>
          <p:cNvSpPr txBox="1">
            <a:spLocks noGrp="1"/>
          </p:cNvSpPr>
          <p:nvPr>
            <p:ph type="body" idx="1"/>
          </p:nvPr>
        </p:nvSpPr>
        <p:spPr>
          <a:xfrm>
            <a:off x="548640" y="1188720"/>
            <a:ext cx="2743200" cy="128016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rgbClr val="FFFFFF"/>
              </a:buClr>
              <a:buSzPts val="7200"/>
              <a:buNone/>
            </a:pPr>
            <a:r>
              <a:rPr lang="en-US" sz="7200" b="1">
                <a:solidFill>
                  <a:srgbClr val="FFFFFF"/>
                </a:solidFill>
                <a:latin typeface="Montserrat"/>
                <a:ea typeface="Montserrat"/>
                <a:cs typeface="Montserrat"/>
                <a:sym typeface="Montserrat"/>
              </a:rPr>
              <a:t>02</a:t>
            </a:r>
            <a:endParaRPr sz="7200"/>
          </a:p>
        </p:txBody>
      </p:sp>
      <p:sp>
        <p:nvSpPr>
          <p:cNvPr id="165" name="Google Shape;165;p30"/>
          <p:cNvSpPr txBox="1">
            <a:spLocks noGrp="1"/>
          </p:cNvSpPr>
          <p:nvPr>
            <p:ph type="title"/>
          </p:nvPr>
        </p:nvSpPr>
        <p:spPr>
          <a:xfrm>
            <a:off x="548640" y="2560320"/>
            <a:ext cx="7498080" cy="914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FFFFFF"/>
              </a:buClr>
              <a:buSzPts val="3200"/>
              <a:buFont typeface="Montserrat"/>
              <a:buNone/>
            </a:pPr>
            <a:r>
              <a:rPr lang="en-US"/>
              <a:t>Will EVs delay the coal exit or lock us into gas?</a:t>
            </a:r>
            <a:endParaRPr sz="3200"/>
          </a:p>
        </p:txBody>
      </p:sp>
      <p:sp>
        <p:nvSpPr>
          <p:cNvPr id="166" name="Google Shape;166;p30"/>
          <p:cNvSpPr txBox="1">
            <a:spLocks noGrp="1"/>
          </p:cNvSpPr>
          <p:nvPr>
            <p:ph type="body" idx="2"/>
          </p:nvPr>
        </p:nvSpPr>
        <p:spPr>
          <a:xfrm>
            <a:off x="548640" y="3566160"/>
            <a:ext cx="6858000" cy="73152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FFFFFF"/>
              </a:buClr>
              <a:buSzPts val="1400"/>
              <a:buNone/>
            </a:pPr>
            <a:r>
              <a:rPr lang="en-US"/>
              <a:t>Demand growth versus the 2029-30 coal retirement and firming needs</a:t>
            </a:r>
            <a:endParaRPr sz="1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1"/>
          <p:cNvSpPr txBox="1">
            <a:spLocks noGrp="1"/>
          </p:cNvSpPr>
          <p:nvPr>
            <p:ph type="title"/>
          </p:nvPr>
        </p:nvSpPr>
        <p:spPr>
          <a:xfrm>
            <a:off x="457200" y="365760"/>
            <a:ext cx="8229600" cy="73152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B3F63"/>
              </a:buClr>
              <a:buSzPts val="2600"/>
              <a:buFont typeface="Montserrat"/>
              <a:buNone/>
            </a:pPr>
            <a:r>
              <a:rPr lang="en-US"/>
              <a:t>Q2  |  Coal exit is driven by policy and economics, not EV demand</a:t>
            </a:r>
            <a:endParaRPr sz="2600"/>
          </a:p>
        </p:txBody>
      </p:sp>
      <p:sp>
        <p:nvSpPr>
          <p:cNvPr id="172" name="Google Shape;172;p31"/>
          <p:cNvSpPr txBox="1">
            <a:spLocks noGrp="1"/>
          </p:cNvSpPr>
          <p:nvPr>
            <p:ph type="body" idx="1"/>
          </p:nvPr>
        </p:nvSpPr>
        <p:spPr>
          <a:xfrm>
            <a:off x="457200" y="1280160"/>
            <a:ext cx="3931920" cy="41148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0A9D8"/>
              </a:buClr>
              <a:buSzPts val="1600"/>
              <a:buNone/>
            </a:pPr>
            <a:r>
              <a:rPr lang="en-US"/>
              <a:t>What actually sets the coal exit date</a:t>
            </a:r>
            <a:endParaRPr sz="1600"/>
          </a:p>
        </p:txBody>
      </p:sp>
      <p:sp>
        <p:nvSpPr>
          <p:cNvPr id="173" name="Google Shape;173;p31"/>
          <p:cNvSpPr txBox="1">
            <a:spLocks noGrp="1"/>
          </p:cNvSpPr>
          <p:nvPr>
            <p:ph type="body" idx="2"/>
          </p:nvPr>
        </p:nvSpPr>
        <p:spPr>
          <a:xfrm>
            <a:off x="457200" y="1783080"/>
            <a:ext cx="3931920" cy="2606040"/>
          </a:xfrm>
          <a:prstGeom prst="rect">
            <a:avLst/>
          </a:prstGeom>
          <a:noFill/>
          <a:ln>
            <a:noFill/>
          </a:ln>
        </p:spPr>
        <p:txBody>
          <a:bodyPr spcFirstLastPara="1" wrap="square" lIns="0" tIns="0" rIns="0" bIns="0" anchor="t" anchorCtr="0">
            <a:noAutofit/>
          </a:bodyPr>
          <a:lstStyle/>
          <a:p>
            <a:pPr marL="342900" lvl="0" indent="-342900" algn="l" rtl="0">
              <a:lnSpc>
                <a:spcPct val="100000"/>
              </a:lnSpc>
              <a:spcBef>
                <a:spcPts val="880"/>
              </a:spcBef>
              <a:spcAft>
                <a:spcPts val="0"/>
              </a:spcAft>
              <a:buClr>
                <a:srgbClr val="173647"/>
              </a:buClr>
              <a:buSzPts val="1400"/>
              <a:buChar char="•"/>
            </a:pPr>
            <a:r>
              <a:rPr lang="en-US" sz="1200" dirty="0"/>
              <a:t>State-owned coal retirements (WA Government, 2022): Collie late 2027, Muja D late 2029</a:t>
            </a:r>
            <a:endParaRPr sz="1400" dirty="0"/>
          </a:p>
          <a:p>
            <a:pPr marL="342900" lvl="0" indent="-342900" algn="l" rtl="0">
              <a:lnSpc>
                <a:spcPct val="100000"/>
              </a:lnSpc>
              <a:spcBef>
                <a:spcPts val="880"/>
              </a:spcBef>
              <a:spcAft>
                <a:spcPts val="0"/>
              </a:spcAft>
              <a:buClr>
                <a:srgbClr val="173647"/>
              </a:buClr>
              <a:buSzPts val="1400"/>
              <a:buChar char="•"/>
            </a:pPr>
            <a:r>
              <a:rPr lang="en-US" sz="1200" dirty="0"/>
              <a:t>Committed firming (ESOO 2026): 1,666 MW of batteries by 2028-29, plus 1,119 MW of generation and storage by 2030-31</a:t>
            </a:r>
            <a:endParaRPr sz="1400" dirty="0"/>
          </a:p>
          <a:p>
            <a:pPr marL="342900" lvl="0" indent="-342900" algn="l" rtl="0">
              <a:lnSpc>
                <a:spcPct val="100000"/>
              </a:lnSpc>
              <a:spcBef>
                <a:spcPts val="880"/>
              </a:spcBef>
              <a:spcAft>
                <a:spcPts val="0"/>
              </a:spcAft>
              <a:buClr>
                <a:srgbClr val="173647"/>
              </a:buClr>
              <a:buSzPts val="1400"/>
              <a:buChar char="•"/>
            </a:pPr>
            <a:r>
              <a:rPr lang="en-US" sz="1200" dirty="0"/>
              <a:t>Coal units are ageing and increasingly uneconomic in a solar-heavy midday market</a:t>
            </a:r>
            <a:endParaRPr sz="1400" dirty="0"/>
          </a:p>
        </p:txBody>
      </p:sp>
      <p:sp>
        <p:nvSpPr>
          <p:cNvPr id="174" name="Google Shape;174;p31"/>
          <p:cNvSpPr txBox="1">
            <a:spLocks noGrp="1"/>
          </p:cNvSpPr>
          <p:nvPr>
            <p:ph type="body" idx="3"/>
          </p:nvPr>
        </p:nvSpPr>
        <p:spPr>
          <a:xfrm>
            <a:off x="4754880" y="1280160"/>
            <a:ext cx="3931920" cy="41148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5DB474"/>
              </a:buClr>
              <a:buSzPts val="1600"/>
              <a:buNone/>
            </a:pPr>
            <a:r>
              <a:rPr lang="en-US"/>
              <a:t>What EVs add to that picture</a:t>
            </a:r>
            <a:endParaRPr sz="1600"/>
          </a:p>
        </p:txBody>
      </p:sp>
      <p:sp>
        <p:nvSpPr>
          <p:cNvPr id="175" name="Google Shape;175;p31"/>
          <p:cNvSpPr txBox="1">
            <a:spLocks noGrp="1"/>
          </p:cNvSpPr>
          <p:nvPr>
            <p:ph type="body" idx="4"/>
          </p:nvPr>
        </p:nvSpPr>
        <p:spPr>
          <a:xfrm>
            <a:off x="4754880" y="1783080"/>
            <a:ext cx="3931920" cy="2606040"/>
          </a:xfrm>
          <a:prstGeom prst="rect">
            <a:avLst/>
          </a:prstGeom>
          <a:noFill/>
          <a:ln>
            <a:noFill/>
          </a:ln>
        </p:spPr>
        <p:txBody>
          <a:bodyPr spcFirstLastPara="1" wrap="square" lIns="0" tIns="0" rIns="0" bIns="0" anchor="t" anchorCtr="0">
            <a:noAutofit/>
          </a:bodyPr>
          <a:lstStyle/>
          <a:p>
            <a:pPr marL="342900" lvl="0" indent="-342900">
              <a:spcBef>
                <a:spcPts val="880"/>
              </a:spcBef>
            </a:pPr>
            <a:r>
              <a:rPr lang="en-US" sz="1200" dirty="0"/>
              <a:t>EV energy in 2029-30: 395 GWh (Slower Growth), 491 (Step Change) or 542 (Accelerated Transition), vs SWIS ~19,900 GWh</a:t>
            </a:r>
            <a:endParaRPr sz="1400" dirty="0"/>
          </a:p>
          <a:p>
            <a:pPr marL="342900" lvl="0" indent="-342900" algn="l" rtl="0">
              <a:lnSpc>
                <a:spcPct val="100000"/>
              </a:lnSpc>
              <a:spcBef>
                <a:spcPts val="880"/>
              </a:spcBef>
              <a:spcAft>
                <a:spcPts val="0"/>
              </a:spcAft>
              <a:buClr>
                <a:srgbClr val="173647"/>
              </a:buClr>
              <a:buSzPts val="1400"/>
              <a:buChar char="•"/>
            </a:pPr>
            <a:r>
              <a:rPr lang="en-US" sz="1200" dirty="0"/>
              <a:t>Charged in daylight, EVs soak up solar that currently forces coal to cycle or curtail</a:t>
            </a:r>
            <a:endParaRPr sz="1400" dirty="0"/>
          </a:p>
          <a:p>
            <a:pPr marL="342900" lvl="0" indent="-342900" algn="l" rtl="0">
              <a:lnSpc>
                <a:spcPct val="100000"/>
              </a:lnSpc>
              <a:spcBef>
                <a:spcPts val="880"/>
              </a:spcBef>
              <a:spcAft>
                <a:spcPts val="0"/>
              </a:spcAft>
              <a:buClr>
                <a:srgbClr val="173647"/>
              </a:buClr>
              <a:buSzPts val="1400"/>
              <a:buChar char="•"/>
            </a:pPr>
            <a:r>
              <a:rPr lang="en-US" sz="1200" dirty="0"/>
              <a:t>Charged at the evening peak, EVs add to the firming task (committed supply includes 3,127 MW of gas)</a:t>
            </a:r>
            <a:endParaRPr sz="1400" dirty="0"/>
          </a:p>
          <a:p>
            <a:pPr marL="342900" lvl="0" indent="-342900" algn="l" rtl="0">
              <a:lnSpc>
                <a:spcPct val="100000"/>
              </a:lnSpc>
              <a:spcBef>
                <a:spcPts val="880"/>
              </a:spcBef>
              <a:spcAft>
                <a:spcPts val="0"/>
              </a:spcAft>
              <a:buClr>
                <a:srgbClr val="173647"/>
              </a:buClr>
              <a:buSzPts val="1400"/>
              <a:buChar char="•"/>
            </a:pPr>
            <a:r>
              <a:rPr lang="en-US" sz="1200" dirty="0"/>
              <a:t>Gas is already the swing resource; EVs shift its hours, not its need  [placeholder: SIREN run]</a:t>
            </a:r>
            <a:endParaRPr sz="1400" dirty="0"/>
          </a:p>
        </p:txBody>
      </p:sp>
      <p:sp>
        <p:nvSpPr>
          <p:cNvPr id="176" name="Google Shape;176;p31"/>
          <p:cNvSpPr txBox="1">
            <a:spLocks noGrp="1"/>
          </p:cNvSpPr>
          <p:nvPr>
            <p:ph type="sldNum" idx="4294967295"/>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6B7C8A"/>
                </a:solidFill>
                <a:latin typeface="Montserrat"/>
                <a:ea typeface="Montserrat"/>
                <a:cs typeface="Montserrat"/>
                <a:sym typeface="Montserrat"/>
              </a:rPr>
              <a:t>15</a:t>
            </a:fld>
            <a:endParaRPr sz="900" b="0" i="0" u="none" strike="noStrike" cap="none">
              <a:solidFill>
                <a:srgbClr val="6B7C8A"/>
              </a:solidFill>
              <a:latin typeface="Montserrat"/>
              <a:ea typeface="Montserrat"/>
              <a:cs typeface="Montserrat"/>
              <a:sym typeface="Montserrat"/>
            </a:endParaRPr>
          </a:p>
        </p:txBody>
      </p:sp>
      <p:sp>
        <p:nvSpPr>
          <p:cNvPr id="300" name="Source 300"/>
          <p:cNvSpPr txBox="1"/>
          <p:nvPr/>
        </p:nvSpPr>
        <p:spPr>
          <a:xfrm>
            <a:off x="2876550" y="4560000"/>
            <a:ext cx="5250000" cy="480000"/>
          </a:xfrm>
          <a:prstGeom prst="rect">
            <a:avLst/>
          </a:prstGeom>
          <a:noFill/>
          <a:ln>
            <a:noFill/>
          </a:ln>
        </p:spPr>
        <p:txBody>
          <a:bodyPr spcFirstLastPara="1" wrap="square" lIns="91425" tIns="45700" rIns="91425" bIns="45700" anchor="t" anchorCtr="0">
            <a:noAutofit/>
          </a:bodyPr>
          <a:lstStyle/>
          <a:p>
            <a:pPr marL="0" lvl="0" indent="0" algn="l" rtl="0">
              <a:buNone/>
            </a:pPr>
            <a:r>
              <a:rPr lang="en-US" sz="700" b="0" i="0">
                <a:solidFill>
                  <a:srgbClr val="000000"/>
                </a:solidFill>
                <a:latin typeface="Montserrat"/>
                <a:ea typeface="Montserrat"/>
                <a:cs typeface="Montserrat"/>
                <a:sym typeface="Montserrat"/>
              </a:rPr>
              <a:t>Source: WA Government, “State-owned coal power stations to be retired by 2030”, 14 June 2022 </a:t>
            </a:r>
            <a:r>
              <a:rPr lang="en-US" sz="700" b="0" i="0" u="sng">
                <a:solidFill>
                  <a:srgbClr val="000000"/>
                </a:solidFill>
                <a:latin typeface="Montserrat"/>
                <a:ea typeface="Montserrat"/>
                <a:cs typeface="Montserrat"/>
                <a:sym typeface="Montserrat"/>
                <a:hlinkClick r:id="rId3"/>
              </a:rPr>
              <a:t>(wa.gov.au)</a:t>
            </a:r>
            <a:r>
              <a:rPr lang="en-US" sz="700" b="0" i="0">
                <a:solidFill>
                  <a:srgbClr val="000000"/>
                </a:solidFill>
                <a:latin typeface="Montserrat"/>
                <a:ea typeface="Montserrat"/>
                <a:cs typeface="Montserrat"/>
                <a:sym typeface="Montserrat"/>
              </a:rPr>
              <a:t>; AEMO 2026 WEM ESOO (pp. 5, 59, 96); AEMO 2025 IASR EV workbook, WEM region. EV energy is BEV+PHEV; SWIS consumption is ESOO Expected, 2029-30.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32"/>
          <p:cNvSpPr txBox="1">
            <a:spLocks noGrp="1"/>
          </p:cNvSpPr>
          <p:nvPr>
            <p:ph type="title"/>
          </p:nvPr>
        </p:nvSpPr>
        <p:spPr>
          <a:xfrm>
            <a:off x="457200" y="365760"/>
            <a:ext cx="8229600" cy="73152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B3F63"/>
              </a:buClr>
              <a:buSzPts val="2600"/>
              <a:buFont typeface="Montserrat"/>
              <a:buNone/>
            </a:pPr>
            <a:r>
              <a:rPr lang="en-US" sz="2000"/>
              <a:t>Q2  |  When EVs charge matters more than how much they use</a:t>
            </a:r>
            <a:endParaRPr sz="2000"/>
          </a:p>
        </p:txBody>
      </p:sp>
      <p:sp>
        <p:nvSpPr>
          <p:cNvPr id="183" name="Google Shape;183;p32"/>
          <p:cNvSpPr txBox="1">
            <a:spLocks noGrp="1"/>
          </p:cNvSpPr>
          <p:nvPr>
            <p:ph type="body" idx="1"/>
          </p:nvPr>
        </p:nvSpPr>
        <p:spPr>
          <a:xfrm>
            <a:off x="6492240" y="1463040"/>
            <a:ext cx="2011680" cy="36576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0A9D8"/>
              </a:buClr>
              <a:buSzPts val="1300"/>
              <a:buNone/>
            </a:pPr>
            <a:r>
              <a:rPr lang="en-US" sz="1300" b="1">
                <a:solidFill>
                  <a:srgbClr val="00A9D8"/>
                </a:solidFill>
                <a:latin typeface="Montserrat"/>
                <a:ea typeface="Montserrat"/>
                <a:cs typeface="Montserrat"/>
                <a:sym typeface="Montserrat"/>
              </a:rPr>
              <a:t>Key takeaway</a:t>
            </a:r>
            <a:endParaRPr sz="1300"/>
          </a:p>
        </p:txBody>
      </p:sp>
      <p:sp>
        <p:nvSpPr>
          <p:cNvPr id="184" name="Google Shape;184;p32"/>
          <p:cNvSpPr txBox="1">
            <a:spLocks noGrp="1"/>
          </p:cNvSpPr>
          <p:nvPr>
            <p:ph type="body" idx="3"/>
          </p:nvPr>
        </p:nvSpPr>
        <p:spPr>
          <a:xfrm>
            <a:off x="6411595" y="1865102"/>
            <a:ext cx="2172970" cy="2377440"/>
          </a:xfrm>
          <a:prstGeom prst="rect">
            <a:avLst/>
          </a:prstGeom>
          <a:noFill/>
          <a:ln>
            <a:noFill/>
          </a:ln>
        </p:spPr>
        <p:txBody>
          <a:bodyPr spcFirstLastPara="1" wrap="square" lIns="0" tIns="0" rIns="0" bIns="0" anchor="t" anchorCtr="0">
            <a:normAutofit/>
          </a:bodyPr>
          <a:lstStyle/>
          <a:p>
            <a:pPr marL="0" lvl="0" indent="0" algn="l" rtl="0">
              <a:lnSpc>
                <a:spcPct val="100000"/>
              </a:lnSpc>
              <a:spcBef>
                <a:spcPts val="240"/>
              </a:spcBef>
              <a:spcAft>
                <a:spcPts val="0"/>
              </a:spcAft>
              <a:buSzPts val="1200"/>
              <a:buNone/>
            </a:pPr>
            <a:r>
              <a:rPr lang="en-US" sz="700" b="1">
                <a:solidFill>
                  <a:schemeClr val="dk1"/>
                </a:solidFill>
              </a:rPr>
              <a:t>Articulated Trucks dominate average load by an order of magnitude</a:t>
            </a:r>
            <a:r>
              <a:rPr lang="en-US" sz="700">
                <a:solidFill>
                  <a:schemeClr val="dk1"/>
                </a:solidFill>
              </a:rPr>
              <a:t>: averaging ~12–17 kW throughout the day vs. under 3 kW for every other category — reflecting much larger battery/charging capacity for heavy freight vehicles.</a:t>
            </a:r>
            <a:endParaRPr/>
          </a:p>
          <a:p>
            <a:pPr marL="0" lvl="0" indent="0" algn="l" rtl="0">
              <a:lnSpc>
                <a:spcPct val="100000"/>
              </a:lnSpc>
              <a:spcBef>
                <a:spcPts val="240"/>
              </a:spcBef>
              <a:spcAft>
                <a:spcPts val="0"/>
              </a:spcAft>
              <a:buSzPts val="1200"/>
              <a:buNone/>
            </a:pPr>
            <a:endParaRPr sz="700">
              <a:solidFill>
                <a:schemeClr val="dk1"/>
              </a:solidFill>
            </a:endParaRPr>
          </a:p>
          <a:p>
            <a:pPr marL="0" lvl="0" indent="0" algn="l" rtl="0">
              <a:lnSpc>
                <a:spcPct val="100000"/>
              </a:lnSpc>
              <a:spcBef>
                <a:spcPts val="240"/>
              </a:spcBef>
              <a:spcAft>
                <a:spcPts val="0"/>
              </a:spcAft>
              <a:buSzPts val="1200"/>
              <a:buNone/>
            </a:pPr>
            <a:r>
              <a:rPr lang="en-US" sz="700" b="1">
                <a:solidFill>
                  <a:schemeClr val="dk1"/>
                </a:solidFill>
              </a:rPr>
              <a:t>All segments share the same daily shape</a:t>
            </a:r>
            <a:r>
              <a:rPr lang="en-US" sz="700">
                <a:solidFill>
                  <a:schemeClr val="dk1"/>
                </a:solidFill>
              </a:rPr>
              <a:t>: a trough around </a:t>
            </a:r>
            <a:r>
              <a:rPr lang="en-US" sz="700" b="1">
                <a:solidFill>
                  <a:schemeClr val="dk1"/>
                </a:solidFill>
              </a:rPr>
              <a:t>5:00 AM</a:t>
            </a:r>
            <a:r>
              <a:rPr lang="en-US" sz="700">
                <a:solidFill>
                  <a:schemeClr val="dk1"/>
                </a:solidFill>
              </a:rPr>
              <a:t> and a peak around </a:t>
            </a:r>
            <a:r>
              <a:rPr lang="en-US" sz="700" b="1">
                <a:solidFill>
                  <a:schemeClr val="dk1"/>
                </a:solidFill>
              </a:rPr>
              <a:t>11:00 AM–12:30 PM</a:t>
            </a:r>
            <a:r>
              <a:rPr lang="en-US" sz="700">
                <a:solidFill>
                  <a:schemeClr val="dk1"/>
                </a:solidFill>
              </a:rPr>
              <a:t>, then a gradual decline into the evening before rising again — consistent with combined overnight off-peak + midday solar charging patterns rather than a single overnight-only profile.</a:t>
            </a:r>
            <a:endParaRPr/>
          </a:p>
          <a:p>
            <a:pPr marL="0" lvl="0" indent="0" algn="l" rtl="0">
              <a:lnSpc>
                <a:spcPct val="100000"/>
              </a:lnSpc>
              <a:spcBef>
                <a:spcPts val="240"/>
              </a:spcBef>
              <a:spcAft>
                <a:spcPts val="0"/>
              </a:spcAft>
              <a:buSzPts val="1200"/>
              <a:buNone/>
            </a:pPr>
            <a:endParaRPr sz="700">
              <a:solidFill>
                <a:schemeClr val="dk1"/>
              </a:solidFill>
            </a:endParaRPr>
          </a:p>
          <a:p>
            <a:pPr marL="0" lvl="0" indent="0" algn="l" rtl="0">
              <a:lnSpc>
                <a:spcPct val="100000"/>
              </a:lnSpc>
              <a:spcBef>
                <a:spcPts val="240"/>
              </a:spcBef>
              <a:spcAft>
                <a:spcPts val="0"/>
              </a:spcAft>
              <a:buSzPts val="1200"/>
              <a:buNone/>
            </a:pPr>
            <a:r>
              <a:rPr lang="en-US" sz="700" b="1">
                <a:solidFill>
                  <a:schemeClr val="dk1"/>
                </a:solidFill>
              </a:rPr>
              <a:t>Articulated Truck</a:t>
            </a:r>
            <a:r>
              <a:rPr lang="en-US" sz="700">
                <a:solidFill>
                  <a:schemeClr val="dk1"/>
                </a:solidFill>
              </a:rPr>
              <a:t> ranges from a low of ~7.0 kW (7:00 PM) to a high of ~17.2 kW (11:00AM) — more than double its trough, the widest swing of any category.</a:t>
            </a:r>
            <a:endParaRPr/>
          </a:p>
        </p:txBody>
      </p:sp>
      <p:sp>
        <p:nvSpPr>
          <p:cNvPr id="185" name="Google Shape;185;p32"/>
          <p:cNvSpPr txBox="1">
            <a:spLocks noGrp="1"/>
          </p:cNvSpPr>
          <p:nvPr>
            <p:ph type="sldNum" idx="4294967295"/>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6B7C8A"/>
                </a:solidFill>
                <a:latin typeface="Montserrat"/>
                <a:ea typeface="Montserrat"/>
                <a:cs typeface="Montserrat"/>
                <a:sym typeface="Montserrat"/>
              </a:rPr>
              <a:t>16</a:t>
            </a:fld>
            <a:endParaRPr sz="900" b="0" i="0" u="none" strike="noStrike" cap="none">
              <a:solidFill>
                <a:srgbClr val="6B7C8A"/>
              </a:solidFill>
              <a:latin typeface="Montserrat"/>
              <a:ea typeface="Montserrat"/>
              <a:cs typeface="Montserrat"/>
              <a:sym typeface="Montserrat"/>
            </a:endParaRPr>
          </a:p>
        </p:txBody>
      </p:sp>
      <p:sp>
        <p:nvSpPr>
          <p:cNvPr id="186" name="Google Shape;186;p32"/>
          <p:cNvSpPr txBox="1"/>
          <p:nvPr/>
        </p:nvSpPr>
        <p:spPr>
          <a:xfrm>
            <a:off x="2876550" y="4608850"/>
            <a:ext cx="5524500"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700" b="0" i="0" u="none" strike="noStrike" cap="none">
                <a:solidFill>
                  <a:srgbClr val="000000"/>
                </a:solidFill>
                <a:latin typeface="Montserrat"/>
                <a:ea typeface="Montserrat"/>
                <a:cs typeface="Montserrat"/>
                <a:sym typeface="Montserrat"/>
              </a:rPr>
              <a:t>Source: AEMO, 2025 Inputs, Assumptions and Scenarios Report (IASR), Electric Vehicle workbook, WEM region (CSIRO 2025 EV trajectories developed for AEMO). </a:t>
            </a:r>
            <a:r>
              <a:rPr lang="en-US" sz="700" b="0" i="0" u="sng" strike="noStrike" cap="none">
                <a:solidFill>
                  <a:srgbClr val="000000"/>
                </a:solid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https://www.aemo.com.au/…/2025-26-inputs-assumptions-and-scenarios</a:t>
            </a:r>
            <a:r>
              <a:rPr lang="en-US" sz="700" b="0" i="0" u="none" strike="noStrike" cap="none">
                <a:solidFill>
                  <a:srgbClr val="000000"/>
                </a:solidFill>
                <a:latin typeface="Montserrat"/>
                <a:ea typeface="Montserrat"/>
                <a:cs typeface="Montserrat"/>
                <a:sym typeface="Montserrat"/>
              </a:rPr>
              <a:t>.</a:t>
            </a:r>
            <a:endParaRPr/>
          </a:p>
          <a:p>
            <a:pPr marL="0" marR="0" lvl="0" indent="0" algn="l" rtl="0">
              <a:lnSpc>
                <a:spcPct val="100000"/>
              </a:lnSpc>
              <a:spcBef>
                <a:spcPts val="0"/>
              </a:spcBef>
              <a:spcAft>
                <a:spcPts val="0"/>
              </a:spcAft>
              <a:buNone/>
            </a:pPr>
            <a:r>
              <a:rPr lang="en-US" sz="700" b="0" i="0" u="none" strike="noStrike" cap="none">
                <a:solidFill>
                  <a:srgbClr val="000000"/>
                </a:solidFill>
                <a:latin typeface="Montserrat"/>
                <a:ea typeface="Montserrat"/>
                <a:cs typeface="Montserrat"/>
                <a:sym typeface="Montserrat"/>
              </a:rPr>
              <a:t> </a:t>
            </a:r>
            <a:endParaRPr/>
          </a:p>
        </p:txBody>
      </p:sp>
      <p:graphicFrame>
        <p:nvGraphicFramePr>
          <p:cNvPr id="187" name="Google Shape;187;p32"/>
          <p:cNvGraphicFramePr/>
          <p:nvPr/>
        </p:nvGraphicFramePr>
        <p:xfrm>
          <a:off x="311150" y="1008850"/>
          <a:ext cx="5760000" cy="360000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3"/>
          <p:cNvSpPr txBox="1">
            <a:spLocks noGrp="1"/>
          </p:cNvSpPr>
          <p:nvPr>
            <p:ph type="title"/>
          </p:nvPr>
        </p:nvSpPr>
        <p:spPr>
          <a:xfrm>
            <a:off x="457200" y="365760"/>
            <a:ext cx="8229600" cy="73152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B3F63"/>
              </a:buClr>
              <a:buSzPts val="2600"/>
              <a:buFont typeface="Montserrat"/>
              <a:buNone/>
            </a:pPr>
            <a:r>
              <a:rPr lang="en-US"/>
              <a:t>Q2  |  Transmission vs distribution: the constraint is local, not system-wide</a:t>
            </a:r>
            <a:endParaRPr sz="2600"/>
          </a:p>
        </p:txBody>
      </p:sp>
      <p:sp>
        <p:nvSpPr>
          <p:cNvPr id="193" name="Google Shape;193;p33"/>
          <p:cNvSpPr txBox="1">
            <a:spLocks noGrp="1"/>
          </p:cNvSpPr>
          <p:nvPr>
            <p:ph type="body" idx="1"/>
          </p:nvPr>
        </p:nvSpPr>
        <p:spPr>
          <a:xfrm>
            <a:off x="685800" y="1463040"/>
            <a:ext cx="3520440" cy="457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0A9D8"/>
              </a:buClr>
              <a:buSzPts val="1600"/>
              <a:buNone/>
            </a:pPr>
            <a:r>
              <a:rPr lang="en-US"/>
              <a:t>Transmission (Tx)</a:t>
            </a:r>
            <a:endParaRPr sz="1600"/>
          </a:p>
        </p:txBody>
      </p:sp>
      <p:sp>
        <p:nvSpPr>
          <p:cNvPr id="194" name="Google Shape;194;p33"/>
          <p:cNvSpPr txBox="1">
            <a:spLocks noGrp="1"/>
          </p:cNvSpPr>
          <p:nvPr>
            <p:ph type="body" idx="2"/>
          </p:nvPr>
        </p:nvSpPr>
        <p:spPr>
          <a:xfrm>
            <a:off x="685800" y="2011680"/>
            <a:ext cx="3520440" cy="2194560"/>
          </a:xfrm>
          <a:prstGeom prst="rect">
            <a:avLst/>
          </a:prstGeom>
          <a:noFill/>
          <a:ln>
            <a:noFill/>
          </a:ln>
        </p:spPr>
        <p:txBody>
          <a:bodyPr spcFirstLastPara="1" wrap="square" lIns="0" tIns="0" rIns="0" bIns="0" anchor="t" anchorCtr="0">
            <a:noAutofit/>
          </a:bodyPr>
          <a:lstStyle/>
          <a:p>
            <a:pPr marL="342900" lvl="0" indent="-342900" algn="l" rtl="0">
              <a:lnSpc>
                <a:spcPct val="100000"/>
              </a:lnSpc>
              <a:spcBef>
                <a:spcPts val="860"/>
              </a:spcBef>
              <a:spcAft>
                <a:spcPts val="0"/>
              </a:spcAft>
              <a:buClr>
                <a:srgbClr val="173647"/>
              </a:buClr>
              <a:buSzPts val="1300"/>
              <a:buChar char="•"/>
            </a:pPr>
            <a:r>
              <a:rPr lang="en-US" sz="1200"/>
              <a:t>Bulk system: EV energy is a modest share of SWIS demand (slides 6–9)</a:t>
            </a:r>
            <a:endParaRPr sz="1300"/>
          </a:p>
          <a:p>
            <a:pPr marL="342900" lvl="0" indent="-342900" algn="l" rtl="0">
              <a:lnSpc>
                <a:spcPct val="100000"/>
              </a:lnSpc>
              <a:spcBef>
                <a:spcPts val="860"/>
              </a:spcBef>
              <a:spcAft>
                <a:spcPts val="0"/>
              </a:spcAft>
              <a:buClr>
                <a:srgbClr val="173647"/>
              </a:buClr>
              <a:buSzPts val="1300"/>
              <a:buChar char="•"/>
            </a:pPr>
            <a:r>
              <a:rPr lang="en-US" sz="1200"/>
              <a:t>Daytime charging aligns with solar and eases midday minimum-demand problems</a:t>
            </a:r>
            <a:endParaRPr sz="1300"/>
          </a:p>
          <a:p>
            <a:pPr marL="342900" lvl="0" indent="-342900" algn="l" rtl="0">
              <a:lnSpc>
                <a:spcPct val="100000"/>
              </a:lnSpc>
              <a:spcBef>
                <a:spcPts val="860"/>
              </a:spcBef>
              <a:spcAft>
                <a:spcPts val="0"/>
              </a:spcAft>
              <a:buClr>
                <a:srgbClr val="173647"/>
              </a:buClr>
              <a:buSzPts val="1300"/>
              <a:buChar char="•"/>
            </a:pPr>
            <a:r>
              <a:rPr lang="en-US" sz="1200"/>
              <a:t>Headroom: ESOO 2026 forecasts a shortfall from 2029-30. By 2035-36 the peak capacity target is 7,454 MW vs 5,293 MW existing and committed (−2,161 MW)</a:t>
            </a:r>
            <a:endParaRPr sz="1300"/>
          </a:p>
        </p:txBody>
      </p:sp>
      <p:sp>
        <p:nvSpPr>
          <p:cNvPr id="195" name="Google Shape;195;p33"/>
          <p:cNvSpPr txBox="1">
            <a:spLocks noGrp="1"/>
          </p:cNvSpPr>
          <p:nvPr>
            <p:ph type="body" idx="3"/>
          </p:nvPr>
        </p:nvSpPr>
        <p:spPr>
          <a:xfrm>
            <a:off x="4937760" y="1463040"/>
            <a:ext cx="3520440" cy="457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5DB474"/>
              </a:buClr>
              <a:buSzPts val="1600"/>
              <a:buNone/>
            </a:pPr>
            <a:r>
              <a:rPr lang="en-US"/>
              <a:t>Distribution (Dx)</a:t>
            </a:r>
            <a:endParaRPr sz="1600"/>
          </a:p>
        </p:txBody>
      </p:sp>
      <p:sp>
        <p:nvSpPr>
          <p:cNvPr id="196" name="Google Shape;196;p33"/>
          <p:cNvSpPr txBox="1">
            <a:spLocks noGrp="1"/>
          </p:cNvSpPr>
          <p:nvPr>
            <p:ph type="body" idx="4"/>
          </p:nvPr>
        </p:nvSpPr>
        <p:spPr>
          <a:xfrm>
            <a:off x="4937760" y="2011680"/>
            <a:ext cx="3520440" cy="2194560"/>
          </a:xfrm>
          <a:prstGeom prst="rect">
            <a:avLst/>
          </a:prstGeom>
          <a:noFill/>
          <a:ln>
            <a:noFill/>
          </a:ln>
        </p:spPr>
        <p:txBody>
          <a:bodyPr spcFirstLastPara="1" wrap="square" lIns="0" tIns="0" rIns="0" bIns="0" anchor="t" anchorCtr="0">
            <a:noAutofit/>
          </a:bodyPr>
          <a:lstStyle/>
          <a:p>
            <a:pPr marL="342900" lvl="0" indent="-342900" algn="l" rtl="0">
              <a:lnSpc>
                <a:spcPct val="100000"/>
              </a:lnSpc>
              <a:spcBef>
                <a:spcPts val="860"/>
              </a:spcBef>
              <a:spcAft>
                <a:spcPts val="0"/>
              </a:spcAft>
              <a:buClr>
                <a:srgbClr val="173647"/>
              </a:buClr>
              <a:buSzPts val="1300"/>
              <a:buChar char="•"/>
            </a:pPr>
            <a:r>
              <a:rPr lang="en-US" sz="1200"/>
              <a:t>Local: a street of 7 kW chargers at 6 pm can exceed a pole-top transformer rating</a:t>
            </a:r>
            <a:endParaRPr sz="1300"/>
          </a:p>
          <a:p>
            <a:pPr marL="342900" lvl="0" indent="-342900" algn="l" rtl="0">
              <a:lnSpc>
                <a:spcPct val="100000"/>
              </a:lnSpc>
              <a:spcBef>
                <a:spcPts val="860"/>
              </a:spcBef>
              <a:spcAft>
                <a:spcPts val="0"/>
              </a:spcAft>
              <a:buClr>
                <a:srgbClr val="173647"/>
              </a:buClr>
              <a:buSzPts val="1300"/>
              <a:buChar char="•"/>
            </a:pPr>
            <a:r>
              <a:rPr lang="en-US" sz="1200"/>
              <a:t>Western Power network: [placeholder: % of feeders with evening headroom; Western Power EV / DER data]</a:t>
            </a:r>
            <a:endParaRPr sz="1300"/>
          </a:p>
          <a:p>
            <a:pPr marL="342900" lvl="0" indent="-342900" algn="l" rtl="0">
              <a:lnSpc>
                <a:spcPct val="100000"/>
              </a:lnSpc>
              <a:spcBef>
                <a:spcPts val="860"/>
              </a:spcBef>
              <a:spcAft>
                <a:spcPts val="0"/>
              </a:spcAft>
              <a:buClr>
                <a:srgbClr val="173647"/>
              </a:buClr>
              <a:buSzPts val="1300"/>
              <a:buChar char="•"/>
            </a:pPr>
            <a:r>
              <a:rPr lang="en-US" sz="1200"/>
              <a:t>Levers: time-of-use tariffs, managed charging, smart chargers  [placeholder: Synergy EV tariff uptake]</a:t>
            </a:r>
            <a:endParaRPr sz="1300"/>
          </a:p>
        </p:txBody>
      </p:sp>
      <p:sp>
        <p:nvSpPr>
          <p:cNvPr id="197" name="Google Shape;197;p33"/>
          <p:cNvSpPr txBox="1">
            <a:spLocks noGrp="1"/>
          </p:cNvSpPr>
          <p:nvPr>
            <p:ph type="sldNum" idx="4294967295"/>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6B7C8A"/>
                </a:solidFill>
                <a:latin typeface="Montserrat"/>
                <a:ea typeface="Montserrat"/>
                <a:cs typeface="Montserrat"/>
                <a:sym typeface="Montserrat"/>
              </a:rPr>
              <a:t>17</a:t>
            </a:fld>
            <a:endParaRPr sz="900" b="0" i="0" u="none" strike="noStrike" cap="none">
              <a:solidFill>
                <a:srgbClr val="6B7C8A"/>
              </a:solidFill>
              <a:latin typeface="Montserrat"/>
              <a:ea typeface="Montserrat"/>
              <a:cs typeface="Montserrat"/>
              <a:sym typeface="Montserrat"/>
            </a:endParaRPr>
          </a:p>
        </p:txBody>
      </p:sp>
      <p:sp>
        <p:nvSpPr>
          <p:cNvPr id="300" name="Source 300"/>
          <p:cNvSpPr txBox="1"/>
          <p:nvPr/>
        </p:nvSpPr>
        <p:spPr>
          <a:xfrm>
            <a:off x="2876550" y="4560000"/>
            <a:ext cx="5250000" cy="480000"/>
          </a:xfrm>
          <a:prstGeom prst="rect">
            <a:avLst/>
          </a:prstGeom>
          <a:noFill/>
          <a:ln>
            <a:noFill/>
          </a:ln>
        </p:spPr>
        <p:txBody>
          <a:bodyPr spcFirstLastPara="1" wrap="square" lIns="91425" tIns="45700" rIns="91425" bIns="45700" anchor="t" anchorCtr="0">
            <a:noAutofit/>
          </a:bodyPr>
          <a:lstStyle/>
          <a:p>
            <a:pPr marL="0" lvl="0" indent="0" algn="l" rtl="0">
              <a:buNone/>
            </a:pPr>
            <a:r>
              <a:rPr lang="en-US" sz="700" b="0" i="0">
                <a:solidFill>
                  <a:srgbClr val="000000"/>
                </a:solidFill>
                <a:latin typeface="Montserrat"/>
                <a:ea typeface="Montserrat"/>
                <a:cs typeface="Montserrat"/>
                <a:sym typeface="Montserrat"/>
              </a:rPr>
              <a:t>Source: AEMO, 2026 WEM Electricity Statement of Opportunities, Table 1 (Expected scenario) </a:t>
            </a:r>
            <a:r>
              <a:rPr lang="en-US" sz="700" b="0" i="0" u="sng">
                <a:solidFill>
                  <a:srgbClr val="000000"/>
                </a:solidFill>
                <a:latin typeface="Montserrat"/>
                <a:ea typeface="Montserrat"/>
                <a:cs typeface="Montserrat"/>
                <a:sym typeface="Montserrat"/>
                <a:hlinkClick r:id="rId3"/>
              </a:rPr>
              <a:t>(aemo.com.au)</a:t>
            </a:r>
            <a:r>
              <a:rPr lang="en-US" sz="700" b="0" i="0">
                <a:solidFill>
                  <a:srgbClr val="000000"/>
                </a:solidFill>
                <a:latin typeface="Montserrat"/>
                <a:ea typeface="Montserrat"/>
                <a:cs typeface="Montserrat"/>
                <a:sym typeface="Montserrat"/>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4"/>
          <p:cNvSpPr txBox="1">
            <a:spLocks noGrp="1"/>
          </p:cNvSpPr>
          <p:nvPr>
            <p:ph type="body" idx="1"/>
          </p:nvPr>
        </p:nvSpPr>
        <p:spPr>
          <a:xfrm>
            <a:off x="548640" y="1188720"/>
            <a:ext cx="2743200" cy="128016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Clr>
                <a:srgbClr val="FFFFFF"/>
              </a:buClr>
              <a:buSzPts val="7200"/>
              <a:buNone/>
            </a:pPr>
            <a:r>
              <a:rPr lang="en-US" sz="7200" b="1">
                <a:solidFill>
                  <a:srgbClr val="FFFFFF"/>
                </a:solidFill>
                <a:latin typeface="Montserrat"/>
                <a:ea typeface="Montserrat"/>
                <a:cs typeface="Montserrat"/>
                <a:sym typeface="Montserrat"/>
              </a:rPr>
              <a:t>03</a:t>
            </a:r>
            <a:endParaRPr sz="7200"/>
          </a:p>
        </p:txBody>
      </p:sp>
      <p:sp>
        <p:nvSpPr>
          <p:cNvPr id="203" name="Google Shape;203;p34"/>
          <p:cNvSpPr txBox="1">
            <a:spLocks noGrp="1"/>
          </p:cNvSpPr>
          <p:nvPr>
            <p:ph type="title"/>
          </p:nvPr>
        </p:nvSpPr>
        <p:spPr>
          <a:xfrm>
            <a:off x="548640" y="2560320"/>
            <a:ext cx="7498080" cy="914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FFFFFF"/>
              </a:buClr>
              <a:buSzPts val="3200"/>
              <a:buFont typeface="Montserrat"/>
              <a:buNone/>
            </a:pPr>
            <a:r>
              <a:rPr lang="en-US"/>
              <a:t>Is V2H / V2G essential, or a techno-utopia?</a:t>
            </a:r>
            <a:endParaRPr sz="3200"/>
          </a:p>
        </p:txBody>
      </p:sp>
      <p:sp>
        <p:nvSpPr>
          <p:cNvPr id="204" name="Google Shape;204;p34"/>
          <p:cNvSpPr txBox="1">
            <a:spLocks noGrp="1"/>
          </p:cNvSpPr>
          <p:nvPr>
            <p:ph type="body" idx="2"/>
          </p:nvPr>
        </p:nvSpPr>
        <p:spPr>
          <a:xfrm>
            <a:off x="548640" y="3566160"/>
            <a:ext cx="6858000" cy="73152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FFFFFF"/>
              </a:buClr>
              <a:buSzPts val="1400"/>
              <a:buNone/>
            </a:pPr>
            <a:r>
              <a:rPr lang="en-US"/>
              <a:t>Vehicle-to-home, vehicle-to-grid, and what smart charging alone can do</a:t>
            </a:r>
            <a:endParaRPr sz="14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g409fc138a83_1_0"/>
          <p:cNvSpPr txBox="1">
            <a:spLocks noGrp="1"/>
          </p:cNvSpPr>
          <p:nvPr>
            <p:ph type="body" idx="1"/>
          </p:nvPr>
        </p:nvSpPr>
        <p:spPr>
          <a:xfrm>
            <a:off x="457200" y="1280160"/>
            <a:ext cx="8229600" cy="3108900"/>
          </a:xfrm>
          <a:prstGeom prst="rect">
            <a:avLst/>
          </a:prstGeom>
        </p:spPr>
        <p:txBody>
          <a:bodyPr spcFirstLastPara="1" wrap="square" lIns="91425" tIns="45700" rIns="91425" bIns="45700" anchor="t" anchorCtr="0">
            <a:noAutofit/>
          </a:bodyPr>
          <a:lstStyle/>
          <a:p>
            <a:r>
              <a:rPr lang="en-AU" b="1" dirty="0"/>
              <a:t>unmanaged</a:t>
            </a:r>
          </a:p>
          <a:p>
            <a:r>
              <a:rPr lang="en-AU" dirty="0"/>
              <a:t>Arrival-based charging (e.g. "Unscheduled", "Public"). Peaks in the afternoon/evening as people get home or park — the worst case for the system peak.</a:t>
            </a:r>
          </a:p>
          <a:p>
            <a:r>
              <a:rPr lang="en-AU" b="1" dirty="0"/>
              <a:t>managed</a:t>
            </a:r>
          </a:p>
          <a:p>
            <a:r>
              <a:rPr lang="en-AU" dirty="0"/>
              <a:t>Time-of-use, off-peak or coordinated charging (e.g. "Off-peak and Solar", "TOU Grid Solar"). Shifts load to the middle of the day (solar) or overnight.</a:t>
            </a:r>
          </a:p>
          <a:p>
            <a:r>
              <a:rPr lang="en-AU" b="1" dirty="0"/>
              <a:t>v2x</a:t>
            </a:r>
          </a:p>
          <a:p>
            <a:r>
              <a:rPr lang="en-AU" dirty="0"/>
              <a:t>Vehicle-to-home / vehicle-to-grid. Includes bi-directional charging</a:t>
            </a:r>
          </a:p>
          <a:p>
            <a:pPr marL="0" lvl="0" indent="0" algn="l" rtl="0">
              <a:spcBef>
                <a:spcPts val="320"/>
              </a:spcBef>
              <a:spcAft>
                <a:spcPts val="0"/>
              </a:spcAft>
              <a:buNone/>
            </a:pPr>
            <a:endParaRPr dirty="0"/>
          </a:p>
        </p:txBody>
      </p:sp>
      <p:sp>
        <p:nvSpPr>
          <p:cNvPr id="211" name="Google Shape;211;g409fc138a83_1_0"/>
          <p:cNvSpPr txBox="1">
            <a:spLocks noGrp="1"/>
          </p:cNvSpPr>
          <p:nvPr>
            <p:ph type="title"/>
          </p:nvPr>
        </p:nvSpPr>
        <p:spPr>
          <a:xfrm>
            <a:off x="457200" y="365760"/>
            <a:ext cx="8229600" cy="731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t>Unmanaged versus managed EV charging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9">
          <a:extLst>
            <a:ext uri="{FF2B5EF4-FFF2-40B4-BE49-F238E27FC236}">
              <a16:creationId xmlns:a16="http://schemas.microsoft.com/office/drawing/2014/main" id="{BFE83327-CA38-0D2F-2ACE-0877EB25DDFA}"/>
            </a:ext>
          </a:extLst>
        </p:cNvPr>
        <p:cNvGrpSpPr/>
        <p:nvPr/>
      </p:nvGrpSpPr>
      <p:grpSpPr>
        <a:xfrm>
          <a:off x="0" y="0"/>
          <a:ext cx="0" cy="0"/>
          <a:chOff x="0" y="0"/>
          <a:chExt cx="0" cy="0"/>
        </a:xfrm>
      </p:grpSpPr>
      <p:sp>
        <p:nvSpPr>
          <p:cNvPr id="210" name="Google Shape;210;g409fc138a83_1_0">
            <a:extLst>
              <a:ext uri="{FF2B5EF4-FFF2-40B4-BE49-F238E27FC236}">
                <a16:creationId xmlns:a16="http://schemas.microsoft.com/office/drawing/2014/main" id="{831B6FE3-4D2B-17FE-4D9A-403C2CAD97DF}"/>
              </a:ext>
            </a:extLst>
          </p:cNvPr>
          <p:cNvSpPr txBox="1">
            <a:spLocks noGrp="1"/>
          </p:cNvSpPr>
          <p:nvPr>
            <p:ph type="body" idx="1"/>
          </p:nvPr>
        </p:nvSpPr>
        <p:spPr>
          <a:xfrm>
            <a:off x="457200" y="848360"/>
            <a:ext cx="8229600" cy="3108900"/>
          </a:xfrm>
          <a:prstGeom prst="rect">
            <a:avLst/>
          </a:prstGeom>
        </p:spPr>
        <p:txBody>
          <a:bodyPr spcFirstLastPara="1" wrap="square" lIns="91425" tIns="45700" rIns="91425" bIns="45700" anchor="t" anchorCtr="0">
            <a:noAutofit/>
          </a:bodyPr>
          <a:lstStyle/>
          <a:p>
            <a:pPr marL="0" lvl="0" indent="0">
              <a:buNone/>
            </a:pPr>
            <a:r>
              <a:rPr lang="en-AU" sz="1200" b="1" dirty="0"/>
              <a:t>Region:</a:t>
            </a:r>
            <a:r>
              <a:rPr lang="en-AU" sz="1200" dirty="0"/>
              <a:t> WEM </a:t>
            </a:r>
            <a:r>
              <a:rPr lang="en-AU" sz="1200" b="1" dirty="0"/>
              <a:t>Source:</a:t>
            </a:r>
            <a:r>
              <a:rPr lang="en-AU" sz="1200" dirty="0"/>
              <a:t> AEMO IASR EV workbook (2025), 2040 snapshot, </a:t>
            </a:r>
            <a:r>
              <a:rPr lang="en-AU" sz="1200" dirty="0" err="1"/>
              <a:t>BEV_PHEV_Charge_Type</a:t>
            </a:r>
            <a:r>
              <a:rPr lang="en-AU" sz="1200" dirty="0"/>
              <a:t> (%) / </a:t>
            </a:r>
            <a:r>
              <a:rPr lang="en-AU" sz="1200" dirty="0" err="1"/>
              <a:t>BEV_PHEV_Profile_kW</a:t>
            </a:r>
            <a:endParaRPr sz="1200" dirty="0"/>
          </a:p>
        </p:txBody>
      </p:sp>
      <p:sp>
        <p:nvSpPr>
          <p:cNvPr id="211" name="Google Shape;211;g409fc138a83_1_0">
            <a:extLst>
              <a:ext uri="{FF2B5EF4-FFF2-40B4-BE49-F238E27FC236}">
                <a16:creationId xmlns:a16="http://schemas.microsoft.com/office/drawing/2014/main" id="{D48FD574-B621-4598-334F-192D9E1C3A6B}"/>
              </a:ext>
            </a:extLst>
          </p:cNvPr>
          <p:cNvSpPr txBox="1">
            <a:spLocks noGrp="1"/>
          </p:cNvSpPr>
          <p:nvPr>
            <p:ph type="title"/>
          </p:nvPr>
        </p:nvSpPr>
        <p:spPr>
          <a:xfrm>
            <a:off x="457200" y="365760"/>
            <a:ext cx="8229600" cy="7314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EV charging Profiles</a:t>
            </a:r>
            <a:endParaRPr dirty="0"/>
          </a:p>
        </p:txBody>
      </p:sp>
      <p:graphicFrame>
        <p:nvGraphicFramePr>
          <p:cNvPr id="4" name="Table 3">
            <a:extLst>
              <a:ext uri="{FF2B5EF4-FFF2-40B4-BE49-F238E27FC236}">
                <a16:creationId xmlns:a16="http://schemas.microsoft.com/office/drawing/2014/main" id="{FA75AE81-4A72-FAF8-7D1E-72089AD7242B}"/>
              </a:ext>
            </a:extLst>
          </p:cNvPr>
          <p:cNvGraphicFramePr>
            <a:graphicFrameLocks noGrp="1"/>
          </p:cNvGraphicFramePr>
          <p:nvPr>
            <p:extLst>
              <p:ext uri="{D42A27DB-BD31-4B8C-83A1-F6EECF244321}">
                <p14:modId xmlns:p14="http://schemas.microsoft.com/office/powerpoint/2010/main" val="3151672969"/>
              </p:ext>
            </p:extLst>
          </p:nvPr>
        </p:nvGraphicFramePr>
        <p:xfrm>
          <a:off x="558800" y="1301750"/>
          <a:ext cx="8229600" cy="333248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850693886"/>
                    </a:ext>
                  </a:extLst>
                </a:gridCol>
                <a:gridCol w="1645920">
                  <a:extLst>
                    <a:ext uri="{9D8B030D-6E8A-4147-A177-3AD203B41FA5}">
                      <a16:colId xmlns:a16="http://schemas.microsoft.com/office/drawing/2014/main" val="3404115686"/>
                    </a:ext>
                  </a:extLst>
                </a:gridCol>
                <a:gridCol w="1645920">
                  <a:extLst>
                    <a:ext uri="{9D8B030D-6E8A-4147-A177-3AD203B41FA5}">
                      <a16:colId xmlns:a16="http://schemas.microsoft.com/office/drawing/2014/main" val="2840792109"/>
                    </a:ext>
                  </a:extLst>
                </a:gridCol>
                <a:gridCol w="1645920">
                  <a:extLst>
                    <a:ext uri="{9D8B030D-6E8A-4147-A177-3AD203B41FA5}">
                      <a16:colId xmlns:a16="http://schemas.microsoft.com/office/drawing/2014/main" val="1502241624"/>
                    </a:ext>
                  </a:extLst>
                </a:gridCol>
                <a:gridCol w="1645920">
                  <a:extLst>
                    <a:ext uri="{9D8B030D-6E8A-4147-A177-3AD203B41FA5}">
                      <a16:colId xmlns:a16="http://schemas.microsoft.com/office/drawing/2014/main" val="3922092151"/>
                    </a:ext>
                  </a:extLst>
                </a:gridCol>
              </a:tblGrid>
              <a:tr h="370840">
                <a:tc>
                  <a:txBody>
                    <a:bodyPr/>
                    <a:lstStyle/>
                    <a:p>
                      <a:r>
                        <a:rPr lang="en-AU" dirty="0"/>
                        <a:t>Charging Type</a:t>
                      </a:r>
                    </a:p>
                  </a:txBody>
                  <a:tcPr/>
                </a:tc>
                <a:tc>
                  <a:txBody>
                    <a:bodyPr/>
                    <a:lstStyle/>
                    <a:p>
                      <a:r>
                        <a:rPr lang="en-AU" dirty="0"/>
                        <a:t>Mode</a:t>
                      </a:r>
                    </a:p>
                  </a:txBody>
                  <a:tcPr/>
                </a:tc>
                <a:tc>
                  <a:txBody>
                    <a:bodyPr/>
                    <a:lstStyle/>
                    <a:p>
                      <a:r>
                        <a:rPr lang="en-AU" dirty="0"/>
                        <a:t>Share</a:t>
                      </a:r>
                    </a:p>
                  </a:txBody>
                  <a:tcPr/>
                </a:tc>
                <a:tc>
                  <a:txBody>
                    <a:bodyPr/>
                    <a:lstStyle/>
                    <a:p>
                      <a:r>
                        <a:rPr lang="en-AU" dirty="0"/>
                        <a:t>Weekday Peak</a:t>
                      </a:r>
                    </a:p>
                  </a:txBody>
                  <a:tcPr/>
                </a:tc>
                <a:tc>
                  <a:txBody>
                    <a:bodyPr/>
                    <a:lstStyle/>
                    <a:p>
                      <a:r>
                        <a:rPr lang="en-AU" dirty="0"/>
                        <a:t>Weekend Peak</a:t>
                      </a:r>
                    </a:p>
                  </a:txBody>
                  <a:tcPr/>
                </a:tc>
                <a:extLst>
                  <a:ext uri="{0D108BD9-81ED-4DB2-BD59-A6C34878D82A}">
                    <a16:rowId xmlns:a16="http://schemas.microsoft.com/office/drawing/2014/main" val="3652091525"/>
                  </a:ext>
                </a:extLst>
              </a:tr>
              <a:tr h="370840">
                <a:tc>
                  <a:txBody>
                    <a:bodyPr/>
                    <a:lstStyle/>
                    <a:p>
                      <a:r>
                        <a:rPr lang="en-AU" dirty="0"/>
                        <a:t>Of-peak and Solar Charging</a:t>
                      </a:r>
                    </a:p>
                  </a:txBody>
                  <a:tcPr/>
                </a:tc>
                <a:tc>
                  <a:txBody>
                    <a:bodyPr/>
                    <a:lstStyle/>
                    <a:p>
                      <a:r>
                        <a:rPr lang="en-AU" dirty="0"/>
                        <a:t>Managed</a:t>
                      </a:r>
                    </a:p>
                  </a:txBody>
                  <a:tcPr/>
                </a:tc>
                <a:tc>
                  <a:txBody>
                    <a:bodyPr/>
                    <a:lstStyle/>
                    <a:p>
                      <a:r>
                        <a:rPr lang="en-AU" dirty="0"/>
                        <a:t>0.152</a:t>
                      </a:r>
                    </a:p>
                  </a:txBody>
                  <a:tcPr/>
                </a:tc>
                <a:tc>
                  <a:txBody>
                    <a:bodyPr/>
                    <a:lstStyle/>
                    <a:p>
                      <a:r>
                        <a:rPr lang="en-AU" dirty="0"/>
                        <a:t>02:00</a:t>
                      </a:r>
                    </a:p>
                  </a:txBody>
                  <a:tcPr/>
                </a:tc>
                <a:tc>
                  <a:txBody>
                    <a:bodyPr/>
                    <a:lstStyle/>
                    <a:p>
                      <a:r>
                        <a:rPr lang="en-AU" dirty="0"/>
                        <a:t>02.00</a:t>
                      </a:r>
                    </a:p>
                  </a:txBody>
                  <a:tcPr/>
                </a:tc>
                <a:extLst>
                  <a:ext uri="{0D108BD9-81ED-4DB2-BD59-A6C34878D82A}">
                    <a16:rowId xmlns:a16="http://schemas.microsoft.com/office/drawing/2014/main" val="3979145544"/>
                  </a:ext>
                </a:extLst>
              </a:tr>
              <a:tr h="370840">
                <a:tc>
                  <a:txBody>
                    <a:bodyPr/>
                    <a:lstStyle/>
                    <a:p>
                      <a:r>
                        <a:rPr lang="en-AU" dirty="0"/>
                        <a:t>TOU Grid Solar Charging</a:t>
                      </a:r>
                    </a:p>
                  </a:txBody>
                  <a:tcPr/>
                </a:tc>
                <a:tc>
                  <a:txBody>
                    <a:bodyPr/>
                    <a:lstStyle/>
                    <a:p>
                      <a:r>
                        <a:rPr lang="en-AU" dirty="0"/>
                        <a:t>Managed</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AU" dirty="0"/>
                        <a:t>0.052</a:t>
                      </a:r>
                    </a:p>
                  </a:txBody>
                  <a:tcPr/>
                </a:tc>
                <a:tc>
                  <a:txBody>
                    <a:bodyPr/>
                    <a:lstStyle/>
                    <a:p>
                      <a:r>
                        <a:rPr lang="en-AU" dirty="0"/>
                        <a:t>12:00</a:t>
                      </a:r>
                    </a:p>
                  </a:txBody>
                  <a:tcPr/>
                </a:tc>
                <a:tc>
                  <a:txBody>
                    <a:bodyPr/>
                    <a:lstStyle/>
                    <a:p>
                      <a:r>
                        <a:rPr lang="en-AU" dirty="0"/>
                        <a:t>12:00</a:t>
                      </a:r>
                    </a:p>
                  </a:txBody>
                  <a:tcPr/>
                </a:tc>
                <a:extLst>
                  <a:ext uri="{0D108BD9-81ED-4DB2-BD59-A6C34878D82A}">
                    <a16:rowId xmlns:a16="http://schemas.microsoft.com/office/drawing/2014/main" val="500876576"/>
                  </a:ext>
                </a:extLst>
              </a:tr>
              <a:tr h="370840">
                <a:tc>
                  <a:txBody>
                    <a:bodyPr/>
                    <a:lstStyle/>
                    <a:p>
                      <a:r>
                        <a:rPr lang="en-AU" dirty="0"/>
                        <a:t>Unscheduled Charging</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AU" dirty="0"/>
                        <a:t>Unmanaged</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AU" dirty="0"/>
                        <a:t>0.364</a:t>
                      </a:r>
                    </a:p>
                  </a:txBody>
                  <a:tcPr/>
                </a:tc>
                <a:tc>
                  <a:txBody>
                    <a:bodyPr/>
                    <a:lstStyle/>
                    <a:p>
                      <a:r>
                        <a:rPr lang="en-AU" dirty="0"/>
                        <a:t>15:00</a:t>
                      </a:r>
                    </a:p>
                  </a:txBody>
                  <a:tcPr/>
                </a:tc>
                <a:tc>
                  <a:txBody>
                    <a:bodyPr/>
                    <a:lstStyle/>
                    <a:p>
                      <a:r>
                        <a:rPr lang="en-AU" dirty="0"/>
                        <a:t>15:00</a:t>
                      </a:r>
                    </a:p>
                  </a:txBody>
                  <a:tcPr/>
                </a:tc>
                <a:extLst>
                  <a:ext uri="{0D108BD9-81ED-4DB2-BD59-A6C34878D82A}">
                    <a16:rowId xmlns:a16="http://schemas.microsoft.com/office/drawing/2014/main" val="1109795986"/>
                  </a:ext>
                </a:extLst>
              </a:tr>
              <a:tr h="370840">
                <a:tc>
                  <a:txBody>
                    <a:bodyPr/>
                    <a:lstStyle/>
                    <a:p>
                      <a:r>
                        <a:rPr lang="en-AU" dirty="0"/>
                        <a:t>Public Charging</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AU" dirty="0"/>
                        <a:t>Unmanaged</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AU" dirty="0"/>
                        <a:t>0.112</a:t>
                      </a:r>
                    </a:p>
                  </a:txBody>
                  <a:tcPr/>
                </a:tc>
                <a:tc>
                  <a:txBody>
                    <a:bodyPr/>
                    <a:lstStyle/>
                    <a:p>
                      <a:r>
                        <a:rPr lang="en-AU" dirty="0"/>
                        <a:t>12:00</a:t>
                      </a:r>
                    </a:p>
                  </a:txBody>
                  <a:tcPr/>
                </a:tc>
                <a:tc>
                  <a:txBody>
                    <a:bodyPr/>
                    <a:lstStyle/>
                    <a:p>
                      <a:r>
                        <a:rPr lang="en-AU" dirty="0"/>
                        <a:t>12:00</a:t>
                      </a:r>
                    </a:p>
                  </a:txBody>
                  <a:tcPr/>
                </a:tc>
                <a:extLst>
                  <a:ext uri="{0D108BD9-81ED-4DB2-BD59-A6C34878D82A}">
                    <a16:rowId xmlns:a16="http://schemas.microsoft.com/office/drawing/2014/main" val="1535600124"/>
                  </a:ext>
                </a:extLst>
              </a:tr>
              <a:tr h="370840">
                <a:tc>
                  <a:txBody>
                    <a:bodyPr/>
                    <a:lstStyle/>
                    <a:p>
                      <a:r>
                        <a:rPr lang="en-AU" dirty="0"/>
                        <a:t>Vehicle to Grid – vehicle charging</a:t>
                      </a:r>
                    </a:p>
                  </a:txBody>
                  <a:tcPr/>
                </a:tc>
                <a:tc>
                  <a:txBody>
                    <a:bodyPr/>
                    <a:lstStyle/>
                    <a:p>
                      <a:r>
                        <a:rPr lang="en-AU" dirty="0"/>
                        <a:t>V2x</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AU" dirty="0"/>
                        <a:t>0.063</a:t>
                      </a:r>
                    </a:p>
                  </a:txBody>
                  <a:tcPr/>
                </a:tc>
                <a:tc>
                  <a:txBody>
                    <a:bodyPr/>
                    <a:lstStyle/>
                    <a:p>
                      <a:r>
                        <a:rPr lang="en-AU" dirty="0"/>
                        <a:t>12:00</a:t>
                      </a:r>
                    </a:p>
                  </a:txBody>
                  <a:tcPr/>
                </a:tc>
                <a:tc>
                  <a:txBody>
                    <a:bodyPr/>
                    <a:lstStyle/>
                    <a:p>
                      <a:r>
                        <a:rPr lang="en-AU" dirty="0"/>
                        <a:t>13:00</a:t>
                      </a:r>
                    </a:p>
                  </a:txBody>
                  <a:tcPr/>
                </a:tc>
                <a:extLst>
                  <a:ext uri="{0D108BD9-81ED-4DB2-BD59-A6C34878D82A}">
                    <a16:rowId xmlns:a16="http://schemas.microsoft.com/office/drawing/2014/main" val="415224319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AU" dirty="0"/>
                        <a:t>Vehicle to Home – vehicle charging</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AU" dirty="0"/>
                        <a:t>V2x</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AU" dirty="0"/>
                        <a:t>0.063</a:t>
                      </a:r>
                    </a:p>
                  </a:txBody>
                  <a:tcPr/>
                </a:tc>
                <a:tc>
                  <a:txBody>
                    <a:bodyPr/>
                    <a:lstStyle/>
                    <a:p>
                      <a:r>
                        <a:rPr lang="en-AU" dirty="0"/>
                        <a:t>12:00</a:t>
                      </a:r>
                    </a:p>
                  </a:txBody>
                  <a:tcPr/>
                </a:tc>
                <a:tc>
                  <a:txBody>
                    <a:bodyPr/>
                    <a:lstStyle/>
                    <a:p>
                      <a:r>
                        <a:rPr lang="en-AU" dirty="0"/>
                        <a:t>13:30</a:t>
                      </a:r>
                    </a:p>
                  </a:txBody>
                  <a:tcPr/>
                </a:tc>
                <a:extLst>
                  <a:ext uri="{0D108BD9-81ED-4DB2-BD59-A6C34878D82A}">
                    <a16:rowId xmlns:a16="http://schemas.microsoft.com/office/drawing/2014/main" val="1114632670"/>
                  </a:ext>
                </a:extLst>
              </a:tr>
            </a:tbl>
          </a:graphicData>
        </a:graphic>
      </p:graphicFrame>
    </p:spTree>
    <p:extLst>
      <p:ext uri="{BB962C8B-B14F-4D97-AF65-F5344CB8AC3E}">
        <p14:creationId xmlns:p14="http://schemas.microsoft.com/office/powerpoint/2010/main" val="12606933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9">
          <a:extLst>
            <a:ext uri="{FF2B5EF4-FFF2-40B4-BE49-F238E27FC236}">
              <a16:creationId xmlns:a16="http://schemas.microsoft.com/office/drawing/2014/main" id="{D2E2FE80-1278-A10E-D4B7-EB738A7AF477}"/>
            </a:ext>
          </a:extLst>
        </p:cNvPr>
        <p:cNvGrpSpPr/>
        <p:nvPr/>
      </p:nvGrpSpPr>
      <p:grpSpPr>
        <a:xfrm>
          <a:off x="0" y="0"/>
          <a:ext cx="0" cy="0"/>
          <a:chOff x="0" y="0"/>
          <a:chExt cx="0" cy="0"/>
        </a:xfrm>
      </p:grpSpPr>
      <p:sp>
        <p:nvSpPr>
          <p:cNvPr id="210" name="Google Shape;210;g409fc138a83_1_0">
            <a:extLst>
              <a:ext uri="{FF2B5EF4-FFF2-40B4-BE49-F238E27FC236}">
                <a16:creationId xmlns:a16="http://schemas.microsoft.com/office/drawing/2014/main" id="{ED95CF4D-A8C9-BB6C-319E-7E3B52DA440B}"/>
              </a:ext>
            </a:extLst>
          </p:cNvPr>
          <p:cNvSpPr txBox="1">
            <a:spLocks noGrp="1"/>
          </p:cNvSpPr>
          <p:nvPr>
            <p:ph type="body" idx="1"/>
          </p:nvPr>
        </p:nvSpPr>
        <p:spPr>
          <a:xfrm>
            <a:off x="457200" y="1280160"/>
            <a:ext cx="8229600" cy="3108900"/>
          </a:xfrm>
          <a:prstGeom prst="rect">
            <a:avLst/>
          </a:prstGeom>
        </p:spPr>
        <p:txBody>
          <a:bodyPr spcFirstLastPara="1" wrap="square" lIns="91425" tIns="45700" rIns="91425" bIns="45700" anchor="t" anchorCtr="0">
            <a:noAutofit/>
          </a:bodyPr>
          <a:lstStyle/>
          <a:p>
            <a:pPr marL="0" lvl="0" indent="0" algn="l" rtl="0">
              <a:spcBef>
                <a:spcPts val="320"/>
              </a:spcBef>
              <a:spcAft>
                <a:spcPts val="0"/>
              </a:spcAft>
              <a:buNone/>
            </a:pPr>
            <a:endParaRPr dirty="0"/>
          </a:p>
        </p:txBody>
      </p:sp>
      <p:sp>
        <p:nvSpPr>
          <p:cNvPr id="211" name="Google Shape;211;g409fc138a83_1_0">
            <a:extLst>
              <a:ext uri="{FF2B5EF4-FFF2-40B4-BE49-F238E27FC236}">
                <a16:creationId xmlns:a16="http://schemas.microsoft.com/office/drawing/2014/main" id="{3E79BAEB-0779-36E6-9DD0-01889AA51DF4}"/>
              </a:ext>
            </a:extLst>
          </p:cNvPr>
          <p:cNvSpPr txBox="1">
            <a:spLocks noGrp="1"/>
          </p:cNvSpPr>
          <p:nvPr>
            <p:ph type="title"/>
          </p:nvPr>
        </p:nvSpPr>
        <p:spPr>
          <a:xfrm>
            <a:off x="457200" y="365760"/>
            <a:ext cx="8229600" cy="731400"/>
          </a:xfrm>
          <a:prstGeom prst="rect">
            <a:avLst/>
          </a:prstGeom>
        </p:spPr>
        <p:txBody>
          <a:bodyPr spcFirstLastPara="1" wrap="square" lIns="91425" tIns="45700" rIns="91425" bIns="45700" anchor="t" anchorCtr="0">
            <a:noAutofit/>
          </a:bodyPr>
          <a:lstStyle/>
          <a:p>
            <a:pPr lvl="0"/>
            <a:r>
              <a:rPr lang="en-US" dirty="0"/>
              <a:t>Weekday Charging Shapes</a:t>
            </a:r>
            <a:endParaRPr dirty="0"/>
          </a:p>
        </p:txBody>
      </p:sp>
      <p:pic>
        <p:nvPicPr>
          <p:cNvPr id="3" name="Picture 2">
            <a:extLst>
              <a:ext uri="{FF2B5EF4-FFF2-40B4-BE49-F238E27FC236}">
                <a16:creationId xmlns:a16="http://schemas.microsoft.com/office/drawing/2014/main" id="{3727C917-6505-7914-7081-93F5A5818BB3}"/>
              </a:ext>
            </a:extLst>
          </p:cNvPr>
          <p:cNvPicPr>
            <a:picLocks noChangeAspect="1"/>
          </p:cNvPicPr>
          <p:nvPr/>
        </p:nvPicPr>
        <p:blipFill>
          <a:blip r:embed="rId3"/>
          <a:stretch>
            <a:fillRect/>
          </a:stretch>
        </p:blipFill>
        <p:spPr>
          <a:xfrm>
            <a:off x="0" y="1328071"/>
            <a:ext cx="9144000" cy="2487358"/>
          </a:xfrm>
          <a:prstGeom prst="rect">
            <a:avLst/>
          </a:prstGeom>
        </p:spPr>
      </p:pic>
    </p:spTree>
    <p:extLst>
      <p:ext uri="{BB962C8B-B14F-4D97-AF65-F5344CB8AC3E}">
        <p14:creationId xmlns:p14="http://schemas.microsoft.com/office/powerpoint/2010/main" val="26574360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9">
          <a:extLst>
            <a:ext uri="{FF2B5EF4-FFF2-40B4-BE49-F238E27FC236}">
              <a16:creationId xmlns:a16="http://schemas.microsoft.com/office/drawing/2014/main" id="{3024FFD6-9EA3-EFE8-18F4-5DF748404E75}"/>
            </a:ext>
          </a:extLst>
        </p:cNvPr>
        <p:cNvGrpSpPr/>
        <p:nvPr/>
      </p:nvGrpSpPr>
      <p:grpSpPr>
        <a:xfrm>
          <a:off x="0" y="0"/>
          <a:ext cx="0" cy="0"/>
          <a:chOff x="0" y="0"/>
          <a:chExt cx="0" cy="0"/>
        </a:xfrm>
      </p:grpSpPr>
      <p:sp>
        <p:nvSpPr>
          <p:cNvPr id="210" name="Google Shape;210;g409fc138a83_1_0">
            <a:extLst>
              <a:ext uri="{FF2B5EF4-FFF2-40B4-BE49-F238E27FC236}">
                <a16:creationId xmlns:a16="http://schemas.microsoft.com/office/drawing/2014/main" id="{F4529FFD-DB4E-D44D-2926-7E1D450C5A49}"/>
              </a:ext>
            </a:extLst>
          </p:cNvPr>
          <p:cNvSpPr txBox="1">
            <a:spLocks noGrp="1"/>
          </p:cNvSpPr>
          <p:nvPr>
            <p:ph type="body" idx="1"/>
          </p:nvPr>
        </p:nvSpPr>
        <p:spPr>
          <a:xfrm>
            <a:off x="457200" y="1280160"/>
            <a:ext cx="8229600" cy="3108900"/>
          </a:xfrm>
          <a:prstGeom prst="rect">
            <a:avLst/>
          </a:prstGeom>
        </p:spPr>
        <p:txBody>
          <a:bodyPr spcFirstLastPara="1" wrap="square" lIns="91425" tIns="45700" rIns="91425" bIns="45700" anchor="t" anchorCtr="0">
            <a:noAutofit/>
          </a:bodyPr>
          <a:lstStyle/>
          <a:p>
            <a:pPr marL="0" lvl="0" indent="0" algn="l" rtl="0">
              <a:spcBef>
                <a:spcPts val="320"/>
              </a:spcBef>
              <a:spcAft>
                <a:spcPts val="0"/>
              </a:spcAft>
              <a:buNone/>
            </a:pPr>
            <a:endParaRPr dirty="0"/>
          </a:p>
        </p:txBody>
      </p:sp>
      <p:sp>
        <p:nvSpPr>
          <p:cNvPr id="211" name="Google Shape;211;g409fc138a83_1_0">
            <a:extLst>
              <a:ext uri="{FF2B5EF4-FFF2-40B4-BE49-F238E27FC236}">
                <a16:creationId xmlns:a16="http://schemas.microsoft.com/office/drawing/2014/main" id="{2C677BE9-CE29-F4D9-7772-73A1D5AA9D0A}"/>
              </a:ext>
            </a:extLst>
          </p:cNvPr>
          <p:cNvSpPr txBox="1">
            <a:spLocks noGrp="1"/>
          </p:cNvSpPr>
          <p:nvPr>
            <p:ph type="title"/>
          </p:nvPr>
        </p:nvSpPr>
        <p:spPr>
          <a:xfrm>
            <a:off x="457200" y="365760"/>
            <a:ext cx="8229600" cy="731400"/>
          </a:xfrm>
          <a:prstGeom prst="rect">
            <a:avLst/>
          </a:prstGeom>
        </p:spPr>
        <p:txBody>
          <a:bodyPr spcFirstLastPara="1" wrap="square" lIns="91425" tIns="45700" rIns="91425" bIns="45700" anchor="t" anchorCtr="0">
            <a:noAutofit/>
          </a:bodyPr>
          <a:lstStyle/>
          <a:p>
            <a:pPr lvl="0"/>
            <a:r>
              <a:rPr lang="en-US" dirty="0"/>
              <a:t>Weekend Charging Shapes</a:t>
            </a:r>
            <a:endParaRPr dirty="0"/>
          </a:p>
        </p:txBody>
      </p:sp>
      <p:pic>
        <p:nvPicPr>
          <p:cNvPr id="5" name="Picture 4">
            <a:extLst>
              <a:ext uri="{FF2B5EF4-FFF2-40B4-BE49-F238E27FC236}">
                <a16:creationId xmlns:a16="http://schemas.microsoft.com/office/drawing/2014/main" id="{7F862C17-8E14-DFA6-706C-080EE0F3E9BB}"/>
              </a:ext>
            </a:extLst>
          </p:cNvPr>
          <p:cNvPicPr>
            <a:picLocks noChangeAspect="1"/>
          </p:cNvPicPr>
          <p:nvPr/>
        </p:nvPicPr>
        <p:blipFill>
          <a:blip r:embed="rId3"/>
          <a:stretch>
            <a:fillRect/>
          </a:stretch>
        </p:blipFill>
        <p:spPr>
          <a:xfrm>
            <a:off x="0" y="1328071"/>
            <a:ext cx="9144000" cy="2487358"/>
          </a:xfrm>
          <a:prstGeom prst="rect">
            <a:avLst/>
          </a:prstGeom>
        </p:spPr>
      </p:pic>
    </p:spTree>
    <p:extLst>
      <p:ext uri="{BB962C8B-B14F-4D97-AF65-F5344CB8AC3E}">
        <p14:creationId xmlns:p14="http://schemas.microsoft.com/office/powerpoint/2010/main" val="30782091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9">
          <a:extLst>
            <a:ext uri="{FF2B5EF4-FFF2-40B4-BE49-F238E27FC236}">
              <a16:creationId xmlns:a16="http://schemas.microsoft.com/office/drawing/2014/main" id="{EC6B47C2-40EF-6BC3-D030-1E920B1F2E96}"/>
            </a:ext>
          </a:extLst>
        </p:cNvPr>
        <p:cNvGrpSpPr/>
        <p:nvPr/>
      </p:nvGrpSpPr>
      <p:grpSpPr>
        <a:xfrm>
          <a:off x="0" y="0"/>
          <a:ext cx="0" cy="0"/>
          <a:chOff x="0" y="0"/>
          <a:chExt cx="0" cy="0"/>
        </a:xfrm>
      </p:grpSpPr>
      <p:sp>
        <p:nvSpPr>
          <p:cNvPr id="210" name="Google Shape;210;g409fc138a83_1_0">
            <a:extLst>
              <a:ext uri="{FF2B5EF4-FFF2-40B4-BE49-F238E27FC236}">
                <a16:creationId xmlns:a16="http://schemas.microsoft.com/office/drawing/2014/main" id="{8AF834BC-385C-07E6-2E7A-F13F0107FED0}"/>
              </a:ext>
            </a:extLst>
          </p:cNvPr>
          <p:cNvSpPr txBox="1">
            <a:spLocks noGrp="1"/>
          </p:cNvSpPr>
          <p:nvPr>
            <p:ph type="body" idx="1"/>
          </p:nvPr>
        </p:nvSpPr>
        <p:spPr>
          <a:xfrm>
            <a:off x="457200" y="1280160"/>
            <a:ext cx="8229600" cy="3108900"/>
          </a:xfrm>
          <a:prstGeom prst="rect">
            <a:avLst/>
          </a:prstGeom>
        </p:spPr>
        <p:txBody>
          <a:bodyPr spcFirstLastPara="1" wrap="square" lIns="91425" tIns="45700" rIns="91425" bIns="45700" anchor="t" anchorCtr="0">
            <a:noAutofit/>
          </a:bodyPr>
          <a:lstStyle/>
          <a:p>
            <a:pPr marL="0" lvl="0" indent="0" algn="l" rtl="0">
              <a:spcBef>
                <a:spcPts val="320"/>
              </a:spcBef>
              <a:spcAft>
                <a:spcPts val="0"/>
              </a:spcAft>
              <a:buNone/>
            </a:pPr>
            <a:endParaRPr dirty="0"/>
          </a:p>
        </p:txBody>
      </p:sp>
      <p:sp>
        <p:nvSpPr>
          <p:cNvPr id="211" name="Google Shape;211;g409fc138a83_1_0">
            <a:extLst>
              <a:ext uri="{FF2B5EF4-FFF2-40B4-BE49-F238E27FC236}">
                <a16:creationId xmlns:a16="http://schemas.microsoft.com/office/drawing/2014/main" id="{750B0F3A-C0F3-DCE5-9D29-B59B0C0D2CB0}"/>
              </a:ext>
            </a:extLst>
          </p:cNvPr>
          <p:cNvSpPr txBox="1">
            <a:spLocks noGrp="1"/>
          </p:cNvSpPr>
          <p:nvPr>
            <p:ph type="title"/>
          </p:nvPr>
        </p:nvSpPr>
        <p:spPr>
          <a:xfrm>
            <a:off x="457200" y="365760"/>
            <a:ext cx="8229600" cy="731400"/>
          </a:xfrm>
          <a:prstGeom prst="rect">
            <a:avLst/>
          </a:prstGeom>
        </p:spPr>
        <p:txBody>
          <a:bodyPr spcFirstLastPara="1" wrap="square" lIns="91425" tIns="45700" rIns="91425" bIns="45700" anchor="t" anchorCtr="0">
            <a:noAutofit/>
          </a:bodyPr>
          <a:lstStyle/>
          <a:p>
            <a:pPr lvl="0"/>
            <a:r>
              <a:rPr lang="en-US" dirty="0"/>
              <a:t>Composite Weekday Charging Shapes</a:t>
            </a:r>
            <a:endParaRPr dirty="0"/>
          </a:p>
        </p:txBody>
      </p:sp>
      <p:pic>
        <p:nvPicPr>
          <p:cNvPr id="3" name="Picture 2">
            <a:extLst>
              <a:ext uri="{FF2B5EF4-FFF2-40B4-BE49-F238E27FC236}">
                <a16:creationId xmlns:a16="http://schemas.microsoft.com/office/drawing/2014/main" id="{88D3E729-B20B-E947-9F27-FFAD6FBFEA05}"/>
              </a:ext>
            </a:extLst>
          </p:cNvPr>
          <p:cNvPicPr>
            <a:picLocks noChangeAspect="1"/>
          </p:cNvPicPr>
          <p:nvPr/>
        </p:nvPicPr>
        <p:blipFill>
          <a:blip r:embed="rId3"/>
          <a:stretch>
            <a:fillRect/>
          </a:stretch>
        </p:blipFill>
        <p:spPr>
          <a:xfrm>
            <a:off x="0" y="1328071"/>
            <a:ext cx="9144000" cy="2487358"/>
          </a:xfrm>
          <a:prstGeom prst="rect">
            <a:avLst/>
          </a:prstGeom>
        </p:spPr>
      </p:pic>
    </p:spTree>
    <p:extLst>
      <p:ext uri="{BB962C8B-B14F-4D97-AF65-F5344CB8AC3E}">
        <p14:creationId xmlns:p14="http://schemas.microsoft.com/office/powerpoint/2010/main" val="25564806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15">
          <a:extLst>
            <a:ext uri="{FF2B5EF4-FFF2-40B4-BE49-F238E27FC236}">
              <a16:creationId xmlns:a16="http://schemas.microsoft.com/office/drawing/2014/main" id="{BAB53C27-248B-8C4C-405B-6FC2DA3FA334}"/>
            </a:ext>
          </a:extLst>
        </p:cNvPr>
        <p:cNvGrpSpPr/>
        <p:nvPr/>
      </p:nvGrpSpPr>
      <p:grpSpPr>
        <a:xfrm>
          <a:off x="0" y="0"/>
          <a:ext cx="0" cy="0"/>
          <a:chOff x="0" y="0"/>
          <a:chExt cx="0" cy="0"/>
        </a:xfrm>
      </p:grpSpPr>
      <p:sp>
        <p:nvSpPr>
          <p:cNvPr id="216" name="Google Shape;216;p35">
            <a:extLst>
              <a:ext uri="{FF2B5EF4-FFF2-40B4-BE49-F238E27FC236}">
                <a16:creationId xmlns:a16="http://schemas.microsoft.com/office/drawing/2014/main" id="{375591B3-BEF7-6BCD-D49A-18F4C7DE1C9B}"/>
              </a:ext>
            </a:extLst>
          </p:cNvPr>
          <p:cNvSpPr txBox="1">
            <a:spLocks noGrp="1"/>
          </p:cNvSpPr>
          <p:nvPr>
            <p:ph type="title"/>
          </p:nvPr>
        </p:nvSpPr>
        <p:spPr>
          <a:xfrm>
            <a:off x="457200" y="365760"/>
            <a:ext cx="8229600" cy="73152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B3F63"/>
              </a:buClr>
              <a:buSzPts val="2600"/>
              <a:buFont typeface="Montserrat"/>
              <a:buNone/>
            </a:pPr>
            <a:r>
              <a:rPr lang="en-US" dirty="0"/>
              <a:t>Q3  |  V2G: what is proven</a:t>
            </a:r>
            <a:endParaRPr sz="2600" dirty="0"/>
          </a:p>
        </p:txBody>
      </p:sp>
      <p:sp>
        <p:nvSpPr>
          <p:cNvPr id="217" name="Google Shape;217;p35">
            <a:extLst>
              <a:ext uri="{FF2B5EF4-FFF2-40B4-BE49-F238E27FC236}">
                <a16:creationId xmlns:a16="http://schemas.microsoft.com/office/drawing/2014/main" id="{6F255347-CB4A-124B-A12D-3BA5EF0522B7}"/>
              </a:ext>
            </a:extLst>
          </p:cNvPr>
          <p:cNvSpPr txBox="1">
            <a:spLocks noGrp="1"/>
          </p:cNvSpPr>
          <p:nvPr>
            <p:ph type="body" idx="1"/>
          </p:nvPr>
        </p:nvSpPr>
        <p:spPr>
          <a:xfrm>
            <a:off x="457200" y="1280160"/>
            <a:ext cx="3931920" cy="41148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0A9D8"/>
              </a:buClr>
              <a:buSzPts val="1600"/>
              <a:buNone/>
            </a:pPr>
            <a:r>
              <a:rPr lang="en-US"/>
              <a:t>The case for "essential"</a:t>
            </a:r>
            <a:endParaRPr sz="1600"/>
          </a:p>
        </p:txBody>
      </p:sp>
      <p:sp>
        <p:nvSpPr>
          <p:cNvPr id="218" name="Google Shape;218;p35">
            <a:extLst>
              <a:ext uri="{FF2B5EF4-FFF2-40B4-BE49-F238E27FC236}">
                <a16:creationId xmlns:a16="http://schemas.microsoft.com/office/drawing/2014/main" id="{5CF02EA3-1DFD-3A71-529A-A3421E096EDD}"/>
              </a:ext>
            </a:extLst>
          </p:cNvPr>
          <p:cNvSpPr txBox="1">
            <a:spLocks noGrp="1"/>
          </p:cNvSpPr>
          <p:nvPr>
            <p:ph type="body" idx="2"/>
          </p:nvPr>
        </p:nvSpPr>
        <p:spPr>
          <a:xfrm>
            <a:off x="457200" y="1783080"/>
            <a:ext cx="8159578" cy="2606040"/>
          </a:xfrm>
          <a:prstGeom prst="rect">
            <a:avLst/>
          </a:prstGeom>
          <a:noFill/>
          <a:ln>
            <a:noFill/>
          </a:ln>
        </p:spPr>
        <p:txBody>
          <a:bodyPr spcFirstLastPara="1" wrap="square" lIns="0" tIns="0" rIns="0" bIns="0" anchor="t" anchorCtr="0">
            <a:noAutofit/>
          </a:bodyPr>
          <a:lstStyle/>
          <a:p>
            <a:pPr marL="342900" lvl="0" indent="-342900" algn="l" rtl="0">
              <a:lnSpc>
                <a:spcPct val="100000"/>
              </a:lnSpc>
              <a:spcBef>
                <a:spcPts val="880"/>
              </a:spcBef>
              <a:spcAft>
                <a:spcPts val="0"/>
              </a:spcAft>
              <a:buClr>
                <a:srgbClr val="173647"/>
              </a:buClr>
              <a:buSzPts val="1400"/>
              <a:buChar char="•"/>
            </a:pPr>
            <a:r>
              <a:rPr lang="en-US" dirty="0"/>
              <a:t>Fleet battery by 2035-36: ~494,000 to ~991,000 BEVs (IASR WEM) x 75.8 kWh average = ~37 to ~75 GWh of on-board storage. For scale, large-scale batteries committed by 2028-29 total 1,666 MW (ESOO 2026)</a:t>
            </a:r>
            <a:endParaRPr sz="1400" dirty="0"/>
          </a:p>
          <a:p>
            <a:pPr marL="342900" lvl="0" indent="-342900" algn="l" rtl="0">
              <a:lnSpc>
                <a:spcPct val="100000"/>
              </a:lnSpc>
              <a:spcBef>
                <a:spcPts val="880"/>
              </a:spcBef>
              <a:spcAft>
                <a:spcPts val="0"/>
              </a:spcAft>
              <a:buClr>
                <a:srgbClr val="173647"/>
              </a:buClr>
              <a:buSzPts val="1400"/>
              <a:buChar char="•"/>
            </a:pPr>
            <a:r>
              <a:rPr lang="en-US" dirty="0"/>
              <a:t>Cars sit parked ~95% of the time, mostly at home or work</a:t>
            </a:r>
            <a:endParaRPr sz="1400" dirty="0"/>
          </a:p>
          <a:p>
            <a:pPr marL="342900" lvl="0" indent="-342900" algn="l" rtl="0">
              <a:lnSpc>
                <a:spcPct val="100000"/>
              </a:lnSpc>
              <a:spcBef>
                <a:spcPts val="880"/>
              </a:spcBef>
              <a:spcAft>
                <a:spcPts val="0"/>
              </a:spcAft>
              <a:buClr>
                <a:srgbClr val="173647"/>
              </a:buClr>
              <a:buSzPts val="1400"/>
              <a:buChar char="•"/>
            </a:pPr>
            <a:r>
              <a:rPr lang="en-US" dirty="0"/>
              <a:t>V2H gives households outage resilience without a separate battery</a:t>
            </a:r>
            <a:endParaRPr sz="1400" dirty="0"/>
          </a:p>
          <a:p>
            <a:pPr marL="342900" lvl="0" indent="-342900" algn="l" rtl="0">
              <a:lnSpc>
                <a:spcPct val="100000"/>
              </a:lnSpc>
              <a:spcBef>
                <a:spcPts val="880"/>
              </a:spcBef>
              <a:spcAft>
                <a:spcPts val="0"/>
              </a:spcAft>
              <a:buClr>
                <a:srgbClr val="173647"/>
              </a:buClr>
              <a:buSzPts val="1400"/>
              <a:buChar char="•"/>
            </a:pPr>
            <a:r>
              <a:rPr lang="en-US" dirty="0"/>
              <a:t>Trials: Horizon Power's 12-month V2G trial in Exmouth (to September 2025): four V2G-capable Nissan Leafs with local organisations, coordinated by a DERMS. No kW or revenue figures published</a:t>
            </a:r>
            <a:endParaRPr sz="1400" dirty="0"/>
          </a:p>
        </p:txBody>
      </p:sp>
      <p:sp>
        <p:nvSpPr>
          <p:cNvPr id="221" name="Google Shape;221;p35">
            <a:extLst>
              <a:ext uri="{FF2B5EF4-FFF2-40B4-BE49-F238E27FC236}">
                <a16:creationId xmlns:a16="http://schemas.microsoft.com/office/drawing/2014/main" id="{BFDED60D-29E5-D886-3AA9-48D2D1C52A35}"/>
              </a:ext>
            </a:extLst>
          </p:cNvPr>
          <p:cNvSpPr txBox="1">
            <a:spLocks noGrp="1"/>
          </p:cNvSpPr>
          <p:nvPr>
            <p:ph type="sldNum" idx="4294967295"/>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6B7C8A"/>
                </a:solidFill>
                <a:latin typeface="Montserrat"/>
                <a:ea typeface="Montserrat"/>
                <a:cs typeface="Montserrat"/>
                <a:sym typeface="Montserrat"/>
              </a:rPr>
              <a:t>24</a:t>
            </a:fld>
            <a:endParaRPr sz="900" b="0" i="0" u="none" strike="noStrike" cap="none">
              <a:solidFill>
                <a:srgbClr val="6B7C8A"/>
              </a:solidFill>
              <a:latin typeface="Montserrat"/>
              <a:ea typeface="Montserrat"/>
              <a:cs typeface="Montserrat"/>
              <a:sym typeface="Montserrat"/>
            </a:endParaRPr>
          </a:p>
        </p:txBody>
      </p:sp>
      <p:sp>
        <p:nvSpPr>
          <p:cNvPr id="300" name="Source 300"/>
          <p:cNvSpPr txBox="1"/>
          <p:nvPr/>
        </p:nvSpPr>
        <p:spPr>
          <a:xfrm>
            <a:off x="2876550" y="4560000"/>
            <a:ext cx="5250000" cy="480000"/>
          </a:xfrm>
          <a:prstGeom prst="rect">
            <a:avLst/>
          </a:prstGeom>
          <a:noFill/>
          <a:ln>
            <a:noFill/>
          </a:ln>
        </p:spPr>
        <p:txBody>
          <a:bodyPr spcFirstLastPara="1" wrap="square" lIns="91425" tIns="45700" rIns="91425" bIns="45700" anchor="t" anchorCtr="0">
            <a:noAutofit/>
          </a:bodyPr>
          <a:lstStyle/>
          <a:p>
            <a:pPr marL="0" lvl="0" indent="0" algn="l" rtl="0">
              <a:buNone/>
            </a:pPr>
            <a:r>
              <a:rPr lang="en-US" sz="700" b="0" i="0">
                <a:solidFill>
                  <a:srgbClr val="000000"/>
                </a:solidFill>
                <a:latin typeface="Montserrat"/>
                <a:ea typeface="Montserrat"/>
                <a:cs typeface="Montserrat"/>
                <a:sym typeface="Montserrat"/>
              </a:rPr>
              <a:t>Source: AEMO 2025 IASR EV workbook, WEM region (BEVs, Slower Growth to Accelerated Transition); AEMO 2026 WEM ESOO; WA Government, “Two-way EV charging trial delivers success”, 22 September 2025 </a:t>
            </a:r>
            <a:r>
              <a:rPr lang="en-US" sz="700" b="0" i="0" u="sng">
                <a:solidFill>
                  <a:srgbClr val="000000"/>
                </a:solidFill>
                <a:latin typeface="Montserrat"/>
                <a:ea typeface="Montserrat"/>
                <a:cs typeface="Montserrat"/>
                <a:sym typeface="Montserrat"/>
                <a:hlinkClick r:id="rId3"/>
              </a:rPr>
              <a:t>(wa.gov.au)</a:t>
            </a:r>
            <a:r>
              <a:rPr lang="en-US" sz="700" b="0" i="0">
                <a:solidFill>
                  <a:srgbClr val="000000"/>
                </a:solidFill>
                <a:latin typeface="Montserrat"/>
                <a:ea typeface="Montserrat"/>
                <a:cs typeface="Montserrat"/>
                <a:sym typeface="Montserrat"/>
              </a:rPr>
              <a:t>; Compare the Market, EV battery evolution: 75.8 kWh is the 2026 average of 20 available models, not a fleet average </a:t>
            </a:r>
            <a:r>
              <a:rPr lang="en-US" sz="700" b="0" i="0" u="sng">
                <a:solidFill>
                  <a:srgbClr val="000000"/>
                </a:solidFill>
                <a:latin typeface="Montserrat"/>
                <a:ea typeface="Montserrat"/>
                <a:cs typeface="Montserrat"/>
                <a:sym typeface="Montserrat"/>
                <a:hlinkClick r:id="rId4"/>
              </a:rPr>
              <a:t>(comparethemarket.com.au)</a:t>
            </a:r>
            <a:r>
              <a:rPr lang="en-US" sz="700" b="0" i="0">
                <a:solidFill>
                  <a:srgbClr val="000000"/>
                </a:solidFill>
                <a:latin typeface="Montserrat"/>
                <a:ea typeface="Montserrat"/>
                <a:cs typeface="Montserrat"/>
                <a:sym typeface="Montserrat"/>
              </a:rPr>
              <a:t>.</a:t>
            </a:r>
          </a:p>
        </p:txBody>
      </p:sp>
    </p:spTree>
    <p:extLst>
      <p:ext uri="{BB962C8B-B14F-4D97-AF65-F5344CB8AC3E}">
        <p14:creationId xmlns:p14="http://schemas.microsoft.com/office/powerpoint/2010/main" val="19058548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5"/>
          <p:cNvSpPr txBox="1">
            <a:spLocks noGrp="1"/>
          </p:cNvSpPr>
          <p:nvPr>
            <p:ph type="title"/>
          </p:nvPr>
        </p:nvSpPr>
        <p:spPr>
          <a:xfrm>
            <a:off x="457200" y="365760"/>
            <a:ext cx="8229600" cy="73152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B3F63"/>
              </a:buClr>
              <a:buSzPts val="2600"/>
              <a:buFont typeface="Montserrat"/>
              <a:buNone/>
            </a:pPr>
            <a:r>
              <a:rPr lang="en-US" dirty="0"/>
              <a:t>Q3  |  V2G: what is promised</a:t>
            </a:r>
            <a:endParaRPr sz="2600" dirty="0"/>
          </a:p>
        </p:txBody>
      </p:sp>
      <p:sp>
        <p:nvSpPr>
          <p:cNvPr id="219" name="Google Shape;219;p35"/>
          <p:cNvSpPr txBox="1">
            <a:spLocks noGrp="1"/>
          </p:cNvSpPr>
          <p:nvPr>
            <p:ph type="body" idx="3"/>
          </p:nvPr>
        </p:nvSpPr>
        <p:spPr>
          <a:xfrm>
            <a:off x="561820" y="1028700"/>
            <a:ext cx="7585402" cy="41148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5DB474"/>
              </a:buClr>
              <a:buSzPts val="1600"/>
              <a:buNone/>
            </a:pPr>
            <a:r>
              <a:rPr lang="en-US" dirty="0"/>
              <a:t>The developing standards</a:t>
            </a:r>
            <a:endParaRPr sz="1600" dirty="0"/>
          </a:p>
        </p:txBody>
      </p:sp>
      <p:sp>
        <p:nvSpPr>
          <p:cNvPr id="220" name="Google Shape;220;p35"/>
          <p:cNvSpPr txBox="1">
            <a:spLocks noGrp="1"/>
          </p:cNvSpPr>
          <p:nvPr>
            <p:ph type="body" idx="4"/>
          </p:nvPr>
        </p:nvSpPr>
        <p:spPr>
          <a:xfrm>
            <a:off x="640079" y="1440180"/>
            <a:ext cx="7853131" cy="2606040"/>
          </a:xfrm>
          <a:prstGeom prst="rect">
            <a:avLst/>
          </a:prstGeom>
          <a:noFill/>
          <a:ln>
            <a:noFill/>
          </a:ln>
        </p:spPr>
        <p:txBody>
          <a:bodyPr spcFirstLastPara="1" wrap="square" lIns="0" tIns="0" rIns="0" bIns="0" anchor="t" anchorCtr="0">
            <a:noAutofit/>
          </a:bodyPr>
          <a:lstStyle/>
          <a:p>
            <a:pPr marL="342900" lvl="0" indent="-342900" algn="l" rtl="0">
              <a:lnSpc>
                <a:spcPct val="100000"/>
              </a:lnSpc>
              <a:spcBef>
                <a:spcPts val="880"/>
              </a:spcBef>
              <a:spcAft>
                <a:spcPts val="0"/>
              </a:spcAft>
              <a:buClr>
                <a:srgbClr val="173647"/>
              </a:buClr>
              <a:buSzPts val="1400"/>
              <a:buChar char="•"/>
            </a:pPr>
            <a:r>
              <a:rPr lang="en-US" dirty="0"/>
              <a:t>Inverter Standards  Core V2G Inverter Standard: AS4777.2 </a:t>
            </a:r>
            <a:r>
              <a:rPr lang="en-US" sz="1400" dirty="0"/>
              <a:t>See </a:t>
            </a:r>
            <a:r>
              <a:rPr lang="en-AU" u="sng" dirty="0">
                <a:hlinkClick r:id="rId3"/>
              </a:rPr>
              <a:t>Clean Energy Council (CEC) Approved Product List</a:t>
            </a:r>
            <a:r>
              <a:rPr lang="en-AU" dirty="0"/>
              <a:t>,</a:t>
            </a:r>
          </a:p>
          <a:p>
            <a:pPr marL="342900" lvl="0" indent="-342900">
              <a:spcBef>
                <a:spcPts val="880"/>
              </a:spcBef>
            </a:pPr>
            <a:r>
              <a:rPr lang="en-AU" dirty="0"/>
              <a:t>Vehicle-to-Charger Historically the older CHAdeMO natively support bi-directional power.  Australia has now transitioned to </a:t>
            </a:r>
            <a:r>
              <a:rPr lang="en-AU" b="1" dirty="0"/>
              <a:t>ISO 15118-20</a:t>
            </a:r>
            <a:r>
              <a:rPr lang="en-AU" dirty="0"/>
              <a:t>. This standard governs bidirectional energy transfer using the standard </a:t>
            </a:r>
            <a:r>
              <a:rPr lang="en-AU" b="1" dirty="0"/>
              <a:t>CCS2 plug</a:t>
            </a:r>
            <a:r>
              <a:rPr lang="en-AU" dirty="0"/>
              <a:t> (the dominant charging standard in Australia).</a:t>
            </a:r>
            <a:endParaRPr sz="1400" dirty="0"/>
          </a:p>
          <a:p>
            <a:pPr marL="342900" lvl="0" indent="-342900">
              <a:spcBef>
                <a:spcPts val="880"/>
              </a:spcBef>
            </a:pPr>
            <a:r>
              <a:rPr lang="en-US" dirty="0"/>
              <a:t>Grid Integration - </a:t>
            </a:r>
            <a:r>
              <a:rPr lang="en-AU" dirty="0"/>
              <a:t>The WA Government utilizes the </a:t>
            </a:r>
            <a:r>
              <a:rPr lang="en-AU" b="1" dirty="0"/>
              <a:t>Common Smart Inverter Profile Australia (CSIP-AUS)</a:t>
            </a:r>
            <a:r>
              <a:rPr lang="en-AU" dirty="0"/>
              <a:t>, which is based on the </a:t>
            </a:r>
            <a:r>
              <a:rPr lang="en-AU" b="1" dirty="0"/>
              <a:t>IEEE 2030.5</a:t>
            </a:r>
            <a:r>
              <a:rPr lang="en-AU" dirty="0"/>
              <a:t> protocol. This allows utilities to Orchestrate EV charging and discharging during peak demand periods. [1</a:t>
            </a:r>
            <a:endParaRPr sz="1400" dirty="0"/>
          </a:p>
        </p:txBody>
      </p:sp>
      <p:sp>
        <p:nvSpPr>
          <p:cNvPr id="221" name="Google Shape;221;p35"/>
          <p:cNvSpPr txBox="1">
            <a:spLocks noGrp="1"/>
          </p:cNvSpPr>
          <p:nvPr>
            <p:ph type="sldNum" idx="4294967295"/>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6B7C8A"/>
                </a:solidFill>
                <a:latin typeface="Montserrat"/>
                <a:ea typeface="Montserrat"/>
                <a:cs typeface="Montserrat"/>
                <a:sym typeface="Montserrat"/>
              </a:rPr>
              <a:t>25</a:t>
            </a:fld>
            <a:endParaRPr sz="900" b="0" i="0" u="none" strike="noStrike" cap="none">
              <a:solidFill>
                <a:srgbClr val="6B7C8A"/>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5">
          <a:extLst>
            <a:ext uri="{FF2B5EF4-FFF2-40B4-BE49-F238E27FC236}">
              <a16:creationId xmlns:a16="http://schemas.microsoft.com/office/drawing/2014/main" id="{39E85D36-43D7-9C13-CC41-EF515E963840}"/>
            </a:ext>
          </a:extLst>
        </p:cNvPr>
        <p:cNvGrpSpPr/>
        <p:nvPr/>
      </p:nvGrpSpPr>
      <p:grpSpPr>
        <a:xfrm>
          <a:off x="0" y="0"/>
          <a:ext cx="0" cy="0"/>
          <a:chOff x="0" y="0"/>
          <a:chExt cx="0" cy="0"/>
        </a:xfrm>
      </p:grpSpPr>
      <p:sp>
        <p:nvSpPr>
          <p:cNvPr id="216" name="Google Shape;216;p35">
            <a:extLst>
              <a:ext uri="{FF2B5EF4-FFF2-40B4-BE49-F238E27FC236}">
                <a16:creationId xmlns:a16="http://schemas.microsoft.com/office/drawing/2014/main" id="{5BADE1AC-B637-4330-611B-9B429E6A6C5C}"/>
              </a:ext>
            </a:extLst>
          </p:cNvPr>
          <p:cNvSpPr txBox="1">
            <a:spLocks noGrp="1"/>
          </p:cNvSpPr>
          <p:nvPr>
            <p:ph type="title"/>
          </p:nvPr>
        </p:nvSpPr>
        <p:spPr>
          <a:xfrm>
            <a:off x="457200" y="365760"/>
            <a:ext cx="8229600" cy="73152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B3F63"/>
              </a:buClr>
              <a:buSzPts val="2600"/>
              <a:buFont typeface="Montserrat"/>
              <a:buNone/>
            </a:pPr>
            <a:r>
              <a:rPr lang="en-US" dirty="0"/>
              <a:t>Q3  |  V2G: what is the cost</a:t>
            </a:r>
            <a:endParaRPr sz="2600" dirty="0"/>
          </a:p>
        </p:txBody>
      </p:sp>
      <p:sp>
        <p:nvSpPr>
          <p:cNvPr id="219" name="Google Shape;219;p35">
            <a:extLst>
              <a:ext uri="{FF2B5EF4-FFF2-40B4-BE49-F238E27FC236}">
                <a16:creationId xmlns:a16="http://schemas.microsoft.com/office/drawing/2014/main" id="{6EFB3F59-71FC-98A7-D475-1D259586D730}"/>
              </a:ext>
            </a:extLst>
          </p:cNvPr>
          <p:cNvSpPr txBox="1">
            <a:spLocks noGrp="1"/>
          </p:cNvSpPr>
          <p:nvPr>
            <p:ph type="body" idx="3"/>
          </p:nvPr>
        </p:nvSpPr>
        <p:spPr>
          <a:xfrm>
            <a:off x="561820" y="1028700"/>
            <a:ext cx="7585402" cy="41148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5DB474"/>
              </a:buClr>
              <a:buSzPts val="1600"/>
              <a:buNone/>
            </a:pPr>
            <a:r>
              <a:rPr lang="en-US" dirty="0"/>
              <a:t>The case for "techno-utopia"</a:t>
            </a:r>
            <a:endParaRPr sz="1600" dirty="0"/>
          </a:p>
        </p:txBody>
      </p:sp>
      <p:sp>
        <p:nvSpPr>
          <p:cNvPr id="220" name="Google Shape;220;p35">
            <a:extLst>
              <a:ext uri="{FF2B5EF4-FFF2-40B4-BE49-F238E27FC236}">
                <a16:creationId xmlns:a16="http://schemas.microsoft.com/office/drawing/2014/main" id="{6B5CE050-9C65-8536-DF5C-6558F7DAB2ED}"/>
              </a:ext>
            </a:extLst>
          </p:cNvPr>
          <p:cNvSpPr txBox="1">
            <a:spLocks noGrp="1"/>
          </p:cNvSpPr>
          <p:nvPr>
            <p:ph type="body" idx="4"/>
          </p:nvPr>
        </p:nvSpPr>
        <p:spPr>
          <a:xfrm>
            <a:off x="640079" y="1440180"/>
            <a:ext cx="7853131" cy="2606040"/>
          </a:xfrm>
          <a:prstGeom prst="rect">
            <a:avLst/>
          </a:prstGeom>
          <a:noFill/>
          <a:ln>
            <a:noFill/>
          </a:ln>
        </p:spPr>
        <p:txBody>
          <a:bodyPr spcFirstLastPara="1" wrap="square" lIns="0" tIns="0" rIns="0" bIns="0" anchor="t" anchorCtr="0">
            <a:noAutofit/>
          </a:bodyPr>
          <a:lstStyle/>
          <a:p>
            <a:pPr marL="342900" lvl="0" indent="-342900" algn="l" rtl="0">
              <a:lnSpc>
                <a:spcPct val="100000"/>
              </a:lnSpc>
              <a:spcBef>
                <a:spcPts val="880"/>
              </a:spcBef>
              <a:spcAft>
                <a:spcPts val="0"/>
              </a:spcAft>
              <a:buClr>
                <a:srgbClr val="173647"/>
              </a:buClr>
              <a:buSzPts val="1400"/>
              <a:buChar char="•"/>
            </a:pPr>
            <a:r>
              <a:rPr lang="en-US" dirty="0"/>
              <a:t>Bidirectional chargers cost ~$5k to $10k+ plus installation $1.5k to $3k </a:t>
            </a:r>
          </a:p>
          <a:p>
            <a:pPr marL="342900" lvl="0" indent="-342900" algn="l" rtl="0">
              <a:lnSpc>
                <a:spcPct val="100000"/>
              </a:lnSpc>
              <a:spcBef>
                <a:spcPts val="880"/>
              </a:spcBef>
              <a:spcAft>
                <a:spcPts val="0"/>
              </a:spcAft>
              <a:buClr>
                <a:srgbClr val="173647"/>
              </a:buClr>
              <a:buSzPts val="1400"/>
              <a:buChar char="•"/>
            </a:pPr>
            <a:r>
              <a:rPr lang="en-US" dirty="0"/>
              <a:t>Smart one-way charger from ~$800, typically $1.2k to $1.9k, plus installation $500 to $2k</a:t>
            </a:r>
            <a:endParaRPr sz="1400" dirty="0"/>
          </a:p>
          <a:p>
            <a:pPr marL="342900" lvl="0" indent="-342900" algn="l" rtl="0">
              <a:lnSpc>
                <a:spcPct val="100000"/>
              </a:lnSpc>
              <a:spcBef>
                <a:spcPts val="880"/>
              </a:spcBef>
              <a:spcAft>
                <a:spcPts val="0"/>
              </a:spcAft>
              <a:buClr>
                <a:srgbClr val="173647"/>
              </a:buClr>
              <a:buSzPts val="1400"/>
              <a:buChar char="•"/>
            </a:pPr>
            <a:r>
              <a:rPr lang="en-US" dirty="0"/>
              <a:t>Managed (one-way) charging captures most of the grid benefit at a fraction of the cost</a:t>
            </a:r>
            <a:endParaRPr sz="1400" dirty="0"/>
          </a:p>
        </p:txBody>
      </p:sp>
      <p:sp>
        <p:nvSpPr>
          <p:cNvPr id="221" name="Google Shape;221;p35">
            <a:extLst>
              <a:ext uri="{FF2B5EF4-FFF2-40B4-BE49-F238E27FC236}">
                <a16:creationId xmlns:a16="http://schemas.microsoft.com/office/drawing/2014/main" id="{66D9D5D1-6D9B-6BE6-EE0C-9D06811B6C19}"/>
              </a:ext>
            </a:extLst>
          </p:cNvPr>
          <p:cNvSpPr txBox="1">
            <a:spLocks noGrp="1"/>
          </p:cNvSpPr>
          <p:nvPr>
            <p:ph type="sldNum" idx="4294967295"/>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6B7C8A"/>
                </a:solidFill>
                <a:latin typeface="Montserrat"/>
                <a:ea typeface="Montserrat"/>
                <a:cs typeface="Montserrat"/>
                <a:sym typeface="Montserrat"/>
              </a:rPr>
              <a:t>26</a:t>
            </a:fld>
            <a:endParaRPr sz="900" b="0" i="0" u="none" strike="noStrike" cap="none">
              <a:solidFill>
                <a:srgbClr val="6B7C8A"/>
              </a:solidFill>
              <a:latin typeface="Montserrat"/>
              <a:ea typeface="Montserrat"/>
              <a:cs typeface="Montserrat"/>
              <a:sym typeface="Montserrat"/>
            </a:endParaRPr>
          </a:p>
        </p:txBody>
      </p:sp>
      <p:sp>
        <p:nvSpPr>
          <p:cNvPr id="300" name="Source 300"/>
          <p:cNvSpPr txBox="1"/>
          <p:nvPr/>
        </p:nvSpPr>
        <p:spPr>
          <a:xfrm>
            <a:off x="2876550" y="4560000"/>
            <a:ext cx="5250000" cy="480000"/>
          </a:xfrm>
          <a:prstGeom prst="rect">
            <a:avLst/>
          </a:prstGeom>
          <a:noFill/>
          <a:ln>
            <a:noFill/>
          </a:ln>
        </p:spPr>
        <p:txBody>
          <a:bodyPr spcFirstLastPara="1" wrap="square" lIns="91425" tIns="45700" rIns="91425" bIns="45700" anchor="t" anchorCtr="0">
            <a:noAutofit/>
          </a:bodyPr>
          <a:lstStyle/>
          <a:p>
            <a:pPr marL="0" lvl="0" indent="0" algn="l" rtl="0">
              <a:buNone/>
            </a:pPr>
            <a:r>
              <a:rPr lang="en-US" sz="700" b="0" i="0">
                <a:solidFill>
                  <a:srgbClr val="000000"/>
                </a:solidFill>
                <a:latin typeface="Montserrat"/>
                <a:ea typeface="Montserrat"/>
                <a:cs typeface="Montserrat"/>
                <a:sym typeface="Montserrat"/>
              </a:rPr>
              <a:t>Source: Solar Choice, Bidirectional EV chargers explained (V2G, V2H and V2L) </a:t>
            </a:r>
            <a:r>
              <a:rPr lang="en-US" sz="700" b="0" i="0" u="sng">
                <a:solidFill>
                  <a:srgbClr val="000000"/>
                </a:solidFill>
                <a:latin typeface="Montserrat"/>
                <a:ea typeface="Montserrat"/>
                <a:cs typeface="Montserrat"/>
                <a:sym typeface="Montserrat"/>
                <a:hlinkClick r:id="rId3"/>
              </a:rPr>
              <a:t>(solarchoice.net.au)</a:t>
            </a:r>
            <a:r>
              <a:rPr lang="en-US" sz="700" b="0" i="0">
                <a:solidFill>
                  <a:srgbClr val="000000"/>
                </a:solidFill>
                <a:latin typeface="Montserrat"/>
                <a:ea typeface="Montserrat"/>
                <a:cs typeface="Montserrat"/>
                <a:sym typeface="Montserrat"/>
              </a:rPr>
              <a:t>; Solar Choice, EV charger price index </a:t>
            </a:r>
            <a:r>
              <a:rPr lang="en-US" sz="700" b="0" i="0" u="sng">
                <a:solidFill>
                  <a:srgbClr val="000000"/>
                </a:solidFill>
                <a:latin typeface="Montserrat"/>
                <a:ea typeface="Montserrat"/>
                <a:cs typeface="Montserrat"/>
                <a:sym typeface="Montserrat"/>
                <a:hlinkClick r:id="rId4"/>
              </a:rPr>
              <a:t>(solarchoice.net.au)</a:t>
            </a:r>
            <a:r>
              <a:rPr lang="en-US" sz="700" b="0" i="0">
                <a:solidFill>
                  <a:srgbClr val="000000"/>
                </a:solidFill>
                <a:latin typeface="Montserrat"/>
                <a:ea typeface="Montserrat"/>
                <a:cs typeface="Montserrat"/>
                <a:sym typeface="Montserrat"/>
              </a:rPr>
              <a:t>. 2026 prices; installation varies by site.</a:t>
            </a:r>
          </a:p>
        </p:txBody>
      </p:sp>
    </p:spTree>
    <p:extLst>
      <p:ext uri="{BB962C8B-B14F-4D97-AF65-F5344CB8AC3E}">
        <p14:creationId xmlns:p14="http://schemas.microsoft.com/office/powerpoint/2010/main" val="38423846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5">
          <a:extLst>
            <a:ext uri="{FF2B5EF4-FFF2-40B4-BE49-F238E27FC236}">
              <a16:creationId xmlns:a16="http://schemas.microsoft.com/office/drawing/2014/main" id="{39E85D36-43D7-9C13-CC41-EF515E963840}"/>
            </a:ext>
          </a:extLst>
        </p:cNvPr>
        <p:cNvGrpSpPr/>
        <p:nvPr/>
      </p:nvGrpSpPr>
      <p:grpSpPr>
        <a:xfrm>
          <a:off x="0" y="0"/>
          <a:ext cx="0" cy="0"/>
          <a:chOff x="0" y="0"/>
          <a:chExt cx="0" cy="0"/>
        </a:xfrm>
      </p:grpSpPr>
      <p:sp>
        <p:nvSpPr>
          <p:cNvPr id="216" name="Google Shape;216;p35">
            <a:extLst>
              <a:ext uri="{FF2B5EF4-FFF2-40B4-BE49-F238E27FC236}">
                <a16:creationId xmlns:a16="http://schemas.microsoft.com/office/drawing/2014/main" id="{5BADE1AC-B637-4330-611B-9B429E6A6C5C}"/>
              </a:ext>
            </a:extLst>
          </p:cNvPr>
          <p:cNvSpPr txBox="1">
            <a:spLocks noGrp="1"/>
          </p:cNvSpPr>
          <p:nvPr>
            <p:ph type="title"/>
          </p:nvPr>
        </p:nvSpPr>
        <p:spPr>
          <a:xfrm>
            <a:off x="457200" y="365760"/>
            <a:ext cx="8229600" cy="73152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B3F63"/>
              </a:buClr>
              <a:buSzPts val="2600"/>
              <a:buFont typeface="Montserrat"/>
              <a:buNone/>
            </a:pPr>
            <a:r>
              <a:rPr lang="en-US" dirty="0"/>
              <a:t>Q3  |  V2G-Key: a possible low-cost route</a:t>
            </a:r>
            <a:endParaRPr sz="2600" dirty="0"/>
          </a:p>
        </p:txBody>
      </p:sp>
      <p:sp>
        <p:nvSpPr>
          <p:cNvPr id="219" name="Google Shape;219;p35">
            <a:extLst>
              <a:ext uri="{FF2B5EF4-FFF2-40B4-BE49-F238E27FC236}">
                <a16:creationId xmlns:a16="http://schemas.microsoft.com/office/drawing/2014/main" id="{6EFB3F59-71FC-98A7-D475-1D259586D730}"/>
              </a:ext>
            </a:extLst>
          </p:cNvPr>
          <p:cNvSpPr txBox="1">
            <a:spLocks noGrp="1"/>
          </p:cNvSpPr>
          <p:nvPr>
            <p:ph type="body" idx="3"/>
          </p:nvPr>
        </p:nvSpPr>
        <p:spPr>
          <a:xfrm>
            <a:off x="561820" y="1028700"/>
            <a:ext cx="7585402" cy="41148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5DB474"/>
              </a:buClr>
              <a:buSzPts val="1600"/>
              <a:buNone/>
            </a:pPr>
            <a:r>
              <a:rPr lang="en-US" dirty="0"/>
              <a:t>A future option to watch</a:t>
            </a:r>
            <a:endParaRPr sz="1600" dirty="0"/>
          </a:p>
        </p:txBody>
      </p:sp>
      <p:sp>
        <p:nvSpPr>
          <p:cNvPr id="220" name="Google Shape;220;p35">
            <a:extLst>
              <a:ext uri="{FF2B5EF4-FFF2-40B4-BE49-F238E27FC236}">
                <a16:creationId xmlns:a16="http://schemas.microsoft.com/office/drawing/2014/main" id="{6B5CE050-9C65-8536-DF5C-6558F7DAB2ED}"/>
              </a:ext>
            </a:extLst>
          </p:cNvPr>
          <p:cNvSpPr txBox="1">
            <a:spLocks noGrp="1"/>
          </p:cNvSpPr>
          <p:nvPr>
            <p:ph type="body" idx="4"/>
          </p:nvPr>
        </p:nvSpPr>
        <p:spPr>
          <a:xfrm>
            <a:off x="640079" y="1440180"/>
            <a:ext cx="7853131" cy="2606040"/>
          </a:xfrm>
          <a:prstGeom prst="rect">
            <a:avLst/>
          </a:prstGeom>
          <a:noFill/>
          <a:ln>
            <a:noFill/>
          </a:ln>
        </p:spPr>
        <p:txBody>
          <a:bodyPr spcFirstLastPara="1" wrap="square" lIns="0" tIns="0" rIns="0" bIns="0" anchor="t" anchorCtr="0">
            <a:noAutofit/>
          </a:bodyPr>
          <a:lstStyle/>
          <a:p>
            <a:pPr marL="342900" lvl="0" indent="-342900" algn="l" rtl="0">
              <a:lnSpc>
                <a:spcPct val="100000"/>
              </a:lnSpc>
              <a:spcBef>
                <a:spcPts val="880"/>
              </a:spcBef>
              <a:spcAft>
                <a:spcPts val="0"/>
              </a:spcAft>
              <a:buClr>
                <a:srgbClr val="173647"/>
              </a:buClr>
              <a:buSzPts val="1400"/>
              <a:buChar char="•"/>
            </a:pPr>
            <a:r>
              <a:rPr lang="en-US" sz="1200" dirty="0"/>
              <a:t>V2G-Key, from Merge Energy, aims to bring V2G to everyday EV owners “at a fraction of the cost of today’s bidirectional chargers”</a:t>
            </a:r>
          </a:p>
          <a:p>
            <a:pPr marL="342900" lvl="0" indent="-342900" algn="l" rtl="0">
              <a:lnSpc>
                <a:spcPct val="100000"/>
              </a:lnSpc>
              <a:spcBef>
                <a:spcPts val="880"/>
              </a:spcBef>
              <a:spcAft>
                <a:spcPts val="0"/>
              </a:spcAft>
              <a:buClr>
                <a:srgbClr val="173647"/>
              </a:buClr>
              <a:buSzPts val="1400"/>
              <a:buChar char="•"/>
            </a:pPr>
            <a:r>
              <a:rPr lang="en-US" sz="1200" dirty="0"/>
              <a:t>Backers include UNSW, Amber, RACE for 2030, TRaCE and the AEA (Australia’s Economic Accelerator)</a:t>
            </a:r>
          </a:p>
          <a:p>
            <a:pPr marL="342900" lvl="0" indent="-342900" algn="l" rtl="0">
              <a:lnSpc>
                <a:spcPct val="100000"/>
              </a:lnSpc>
              <a:spcBef>
                <a:spcPts val="880"/>
              </a:spcBef>
              <a:spcAft>
                <a:spcPts val="0"/>
              </a:spcAft>
              <a:buClr>
                <a:srgbClr val="173647"/>
              </a:buClr>
              <a:buSzPts val="1400"/>
              <a:buChar char="•"/>
            </a:pPr>
            <a:r>
              <a:rPr lang="en-US" sz="1200" dirty="0"/>
              <a:t>Status: in development. Customer trials and pre-sale registration are open; no price, vehicle compatibility or standards are published</a:t>
            </a:r>
          </a:p>
          <a:p>
            <a:pPr marL="342900" lvl="0" indent="-342900" algn="l" rtl="0">
              <a:lnSpc>
                <a:spcPct val="100000"/>
              </a:lnSpc>
              <a:spcBef>
                <a:spcPts val="880"/>
              </a:spcBef>
              <a:spcAft>
                <a:spcPts val="0"/>
              </a:spcAft>
              <a:buClr>
                <a:srgbClr val="173647"/>
              </a:buClr>
              <a:buSzPts val="1400"/>
              <a:buChar char="•"/>
            </a:pPr>
            <a:r>
              <a:rPr lang="en-US" sz="1200" dirty="0"/>
              <a:t>Company claim: an EV battery stores more than three times the energy of most home batteries, without export limits or risk to the car’s warranty</a:t>
            </a:r>
          </a:p>
          <a:p>
            <a:pPr marL="342900" lvl="0" indent="-342900" algn="l" rtl="0">
              <a:lnSpc>
                <a:spcPct val="100000"/>
              </a:lnSpc>
              <a:spcBef>
                <a:spcPts val="880"/>
              </a:spcBef>
              <a:spcAft>
                <a:spcPts val="0"/>
              </a:spcAft>
              <a:buClr>
                <a:srgbClr val="173647"/>
              </a:buClr>
              <a:buSzPts val="1400"/>
              <a:buChar char="•"/>
            </a:pPr>
            <a:r>
              <a:rPr lang="en-US" sz="1200" dirty="0"/>
              <a:t>Until it is priced, tested and accepted by car makers, treat it as an upside to watch, not a plan</a:t>
            </a:r>
          </a:p>
        </p:txBody>
      </p:sp>
      <p:sp>
        <p:nvSpPr>
          <p:cNvPr id="221" name="Google Shape;221;p35">
            <a:extLst>
              <a:ext uri="{FF2B5EF4-FFF2-40B4-BE49-F238E27FC236}">
                <a16:creationId xmlns:a16="http://schemas.microsoft.com/office/drawing/2014/main" id="{66D9D5D1-6D9B-6BE6-EE0C-9D06811B6C19}"/>
              </a:ext>
            </a:extLst>
          </p:cNvPr>
          <p:cNvSpPr txBox="1">
            <a:spLocks noGrp="1"/>
          </p:cNvSpPr>
          <p:nvPr>
            <p:ph type="sldNum" idx="4294967295"/>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6B7C8A"/>
                </a:solidFill>
                <a:latin typeface="Montserrat"/>
                <a:ea typeface="Montserrat"/>
                <a:cs typeface="Montserrat"/>
                <a:sym typeface="Montserrat"/>
              </a:rPr>
              <a:t>27</a:t>
            </a:fld>
            <a:endParaRPr sz="900" b="0" i="0" u="none" strike="noStrike" cap="none">
              <a:solidFill>
                <a:srgbClr val="6B7C8A"/>
              </a:solidFill>
              <a:latin typeface="Montserrat"/>
              <a:ea typeface="Montserrat"/>
              <a:cs typeface="Montserrat"/>
              <a:sym typeface="Montserrat"/>
            </a:endParaRPr>
          </a:p>
        </p:txBody>
      </p:sp>
      <p:sp>
        <p:nvSpPr>
          <p:cNvPr id="300" name="Source 300"/>
          <p:cNvSpPr txBox="1"/>
          <p:nvPr/>
        </p:nvSpPr>
        <p:spPr>
          <a:xfrm>
            <a:off x="2876550" y="4560000"/>
            <a:ext cx="5250000" cy="480000"/>
          </a:xfrm>
          <a:prstGeom prst="rect">
            <a:avLst/>
          </a:prstGeom>
          <a:noFill/>
          <a:ln>
            <a:noFill/>
          </a:ln>
        </p:spPr>
        <p:txBody>
          <a:bodyPr spcFirstLastPara="1" wrap="square" lIns="91425" tIns="45700" rIns="91425" bIns="45700" anchor="t" anchorCtr="0">
            <a:noAutofit/>
          </a:bodyPr>
          <a:lstStyle/>
          <a:p>
            <a:pPr marL="0" lvl="0" indent="0" algn="l" rtl="0">
              <a:buNone/>
            </a:pPr>
            <a:r>
              <a:rPr lang="en-US" sz="700" b="0" i="0">
                <a:solidFill>
                  <a:srgbClr val="000000"/>
                </a:solidFill>
                <a:latin typeface="Montserrat"/>
                <a:ea typeface="Montserrat"/>
                <a:cs typeface="Montserrat"/>
                <a:sym typeface="Montserrat"/>
              </a:rPr>
              <a:t>Source: V2G-Key by Merge Energy </a:t>
            </a:r>
            <a:r>
              <a:rPr lang="en-US" sz="700" b="0" i="0" u="sng">
                <a:solidFill>
                  <a:srgbClr val="000000"/>
                </a:solidFill>
                <a:latin typeface="Montserrat"/>
                <a:ea typeface="Montserrat"/>
                <a:cs typeface="Montserrat"/>
                <a:sym typeface="Montserrat"/>
                <a:hlinkClick r:id="rId3"/>
              </a:rPr>
              <a:t>(v2gkey.com)</a:t>
            </a:r>
            <a:r>
              <a:rPr lang="en-US" sz="700" b="0" i="0">
                <a:solidFill>
                  <a:srgbClr val="000000"/>
                </a:solidFill>
                <a:latin typeface="Montserrat"/>
                <a:ea typeface="Montserrat"/>
                <a:cs typeface="Montserrat"/>
                <a:sym typeface="Montserrat"/>
              </a:rPr>
              <a:t>, viewed September 2026. Cost and performance statements are the company's claims; no price or specification is published.</a:t>
            </a:r>
          </a:p>
        </p:txBody>
      </p:sp>
    </p:spTree>
    <p:extLst>
      <p:ext uri="{BB962C8B-B14F-4D97-AF65-F5344CB8AC3E}">
        <p14:creationId xmlns:p14="http://schemas.microsoft.com/office/powerpoint/2010/main" val="38423846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6"/>
          <p:cNvSpPr txBox="1">
            <a:spLocks noGrp="1"/>
          </p:cNvSpPr>
          <p:nvPr>
            <p:ph type="title"/>
          </p:nvPr>
        </p:nvSpPr>
        <p:spPr>
          <a:xfrm>
            <a:off x="457200" y="365760"/>
            <a:ext cx="8229600" cy="73152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0B3F63"/>
              </a:buClr>
              <a:buSzPts val="2600"/>
              <a:buFont typeface="Montserrat"/>
              <a:buNone/>
            </a:pPr>
            <a:r>
              <a:rPr lang="en-US"/>
              <a:t>Three questions, three answers</a:t>
            </a:r>
            <a:endParaRPr sz="2600"/>
          </a:p>
        </p:txBody>
      </p:sp>
      <p:sp>
        <p:nvSpPr>
          <p:cNvPr id="227" name="Google Shape;227;p36"/>
          <p:cNvSpPr txBox="1">
            <a:spLocks noGrp="1"/>
          </p:cNvSpPr>
          <p:nvPr>
            <p:ph type="body" idx="1"/>
          </p:nvPr>
        </p:nvSpPr>
        <p:spPr>
          <a:xfrm>
            <a:off x="457200" y="1280160"/>
            <a:ext cx="8229600" cy="3108960"/>
          </a:xfrm>
          <a:prstGeom prst="rect">
            <a:avLst/>
          </a:prstGeom>
          <a:noFill/>
          <a:ln>
            <a:noFill/>
          </a:ln>
        </p:spPr>
        <p:txBody>
          <a:bodyPr spcFirstLastPara="1" wrap="square" lIns="0" tIns="0" rIns="0" bIns="0" anchor="t" anchorCtr="0">
            <a:noAutofit/>
          </a:bodyPr>
          <a:lstStyle/>
          <a:p>
            <a:pPr marL="342900" lvl="0" indent="-342900" algn="l" rtl="0">
              <a:lnSpc>
                <a:spcPct val="100000"/>
              </a:lnSpc>
              <a:spcBef>
                <a:spcPts val="0"/>
              </a:spcBef>
              <a:spcAft>
                <a:spcPts val="0"/>
              </a:spcAft>
              <a:buClr>
                <a:srgbClr val="173647"/>
              </a:buClr>
              <a:buSzPts val="1600"/>
              <a:buChar char="•"/>
            </a:pPr>
            <a:r>
              <a:rPr lang="en-US" b="1"/>
              <a:t>Will EV uptake overwhelm the transition?  </a:t>
            </a:r>
            <a:r>
              <a:rPr lang="en-US"/>
              <a:t>No. EVs are 5–12% of SWIS consumption by 2035; timing matters more than volume (net peak effect −2% to +3%).</a:t>
            </a:r>
            <a:endParaRPr sz="1600"/>
          </a:p>
          <a:p>
            <a:pPr marL="342900" lvl="0" indent="-342900" algn="l" rtl="0">
              <a:lnSpc>
                <a:spcPct val="100000"/>
              </a:lnSpc>
              <a:spcBef>
                <a:spcPts val="0"/>
              </a:spcBef>
              <a:spcAft>
                <a:spcPts val="0"/>
              </a:spcAft>
              <a:buClr>
                <a:srgbClr val="173647"/>
              </a:buClr>
              <a:buSzPts val="1600"/>
              <a:buChar char="•"/>
            </a:pPr>
            <a:r>
              <a:rPr lang="en-US" b="1"/>
              <a:t>Will EVs delay coal exit or lock in gas?  </a:t>
            </a:r>
            <a:r>
              <a:rPr lang="en-US"/>
              <a:t>No. Coal exit is a policy and economics decision; daytime-charged EVs help by absorbing solar. Evening charging would raise, not create, the firming task.</a:t>
            </a:r>
            <a:endParaRPr sz="1600"/>
          </a:p>
          <a:p>
            <a:pPr marL="342900" lvl="0" indent="-342900" algn="l" rtl="0">
              <a:lnSpc>
                <a:spcPct val="100000"/>
              </a:lnSpc>
              <a:spcBef>
                <a:spcPts val="0"/>
              </a:spcBef>
              <a:spcAft>
                <a:spcPts val="0"/>
              </a:spcAft>
              <a:buClr>
                <a:srgbClr val="173647"/>
              </a:buClr>
              <a:buSzPts val="1600"/>
              <a:buChar char="•"/>
            </a:pPr>
            <a:r>
              <a:rPr lang="en-US" b="1"/>
              <a:t>Is V2H / V2G essential?  </a:t>
            </a:r>
            <a:r>
              <a:rPr lang="en-US"/>
              <a:t>Not essential. Smart one-way charging delivers most of the benefit now; V2H is a useful resilience option; V2G is an upside to plan for, not a dependency.</a:t>
            </a:r>
            <a:endParaRPr sz="1600"/>
          </a:p>
          <a:p>
            <a:pPr marL="342900" lvl="0" indent="-342900" algn="l" rtl="0">
              <a:lnSpc>
                <a:spcPct val="100000"/>
              </a:lnSpc>
              <a:spcBef>
                <a:spcPts val="0"/>
              </a:spcBef>
              <a:spcAft>
                <a:spcPts val="0"/>
              </a:spcAft>
              <a:buClr>
                <a:srgbClr val="173647"/>
              </a:buClr>
              <a:buSzPts val="1600"/>
              <a:buChar char="•"/>
            </a:pPr>
            <a:r>
              <a:rPr lang="en-US" b="1"/>
              <a:t>What SEN should model next:  </a:t>
            </a:r>
            <a:r>
              <a:rPr lang="en-US"/>
              <a:t>SIREN scenarios: unmanaged vs managed vs V2G charging profiles against the coal-exit timeline</a:t>
            </a:r>
            <a:endParaRPr sz="1600"/>
          </a:p>
        </p:txBody>
      </p:sp>
      <p:sp>
        <p:nvSpPr>
          <p:cNvPr id="228" name="Google Shape;228;p36"/>
          <p:cNvSpPr txBox="1">
            <a:spLocks noGrp="1"/>
          </p:cNvSpPr>
          <p:nvPr>
            <p:ph type="sldNum" idx="4294967295"/>
          </p:nvPr>
        </p:nvSpPr>
        <p:spPr>
          <a:xfrm>
            <a:off x="8229600" y="4645152"/>
            <a:ext cx="457200" cy="32004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6B7C8A"/>
                </a:solidFill>
                <a:latin typeface="Montserrat"/>
                <a:ea typeface="Montserrat"/>
                <a:cs typeface="Montserrat"/>
                <a:sym typeface="Montserrat"/>
              </a:rPr>
              <a:t>28</a:t>
            </a:fld>
            <a:endParaRPr sz="900" b="0" i="0" u="none" strike="noStrike" cap="none">
              <a:solidFill>
                <a:srgbClr val="6B7C8A"/>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1"/>
          <p:cNvSpPr txBox="1">
            <a:spLocks noGrp="1"/>
          </p:cNvSpPr>
          <p:nvPr>
            <p:ph type="title"/>
          </p:nvPr>
        </p:nvSpPr>
        <p:spPr>
          <a:xfrm>
            <a:off x="914400" y="2103120"/>
            <a:ext cx="7315200" cy="822960"/>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Clr>
                <a:srgbClr val="FFFFFF"/>
              </a:buClr>
              <a:buSzPts val="3000"/>
              <a:buFont typeface="Montserrat"/>
              <a:buNone/>
            </a:pPr>
            <a:r>
              <a:rPr lang="en-US" sz="3000" b="1">
                <a:solidFill>
                  <a:srgbClr val="FFFFFF"/>
                </a:solidFill>
                <a:latin typeface="Montserrat"/>
                <a:ea typeface="Montserrat"/>
                <a:cs typeface="Montserrat"/>
                <a:sym typeface="Montserrat"/>
              </a:rPr>
              <a:t>Thank you</a:t>
            </a:r>
            <a:endParaRPr sz="3000"/>
          </a:p>
        </p:txBody>
      </p:sp>
      <p:sp>
        <p:nvSpPr>
          <p:cNvPr id="235" name="Google Shape;235;p11"/>
          <p:cNvSpPr txBox="1">
            <a:spLocks noGrp="1"/>
          </p:cNvSpPr>
          <p:nvPr>
            <p:ph type="body" idx="1"/>
          </p:nvPr>
        </p:nvSpPr>
        <p:spPr>
          <a:xfrm>
            <a:off x="1371600" y="3017520"/>
            <a:ext cx="6400800" cy="1097280"/>
          </a:xfrm>
          <a:prstGeom prst="rect">
            <a:avLst/>
          </a:prstGeom>
          <a:noFill/>
          <a:ln>
            <a:noFill/>
          </a:ln>
        </p:spPr>
        <p:txBody>
          <a:bodyPr spcFirstLastPara="1" wrap="square" lIns="0" tIns="0" rIns="0" bIns="0" anchor="t" anchorCtr="0">
            <a:noAutofit/>
          </a:bodyPr>
          <a:lstStyle/>
          <a:p>
            <a:pPr marL="0" lvl="0" indent="0" algn="ctr" rtl="0">
              <a:lnSpc>
                <a:spcPct val="100000"/>
              </a:lnSpc>
              <a:spcBef>
                <a:spcPts val="0"/>
              </a:spcBef>
              <a:spcAft>
                <a:spcPts val="0"/>
              </a:spcAft>
              <a:buClr>
                <a:srgbClr val="E1F4FD"/>
              </a:buClr>
              <a:buSzPts val="1300"/>
              <a:buNone/>
            </a:pPr>
            <a:r>
              <a:rPr lang="en-US" sz="1300">
                <a:solidFill>
                  <a:srgbClr val="E1F4FD"/>
                </a:solidFill>
                <a:latin typeface="Montserrat"/>
                <a:ea typeface="Montserrat"/>
                <a:cs typeface="Montserrat"/>
                <a:sym typeface="Montserrat"/>
              </a:rPr>
              <a:t>sen.asn.au  |  info@sen.asn.au</a:t>
            </a:r>
            <a:endParaRPr sz="1300"/>
          </a:p>
          <a:p>
            <a:pPr marL="0" lvl="0" indent="0" algn="ctr" rtl="0">
              <a:lnSpc>
                <a:spcPct val="100000"/>
              </a:lnSpc>
              <a:spcBef>
                <a:spcPts val="660"/>
              </a:spcBef>
              <a:spcAft>
                <a:spcPts val="0"/>
              </a:spcAft>
              <a:buClr>
                <a:srgbClr val="E1F4FD"/>
              </a:buClr>
              <a:buSzPts val="1300"/>
              <a:buNone/>
            </a:pPr>
            <a:r>
              <a:rPr lang="en-US" sz="1300">
                <a:solidFill>
                  <a:srgbClr val="E1F4FD"/>
                </a:solidFill>
                <a:latin typeface="Montserrat"/>
                <a:ea typeface="Montserrat"/>
                <a:cs typeface="Montserrat"/>
                <a:sym typeface="Montserrat"/>
              </a:rPr>
              <a:t>Sustainable Energy Now Inc.</a:t>
            </a:r>
            <a:endParaRPr sz="13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TotalTime>
  <Words>8803</Words>
  <Application>Microsoft Office PowerPoint</Application>
  <PresentationFormat>On-screen Show (16:9)</PresentationFormat>
  <Paragraphs>483</Paragraphs>
  <Slides>29</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Source Serif 4</vt:lpstr>
      <vt:lpstr>Montserrat</vt:lpstr>
      <vt:lpstr>Arial</vt:lpstr>
      <vt:lpstr>Calibri</vt:lpstr>
      <vt:lpstr>Office Theme</vt:lpstr>
      <vt:lpstr>Will electrifying transport crash the grid?</vt:lpstr>
      <vt:lpstr>Will EV uptake overwhelm the WA transition?</vt:lpstr>
      <vt:lpstr>Q1  |  EV uptake is fast, but it is a forecast, not a surprise</vt:lpstr>
      <vt:lpstr>Q1  |  Even the slow-growth scenario is a ~46x fleet increase by 2055</vt:lpstr>
      <vt:lpstr>Q1  |  EV energy grows ~84x, yet stays a small slice of SWIS consumption</vt:lpstr>
      <vt:lpstr>How we used the Siren Model</vt:lpstr>
      <vt:lpstr>Electric vehicle uptake in Western Australia has surged significantly</vt:lpstr>
      <vt:lpstr>Q1  |  Putting EV load in SWIS context</vt:lpstr>
      <vt:lpstr>Q1  |  ESOO Expected plus EV load, 2035</vt:lpstr>
      <vt:lpstr>Q1  |  Unmanaged charging lifts the peak by up to ~3%</vt:lpstr>
      <vt:lpstr>Q1  |  Managed charging keeps the peak below ESOO</vt:lpstr>
      <vt:lpstr>Managed vs Unmanaged Charging </vt:lpstr>
      <vt:lpstr>Charging behaviour can lower environmental and financial costs</vt:lpstr>
      <vt:lpstr>Will EVs delay the coal exit or lock us into gas?</vt:lpstr>
      <vt:lpstr>Q2  |  Coal exit is driven by policy and economics, not EV demand</vt:lpstr>
      <vt:lpstr>Q2  |  When EVs charge matters more than how much they use</vt:lpstr>
      <vt:lpstr>Q2  |  Transmission vs distribution: the constraint is local, not system-wide</vt:lpstr>
      <vt:lpstr>Is V2H / V2G essential, or a techno-utopia?</vt:lpstr>
      <vt:lpstr>Unmanaged versus managed EV charging</vt:lpstr>
      <vt:lpstr>EV charging Profiles</vt:lpstr>
      <vt:lpstr>Weekday Charging Shapes</vt:lpstr>
      <vt:lpstr>Weekend Charging Shapes</vt:lpstr>
      <vt:lpstr>Composite Weekday Charging Shapes</vt:lpstr>
      <vt:lpstr>Q3  |  V2G: what is proven</vt:lpstr>
      <vt:lpstr>Q3  |  V2G: what is promised</vt:lpstr>
      <vt:lpstr>Q3  |  V2G: what is the cost</vt:lpstr>
      <vt:lpstr>Q3  |  V2G-Key: a possible low-cost route</vt:lpstr>
      <vt:lpstr>Three questions, three answers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Sustainable Energy Now</dc:creator>
  <cp:lastModifiedBy>Paul Caston</cp:lastModifiedBy>
  <cp:revision>5</cp:revision>
  <dcterms:created xsi:type="dcterms:W3CDTF">2026-09-10T05:19:33Z</dcterms:created>
  <dcterms:modified xsi:type="dcterms:W3CDTF">2026-09-21T13:29:59Z</dcterms:modified>
</cp:coreProperties>
</file>